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gapWidth val="6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F3A5F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E07A5F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2B2D4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110000</c:v>
                </c:pt>
                <c:pt idx="1">
                  <c:v>116000</c:v>
                </c:pt>
                <c:pt idx="2">
                  <c:v>124000</c:v>
                </c:pt>
                <c:pt idx="3">
                  <c:v>138000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3D8BD3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Revenue by region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E07A5F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875000</c:v>
                </c:pt>
                <c:pt idx="1">
                  <c:v>715000</c:v>
                </c:pt>
                <c:pt idx="2">
                  <c:v>488000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E07A5F"/>
              </a:solidFill>
            </c:spPr>
          </c:dPt>
          <c:dPt>
            <c:idx val="2"/>
            <c:spPr>
              <a:solidFill>
                <a:srgbClr val="3D8BD3"/>
              </a:solidFill>
            </c:spPr>
          </c:dPt>
          <c:dPt>
            <c:idx val="3"/>
            <c:spPr>
              <a:solidFill>
                <a:srgbClr val="81B29A"/>
              </a:solidFill>
            </c:spPr>
          </c:dPt>
          <c:dLbls>
            <c:dLbl>
              <c:idx val="0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2B2D4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2B2D4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Units by product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3D8BD3"/>
              </a:solidFill>
              <a:ln>
                <a:solidFill>
                  <a:srgbClr val="3D8BD3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1B29A"/>
              </a:solidFill>
              <a:ln>
                <a:solidFill>
                  <a:srgbClr val="81B29A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E07A5F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dPt>
            <c:idx val="3"/>
            <c:spPr>
              <a:solidFill>
                <a:srgbClr val="C5CDD6"/>
              </a:solidFill>
            </c:spPr>
          </c:dPt>
          <c:dPt>
            <c:idx val="4"/>
            <c:spPr>
              <a:solidFill>
                <a:srgbClr val="C5CDD6"/>
              </a:solidFill>
            </c:spPr>
          </c:dPt>
          <c:dPt>
            <c:idx val="5"/>
            <c:spPr>
              <a:solidFill>
                <a:srgbClr val="C5CDD6"/>
              </a:solidFill>
            </c:spPr>
          </c:dPt>
          <c:dPt>
            <c:idx val="6"/>
            <c:spPr>
              <a:solidFill>
                <a:srgbClr val="C5CDD6"/>
              </a:solidFill>
            </c:spPr>
          </c:dPt>
          <c:dPt>
            <c:idx val="7"/>
            <c:spPr>
              <a:solidFill>
                <a:srgbClr val="C5CDD6"/>
              </a:solidFill>
            </c:spPr>
          </c:dPt>
          <c:cat>
            <c:strRef>
              <c:f>Sheet1!$A$2:$A$9</c:f>
              <c:strCache>
                <c:ptCount val="8"/>
                <c:pt idx="0">
                  <c:v>Holiday Blitz</c:v>
                </c:pt>
                <c:pt idx="1">
                  <c:v>Spring Promo</c:v>
                </c:pt>
                <c:pt idx="2">
                  <c:v>Retargeting</c:v>
                </c:pt>
                <c:pt idx="3">
                  <c:v>Partner Push</c:v>
                </c:pt>
                <c:pt idx="4">
                  <c:v>Marketplace Ads</c:v>
                </c:pt>
                <c:pt idx="5">
                  <c:v>Loyalty Upsell</c:v>
                </c:pt>
                <c:pt idx="6">
                  <c:v>Webinar Series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1540</c:v>
                </c:pt>
                <c:pt idx="1">
                  <c:v>812</c:v>
                </c:pt>
                <c:pt idx="2">
                  <c:v>690</c:v>
                </c:pt>
                <c:pt idx="3">
                  <c:v>640</c:v>
                </c:pt>
                <c:pt idx="4">
                  <c:v>515</c:v>
                </c:pt>
                <c:pt idx="5">
                  <c:v>420</c:v>
                </c:pt>
                <c:pt idx="6">
                  <c:v>305</c:v>
                </c:pt>
                <c:pt idx="7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come from the `notes`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2F4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Commercial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CC4CF"/>
                </a:solidFill>
                <a:latin typeface="Calibri"/>
              </a:rPr>
              <a:t>Revenue, regions, channels and campaign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E07A5F"/>
                </a:solidFill>
                <a:latin typeface="Calibri"/>
              </a:rPr>
              <a:t>Analytics Team</a:t>
            </a:r>
            <a:r>
              <a:rPr sz="1400">
                <a:solidFill>
                  <a:srgbClr val="BCC4CF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target in 11 of 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709265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drove it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Revenue ran </a:t>
            </a:r>
            <a:r>
              <a:rPr sz="1600" b="1">
                <a:solidFill>
                  <a:srgbClr val="E07A5F"/>
                </a:solidFill>
                <a:latin typeface="Calibri"/>
              </a:rPr>
              <a:t>above target</a:t>
            </a:r>
            <a:r>
              <a:rPr sz="1600">
                <a:solidFill>
                  <a:srgbClr val="2B2D42"/>
                </a:solidFill>
                <a:latin typeface="Calibri"/>
              </a:rPr>
              <a:t> every month except February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Q4 accelerated sharply — 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Order volume tracked revenue, so 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$2,646,800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3673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3673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7993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orders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0147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52%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6621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86621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941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order value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$187.40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2.1%  vs. FY25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leads every quarter; Pro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4063898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West is the largest region at </a:t>
            </a:r>
            <a:r>
              <a:rPr sz="1600" b="1">
                <a:solidFill>
                  <a:srgbClr val="E07A5F"/>
                </a:solidFill>
                <a:latin typeface="Calibri"/>
              </a:rPr>
              <a:t>$875K</a:t>
            </a:r>
            <a:r>
              <a:rPr sz="1600">
                <a:solidFill>
                  <a:srgbClr val="2B2D42"/>
                </a:solidFill>
                <a:latin typeface="Calibri"/>
              </a:rPr>
              <a:t> for the year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Pro revenue grew </a:t>
            </a:r>
            <a:r>
              <a:rPr sz="1600" b="1">
                <a:solidFill>
                  <a:srgbClr val="E07A5F"/>
                </a:solidFill>
                <a:latin typeface="Calibri"/>
              </a:rPr>
              <a:t>36%</a:t>
            </a:r>
            <a:r>
              <a:rPr sz="1600">
                <a:solidFill>
                  <a:srgbClr val="2B2D42"/>
                </a:solidFill>
                <a:latin typeface="Calibri"/>
              </a:rPr>
              <a:t> from Q1 to Q4 across regions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South remains smallest but is growing steadily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963433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Where revenue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5418531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07738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490618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58276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341156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Takeaway:</a:t>
            </a:r>
            <a:r>
              <a:rPr sz="1600">
                <a:solidFill>
                  <a:srgbClr val="2B2D42"/>
                </a:solidFill>
                <a:latin typeface="Calibri"/>
              </a:rPr>
              <a:t> Direct is still 42% of revenue, but partner and online channels together now exceed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E2E7ED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07A5F"/>
                </a:solidFill>
                <a:latin typeface="Calibri"/>
              </a:rPr>
              <a:t>PART TWO</a:t>
            </a:r>
          </a:p>
          <a:p>
            <a:r>
              <a:rPr sz="4000" b="1">
                <a:solidFill>
                  <a:srgbClr val="1F3A5F"/>
                </a:solidFill>
                <a:latin typeface="Calibri"/>
              </a:rPr>
              <a:t>Campaign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6C757D"/>
                </a:solidFill>
                <a:latin typeface="Calibri"/>
              </a:rPr>
              <a:t>Spend efficiency and ROI by campaign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8127796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Holiday Blitz drove the most conversions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The left region stacks a KPI card on top of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482429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667658" cy="1569720"/>
          </a:xfrm>
          <a:prstGeom prst="roundRect">
            <a:avLst>
              <a:gd name="adj" fmla="val 8155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3301898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Top campaign by conversions</a:t>
            </a:r>
          </a:p>
          <a:p>
            <a:r>
              <a:rPr sz="2200" b="1">
                <a:solidFill>
                  <a:srgbClr val="1F3A5F"/>
                </a:solidFill>
                <a:latin typeface="Calibri"/>
              </a:rPr>
              <a:t>Holiday Blitz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69920"/>
            <a:ext cx="3667658" cy="3139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Holiday Blitz returned </a:t>
            </a:r>
            <a:r>
              <a:rPr sz="1600" b="1">
                <a:solidFill>
                  <a:srgbClr val="E07A5F"/>
                </a:solidFill>
                <a:latin typeface="Calibri"/>
              </a:rPr>
              <a:t>4.0x</a:t>
            </a:r>
            <a:r>
              <a:rPr sz="1600">
                <a:solidFill>
                  <a:srgbClr val="2B2D42"/>
                </a:solidFill>
                <a:latin typeface="Calibri"/>
              </a:rPr>
              <a:t> spend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Trade Show was the weakest at </a:t>
            </a:r>
            <a:r>
              <a:rPr sz="1600" b="1">
                <a:solidFill>
                  <a:srgbClr val="E07A5F"/>
                </a:solidFill>
                <a:latin typeface="Calibri"/>
              </a:rPr>
              <a:t>2.2x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Inline data works too — no CSV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0837062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457200" y="1417320"/>
            <a:ext cx="3966362" cy="731520"/>
          </a:xfrm>
          <a:prstGeom prst="homePlat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Q1 FY27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Rebalance spend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Shift </a:t>
            </a:r>
            <a:r>
              <a:rPr sz="1300" b="1">
                <a:solidFill>
                  <a:srgbClr val="E07A5F"/>
                </a:solidFill>
                <a:latin typeface="Calibri"/>
              </a:rPr>
              <a:t>15%</a:t>
            </a:r>
            <a:r>
              <a:rPr sz="1300">
                <a:solidFill>
                  <a:srgbClr val="6C757D"/>
                </a:solidFill>
                <a:latin typeface="Calibri"/>
              </a:rPr>
              <a:t> of trade-show budget into online retargeting</a:t>
            </a:r>
          </a:p>
        </p:txBody>
      </p:sp>
      <p:sp>
        <p:nvSpPr>
          <p:cNvPr id="9" name="Chevron 8"/>
          <p:cNvSpPr/>
          <p:nvPr/>
        </p:nvSpPr>
        <p:spPr>
          <a:xfrm>
            <a:off x="4112666" y="1417320"/>
            <a:ext cx="3966362" cy="73152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Q2 FY27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546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Grow Pro in the South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Expand the Pro tier push into the South region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7768132" y="1417320"/>
            <a:ext cx="3966362" cy="73152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Q3 FY27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1012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Reset targets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Re-baseline FY27 targets off the Q4 run-rate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Trade Show return on spend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2.2x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weakest campaign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2498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5378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South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$488,000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smallest region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796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0676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Q4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$777,900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new quarterly run-rate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Commercial Review</dc:title>
  <dc:subject/>
  <dc:creator>Analytics Team</dc:creator>
  <cp:keywords/>
  <dc:description/>
  <cp:lastModifiedBy>Analytics Team</cp:lastModifiedBy>
  <cp:revision>1</cp:revision>
  <dcterms:created xsi:type="dcterms:W3CDTF">2026-09-30T11:43:50Z</dcterms:created>
  <dcterms:modified xsi:type="dcterms:W3CDTF">2026-09-30T11:43:50Z</dcterms:modified>
  <cp:category/>
</cp:coreProperties>
</file>