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 w="28575">
              <a:solidFill>
                <a:srgbClr val="1F3A5F"/>
              </a:solidFill>
            </a:ln>
          </c:spPr>
          <c:marker>
            <c:spPr>
              <a:solidFill>
                <a:srgbClr val="1F3A5F"/>
              </a:solidFill>
              <a:ln>
                <a:solidFill>
                  <a:srgbClr val="1F3A5F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$#,##0</c:formatCode>
                <c:ptCount val="12"/>
                <c:pt idx="0">
                  <c:v>182000</c:v>
                </c:pt>
                <c:pt idx="1">
                  <c:v>176500</c:v>
                </c:pt>
                <c:pt idx="2">
                  <c:v>198200</c:v>
                </c:pt>
                <c:pt idx="3">
                  <c:v>205400</c:v>
                </c:pt>
                <c:pt idx="4">
                  <c:v>214900</c:v>
                </c:pt>
                <c:pt idx="5">
                  <c:v>209800</c:v>
                </c:pt>
                <c:pt idx="6">
                  <c:v>221300</c:v>
                </c:pt>
                <c:pt idx="7">
                  <c:v>232700</c:v>
                </c:pt>
                <c:pt idx="8">
                  <c:v>228100</c:v>
                </c:pt>
                <c:pt idx="9">
                  <c:v>241900</c:v>
                </c:pt>
                <c:pt idx="10">
                  <c:v>259600</c:v>
                </c:pt>
                <c:pt idx="11">
                  <c:v>276400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ln w="28575">
              <a:solidFill>
                <a:srgbClr val="E07A5F"/>
              </a:solidFill>
            </a:ln>
          </c:spPr>
          <c:marker>
            <c:spPr>
              <a:solidFill>
                <a:srgbClr val="E07A5F"/>
              </a:solidFill>
              <a:ln>
                <a:solidFill>
                  <a:srgbClr val="E07A5F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$#,##0</c:formatCode>
                <c:ptCount val="12"/>
                <c:pt idx="0">
                  <c:v>175000</c:v>
                </c:pt>
                <c:pt idx="1">
                  <c:v>180000</c:v>
                </c:pt>
                <c:pt idx="2">
                  <c:v>185000</c:v>
                </c:pt>
                <c:pt idx="3">
                  <c:v>190000</c:v>
                </c:pt>
                <c:pt idx="4">
                  <c:v>195000</c:v>
                </c:pt>
                <c:pt idx="5">
                  <c:v>200000</c:v>
                </c:pt>
                <c:pt idx="6">
                  <c:v>205000</c:v>
                </c:pt>
                <c:pt idx="7">
                  <c:v>210000</c:v>
                </c:pt>
                <c:pt idx="8">
                  <c:v>215000</c:v>
                </c:pt>
                <c:pt idx="9">
                  <c:v>220000</c:v>
                </c:pt>
                <c:pt idx="10">
                  <c:v>225000</c:v>
                </c:pt>
                <c:pt idx="11">
                  <c:v>230000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F1F4F8"/>
              </a:solidFill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North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$#,##0,"K"</c:formatCode>
                <c:ptCount val="4"/>
                <c:pt idx="0">
                  <c:v>159000</c:v>
                </c:pt>
                <c:pt idx="1">
                  <c:v>170000</c:v>
                </c:pt>
                <c:pt idx="2">
                  <c:v>181000</c:v>
                </c:pt>
                <c:pt idx="3">
                  <c:v>205000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South</c:v>
                </c:pt>
              </c:strCache>
            </c:strRef>
          </c:tx>
          <c:spPr>
            <a:solidFill>
              <a:srgbClr val="E07A5F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$#,##0,"K"</c:formatCode>
                <c:ptCount val="4"/>
                <c:pt idx="0">
                  <c:v>110000</c:v>
                </c:pt>
                <c:pt idx="1">
                  <c:v>116000</c:v>
                </c:pt>
                <c:pt idx="2">
                  <c:v>124000</c:v>
                </c:pt>
                <c:pt idx="3">
                  <c:v>138000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West</c:v>
                </c:pt>
              </c:strCache>
            </c:strRef>
          </c:tx>
          <c:spPr>
            <a:solidFill>
              <a:srgbClr val="3D8BD3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Sheet1!$D$2:$D$5</c:f>
              <c:numCache>
                <c:formatCode>$#,##0,"K"</c:formatCode>
                <c:ptCount val="4"/>
                <c:pt idx="0">
                  <c:v>198000</c:v>
                </c:pt>
                <c:pt idx="1">
                  <c:v>210000</c:v>
                </c:pt>
                <c:pt idx="2">
                  <c:v>221000</c:v>
                </c:pt>
                <c:pt idx="3">
                  <c:v>246000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F1F4F8"/>
              </a:solidFill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3A5F"/>
                </a:solidFill>
              </a:rPr>
              <a:t>Revenue by region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Sheet1!$A$2:$A$4</c:f>
              <c:strCache>
                <c:ptCount val="3"/>
                <c:pt idx="0">
                  <c:v>West</c:v>
                </c:pt>
                <c:pt idx="1">
                  <c:v>North</c:v>
                </c:pt>
                <c:pt idx="2">
                  <c:v>South</c:v>
                </c:pt>
              </c:strCache>
            </c:strRef>
          </c:cat>
          <c:val>
            <c:numRef>
              <c:f>Sheet1!$B$2:$B$4</c:f>
              <c:numCache>
                <c:formatCode>$#,##0,"K"</c:formatCode>
                <c:ptCount val="3"/>
                <c:pt idx="0">
                  <c:v>875000</c:v>
                </c:pt>
                <c:pt idx="1">
                  <c:v>715000</c:v>
                </c:pt>
                <c:pt idx="2">
                  <c:v>488000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300" b="1">
                <a:solidFill>
                  <a:srgbClr val="1F3A5F"/>
                </a:solidFill>
              </a:rPr>
              <a:t>Channel mix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spPr>
              <a:solidFill>
                <a:srgbClr val="1F3A5F"/>
              </a:solidFill>
            </c:spPr>
          </c:dPt>
          <c:dPt>
            <c:idx val="1"/>
            <c:spPr>
              <a:solidFill>
                <a:srgbClr val="E07A5F"/>
              </a:solidFill>
            </c:spPr>
          </c:dPt>
          <c:dPt>
            <c:idx val="2"/>
            <c:spPr>
              <a:solidFill>
                <a:srgbClr val="3D8BD3"/>
              </a:solidFill>
            </c:spPr>
          </c:dPt>
          <c:dPt>
            <c:idx val="3"/>
            <c:spPr>
              <a:solidFill>
                <a:srgbClr val="81B29A"/>
              </a:solidFill>
            </c:spPr>
          </c:dPt>
          <c:cat>
            <c:strRef>
              <c:f>Sheet1!$A$2:$A$5</c:f>
              <c:strCache>
                <c:ptCount val="4"/>
                <c:pt idx="0">
                  <c:v>Direct</c:v>
                </c:pt>
                <c:pt idx="1">
                  <c:v>Partners</c:v>
                </c:pt>
                <c:pt idx="2">
                  <c:v>Online</c:v>
                </c:pt>
                <c:pt idx="3">
                  <c:v>Marketplace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0.42</c:v>
                </c:pt>
                <c:pt idx="1">
                  <c:v>0.27</c:v>
                </c:pt>
                <c:pt idx="2">
                  <c:v>0.21</c:v>
                </c:pt>
                <c:pt idx="3">
                  <c:v>0.1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3A5F"/>
                </a:solidFill>
              </a:rPr>
              <a:t>Units by product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Units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Sheet1!$A$2:$A$3</c:f>
              <c:strCache>
                <c:ptCount val="2"/>
                <c:pt idx="0">
                  <c:v>Core</c:v>
                </c:pt>
                <c:pt idx="1">
                  <c:v>Pro</c:v>
                </c:pt>
              </c:strCache>
            </c:strRef>
          </c:cat>
          <c:val>
            <c:numRef>
              <c:f>Sheet1!$B$2:$B$3</c:f>
              <c:numCache>
                <c:formatCode>#,##0</c:formatCode>
                <c:ptCount val="2"/>
                <c:pt idx="0">
                  <c:v>8215</c:v>
                </c:pt>
                <c:pt idx="1">
                  <c:v>2758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F1F4F8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>
                <a:solidFill>
                  <a:srgbClr val="1F3A5F"/>
                </a:solidFill>
              </a:rPr>
              <a:t>Spend vs. revenue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Online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1F3A5F"/>
              </a:solidFill>
              <a:ln>
                <a:solidFill>
                  <a:srgbClr val="1F3A5F"/>
                </a:solidFill>
              </a:ln>
            </c:spPr>
          </c:marker>
          <c:xVal>
            <c:numRef>
              <c:f>Sheet1!$A$2:$A$4</c:f>
              <c:numCache>
                <c:formatCode>$#,##0,"K"</c:formatCode>
                <c:ptCount val="3"/>
                <c:pt idx="0">
                  <c:v>42000</c:v>
                </c:pt>
                <c:pt idx="1">
                  <c:v>88000</c:v>
                </c:pt>
                <c:pt idx="2">
                  <c:v>23000</c:v>
                </c:pt>
              </c:numCache>
            </c:numRef>
          </c:xVal>
          <c:yVal>
            <c:numRef>
              <c:f>Sheet1!$B$2:$B$4</c:f>
              <c:numCache>
                <c:formatCode>$#,##0,"K"</c:formatCode>
                <c:ptCount val="3"/>
                <c:pt idx="0">
                  <c:v>168000</c:v>
                </c:pt>
                <c:pt idx="1">
                  <c:v>352000</c:v>
                </c:pt>
                <c:pt idx="2">
                  <c:v>131000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Sheet1!$B$6</c:f>
              <c:strCache>
                <c:ptCount val="1"/>
                <c:pt idx="0">
                  <c:v>Partners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E07A5F"/>
              </a:solidFill>
              <a:ln>
                <a:solidFill>
                  <a:srgbClr val="E07A5F"/>
                </a:solidFill>
              </a:ln>
            </c:spPr>
          </c:marker>
          <c:xVal>
            <c:numRef>
              <c:f>Sheet1!$A$7:$A$7</c:f>
              <c:numCache>
                <c:formatCode>$#,##0,"K"</c:formatCode>
                <c:ptCount val="1"/>
                <c:pt idx="0">
                  <c:v>65000</c:v>
                </c:pt>
              </c:numCache>
            </c:numRef>
          </c:xVal>
          <c:yVal>
            <c:numRef>
              <c:f>Sheet1!$B$7:$B$7</c:f>
              <c:numCache>
                <c:formatCode>$#,##0,"K"</c:formatCode>
                <c:ptCount val="1"/>
                <c:pt idx="0">
                  <c:v>201000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Sheet1!$B$9</c:f>
              <c:strCache>
                <c:ptCount val="1"/>
                <c:pt idx="0">
                  <c:v>Direct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3D8BD3"/>
              </a:solidFill>
              <a:ln>
                <a:solidFill>
                  <a:srgbClr val="3D8BD3"/>
                </a:solidFill>
              </a:ln>
            </c:spPr>
          </c:marker>
          <c:xVal>
            <c:numRef>
              <c:f>Sheet1!$A$10:$A$12</c:f>
              <c:numCache>
                <c:formatCode>$#,##0,"K"</c:formatCode>
                <c:ptCount val="3"/>
                <c:pt idx="0">
                  <c:v>18000</c:v>
                </c:pt>
                <c:pt idx="1">
                  <c:v>54000</c:v>
                </c:pt>
                <c:pt idx="2">
                  <c:v>15000</c:v>
                </c:pt>
              </c:numCache>
            </c:numRef>
          </c:xVal>
          <c:yVal>
            <c:numRef>
              <c:f>Sheet1!$B$10:$B$12</c:f>
              <c:numCache>
                <c:formatCode>$#,##0,"K"</c:formatCode>
                <c:ptCount val="3"/>
                <c:pt idx="0">
                  <c:v>97000</c:v>
                </c:pt>
                <c:pt idx="1">
                  <c:v>121000</c:v>
                </c:pt>
                <c:pt idx="2">
                  <c:v>112000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Sheet1!$B$14</c:f>
              <c:strCache>
                <c:ptCount val="1"/>
                <c:pt idx="0">
                  <c:v>Marketplace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81B29A"/>
              </a:solidFill>
              <a:ln>
                <a:solidFill>
                  <a:srgbClr val="81B29A"/>
                </a:solidFill>
              </a:ln>
            </c:spPr>
          </c:marker>
          <c:xVal>
            <c:numRef>
              <c:f>Sheet1!$A$15:$A$15</c:f>
              <c:numCache>
                <c:formatCode>$#,##0,"K"</c:formatCode>
                <c:ptCount val="1"/>
                <c:pt idx="0">
                  <c:v>37000</c:v>
                </c:pt>
              </c:numCache>
            </c:numRef>
          </c:xVal>
          <c:yVal>
            <c:numRef>
              <c:f>Sheet1!$B$15:$B$15</c:f>
              <c:numCache>
                <c:formatCode>$#,##0,"K"</c:formatCode>
                <c:ptCount val="1"/>
                <c:pt idx="0">
                  <c:v>94000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>
          <c:spPr>
            <a:ln>
              <a:solidFill>
                <a:srgbClr val="F1F4F8"/>
              </a:solidFill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128940872"/>
        <c:crosses val="autoZero"/>
        <c:crossBetween val="midCat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Conversions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Sheet1!$A$2:$A$9</c:f>
              <c:strCache>
                <c:ptCount val="8"/>
                <c:pt idx="0">
                  <c:v>Holiday Blitz</c:v>
                </c:pt>
                <c:pt idx="1">
                  <c:v>Spring Promo</c:v>
                </c:pt>
                <c:pt idx="2">
                  <c:v>Retargeting</c:v>
                </c:pt>
                <c:pt idx="3">
                  <c:v>Partner Push</c:v>
                </c:pt>
                <c:pt idx="4">
                  <c:v>Marketplace Ads</c:v>
                </c:pt>
                <c:pt idx="5">
                  <c:v>Loyalty Upsell</c:v>
                </c:pt>
                <c:pt idx="6">
                  <c:v>Webinar Series</c:v>
                </c:pt>
                <c:pt idx="7">
                  <c:v>Trade Show</c:v>
                </c:pt>
              </c:strCache>
            </c:strRef>
          </c:cat>
          <c:val>
            <c:numRef>
              <c:f>Sheet1!$B$2:$B$9</c:f>
              <c:numCache>
                <c:formatCode>#,##0</c:formatCode>
                <c:ptCount val="8"/>
                <c:pt idx="0">
                  <c:v>1540</c:v>
                </c:pt>
                <c:pt idx="1">
                  <c:v>812</c:v>
                </c:pt>
                <c:pt idx="2">
                  <c:v>690</c:v>
                </c:pt>
                <c:pt idx="3">
                  <c:v>640</c:v>
                </c:pt>
                <c:pt idx="4">
                  <c:v>515</c:v>
                </c:pt>
                <c:pt idx="5">
                  <c:v>420</c:v>
                </c:pt>
                <c:pt idx="6">
                  <c:v>305</c:v>
                </c:pt>
                <c:pt idx="7">
                  <c:v>210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($M)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Sheet1!$A$2:$A$6</c:f>
              <c:strCache>
                <c:ptCount val="5"/>
                <c:pt idx="0">
                  <c:v>FY22</c:v>
                </c:pt>
                <c:pt idx="1">
                  <c:v>FY23</c:v>
                </c:pt>
                <c:pt idx="2">
                  <c:v>FY24</c:v>
                </c:pt>
                <c:pt idx="3">
                  <c:v>FY25</c:v>
                </c:pt>
                <c:pt idx="4">
                  <c:v>FY26</c:v>
                </c:pt>
              </c:strCache>
            </c:strRef>
          </c:cat>
          <c:val>
            <c:numRef>
              <c:f>Sheet1!$B$2:$B$6</c:f>
              <c:numCache>
                <c:formatCode>0.0</c:formatCode>
                <c:ptCount val="5"/>
                <c:pt idx="0">
                  <c:v>1.6</c:v>
                </c:pt>
                <c:pt idx="1">
                  <c:v>1.9</c:v>
                </c:pt>
                <c:pt idx="2">
                  <c:v>2.1</c:v>
                </c:pt>
                <c:pt idx="3">
                  <c:v>2.3</c:v>
                </c:pt>
                <c:pt idx="4">
                  <c:v>2.6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F1F4F8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noFill/>
          </a:ln>
        </c:sp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come from the `notes`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E07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17830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FY2026 Commercial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77295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000">
                <a:solidFill>
                  <a:srgbClr val="D0D7E1"/>
                </a:solidFill>
                <a:latin typeface="Calibri"/>
              </a:rPr>
              <a:t>Revenue, regions, channels and campaign performance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Revenue beat target in 11 of 12 months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>
                <a:solidFill>
                  <a:srgbClr val="6C757D"/>
                </a:solidFill>
                <a:latin typeface="Calibri"/>
              </a:rPr>
              <a:t>Full-year performance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3628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6C757D"/>
                </a:solidFill>
                <a:latin typeface="Calibri"/>
              </a:rPr>
              <a:t>Source: monthly_sales.csv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2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2984601"/>
          <a:ext cx="7335316" cy="332475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066836" y="2984601"/>
            <a:ext cx="3667658" cy="332475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1F3A5F"/>
                </a:solidFill>
                <a:latin typeface="Calibri"/>
              </a:rPr>
              <a:t>What drove it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>
                <a:solidFill>
                  <a:srgbClr val="2B2D42"/>
                </a:solidFill>
                <a:latin typeface="Calibri"/>
              </a:rPr>
              <a:t>Revenue ran </a:t>
            </a:r>
            <a:r>
              <a:rPr sz="1600" b="1">
                <a:solidFill>
                  <a:srgbClr val="E07A5F"/>
                </a:solidFill>
                <a:latin typeface="Calibri"/>
              </a:rPr>
              <a:t>above target</a:t>
            </a:r>
            <a:r>
              <a:rPr sz="1600">
                <a:solidFill>
                  <a:srgbClr val="2B2D42"/>
                </a:solidFill>
                <a:latin typeface="Calibri"/>
              </a:rPr>
              <a:t> every month except February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>
                <a:solidFill>
                  <a:srgbClr val="2B2D42"/>
                </a:solidFill>
                <a:latin typeface="Calibri"/>
              </a:rPr>
              <a:t>Q4 accelerated sharply — December alone was </a:t>
            </a:r>
            <a:r>
              <a:rPr sz="1600" b="1">
                <a:solidFill>
                  <a:srgbClr val="E07A5F"/>
                </a:solidFill>
                <a:latin typeface="Calibri"/>
              </a:rPr>
              <a:t>$276K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>
                <a:solidFill>
                  <a:srgbClr val="2B2D42"/>
                </a:solidFill>
                <a:latin typeface="Calibri"/>
              </a:rPr>
              <a:t>Order volume tracked revenue, so growth was </a:t>
            </a:r>
            <a:r>
              <a:rPr sz="1600" b="1">
                <a:solidFill>
                  <a:srgbClr val="E07A5F"/>
                </a:solidFill>
                <a:latin typeface="Calibri"/>
              </a:rPr>
              <a:t>volume-led</a:t>
            </a:r>
            <a:r>
              <a:rPr sz="1600">
                <a:solidFill>
                  <a:srgbClr val="2B2D42"/>
                </a:solidFill>
                <a:latin typeface="Calibri"/>
              </a:rPr>
              <a:t>, not price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2647873" cy="1292961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2282113" cy="1110081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Total revenue</a:t>
            </a:r>
          </a:p>
          <a:p>
            <a:r>
              <a:rPr sz="3000" b="1">
                <a:solidFill>
                  <a:srgbClr val="1F3A5F"/>
                </a:solidFill>
                <a:latin typeface="Calibri"/>
              </a:rPr>
              <a:t>$2,646,800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3673" y="1417320"/>
            <a:ext cx="2647873" cy="1292961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16553" y="1508760"/>
            <a:ext cx="2282113" cy="1110081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Total orders</a:t>
            </a:r>
          </a:p>
          <a:p>
            <a:r>
              <a:rPr sz="3000" b="1">
                <a:solidFill>
                  <a:srgbClr val="1F3A5F"/>
                </a:solidFill>
                <a:latin typeface="Calibri"/>
              </a:rPr>
              <a:t>17,030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1417320"/>
            <a:ext cx="2647873" cy="1292961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3027" y="1508760"/>
            <a:ext cx="2282113" cy="1110081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Revenue growth Jan → Dec</a:t>
            </a:r>
          </a:p>
          <a:p>
            <a:r>
              <a:rPr sz="3000" b="1">
                <a:solidFill>
                  <a:srgbClr val="1F3A5F"/>
                </a:solidFill>
                <a:latin typeface="Calibri"/>
              </a:rPr>
              <a:t>52%</a:t>
            </a:r>
          </a:p>
          <a:p>
            <a:r>
              <a:rPr sz="1200">
                <a:solidFill>
                  <a:srgbClr val="2A9D8F"/>
                </a:solidFill>
                <a:latin typeface="Calibri"/>
              </a:rPr>
              <a:t>▲ 6 pts  vs. plan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86621" y="1417320"/>
            <a:ext cx="2647873" cy="1292961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69501" y="1508760"/>
            <a:ext cx="2282113" cy="1110081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Avg. order value</a:t>
            </a:r>
          </a:p>
          <a:p>
            <a:r>
              <a:rPr sz="3000" b="1">
                <a:solidFill>
                  <a:srgbClr val="1F3A5F"/>
                </a:solidFill>
                <a:latin typeface="Calibri"/>
              </a:rPr>
              <a:t>$187.40</a:t>
            </a:r>
          </a:p>
          <a:p>
            <a:r>
              <a:rPr sz="1200">
                <a:solidFill>
                  <a:srgbClr val="D1495B"/>
                </a:solidFill>
                <a:latin typeface="Calibri"/>
              </a:rPr>
              <a:t>▼ 2.1%  vs. FY25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West leads every quarter; Pro is growing fastest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03628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6C757D"/>
                </a:solidFill>
                <a:latin typeface="Calibri"/>
              </a:rPr>
              <a:t>Source: sales_by_region.csv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4231913" cy="4892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256032" indent="-256032">
              <a:spcAft>
                <a:spcPts val="1000"/>
              </a:spcAft>
              <a:buClr>
                <a:srgbClr val="E07A5F"/>
              </a:buClr>
              <a:buAutoNum type="arabicPeriod"/>
            </a:pPr>
            <a:r>
              <a:rPr sz="1600">
                <a:solidFill>
                  <a:srgbClr val="2B2D42"/>
                </a:solidFill>
                <a:latin typeface="Calibri"/>
              </a:rPr>
              <a:t>West is the largest region at </a:t>
            </a:r>
            <a:r>
              <a:rPr sz="1600" b="1">
                <a:solidFill>
                  <a:srgbClr val="E07A5F"/>
                </a:solidFill>
                <a:latin typeface="Calibri"/>
              </a:rPr>
              <a:t>$875K</a:t>
            </a:r>
            <a:r>
              <a:rPr sz="1600">
                <a:solidFill>
                  <a:srgbClr val="2B2D42"/>
                </a:solidFill>
                <a:latin typeface="Calibri"/>
              </a:rPr>
              <a:t> for the year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AutoNum type="arabicPeriod"/>
            </a:pPr>
            <a:r>
              <a:rPr sz="1600">
                <a:solidFill>
                  <a:srgbClr val="2B2D42"/>
                </a:solidFill>
                <a:latin typeface="Calibri"/>
              </a:rPr>
              <a:t>Pro revenue grew </a:t>
            </a:r>
            <a:r>
              <a:rPr sz="1600" b="1">
                <a:solidFill>
                  <a:srgbClr val="E07A5F"/>
                </a:solidFill>
                <a:latin typeface="Calibri"/>
              </a:rPr>
              <a:t>36%</a:t>
            </a:r>
            <a:r>
              <a:rPr sz="1600">
                <a:solidFill>
                  <a:srgbClr val="2B2D42"/>
                </a:solidFill>
                <a:latin typeface="Calibri"/>
              </a:rPr>
              <a:t> from Q1 to Q4 across regions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AutoNum type="arabicPeriod"/>
            </a:pPr>
            <a:r>
              <a:rPr sz="1600">
                <a:solidFill>
                  <a:srgbClr val="2B2D42"/>
                </a:solidFill>
                <a:latin typeface="Calibri"/>
              </a:rPr>
              <a:t>South remains smallest but is growing steadily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963433" y="1417320"/>
          <a:ext cx="6771061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Where revenue comes from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03628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6C757D"/>
                </a:solidFill>
                <a:latin typeface="Calibri"/>
              </a:rPr>
              <a:t>Source: sales_by_region.csv, channel_mix.csv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4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417320"/>
          <a:ext cx="3576218" cy="360182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307738" y="1417320"/>
          <a:ext cx="3576218" cy="3601821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8158276" y="1417320"/>
          <a:ext cx="3576218" cy="3601821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5293461"/>
            <a:ext cx="11277295" cy="1015898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5293461"/>
            <a:ext cx="73152" cy="1015898"/>
          </a:xfrm>
          <a:prstGeom prst="rect">
            <a:avLst/>
          </a:prstGeom>
          <a:solidFill>
            <a:srgbClr val="E07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476341"/>
            <a:ext cx="10820095" cy="65013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 b="1">
                <a:solidFill>
                  <a:srgbClr val="E07A5F"/>
                </a:solidFill>
                <a:latin typeface="Calibri"/>
              </a:rPr>
              <a:t>Takeaway:</a:t>
            </a:r>
            <a:r>
              <a:rPr sz="1600">
                <a:solidFill>
                  <a:srgbClr val="2B2D42"/>
                </a:solidFill>
                <a:latin typeface="Calibri"/>
              </a:rPr>
              <a:t> Direct is still 42% of revenue, but partner and online channels together now exceed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E07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17830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Calibri"/>
              </a:rPr>
              <a:t>Campaign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77295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000">
                <a:solidFill>
                  <a:srgbClr val="6C757D"/>
                </a:solidFill>
                <a:latin typeface="Calibri"/>
              </a:rPr>
              <a:t>Spend efficiency and ROI by campaign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Online campaigns deliver the best return on spend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03628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6C757D"/>
                </a:solidFill>
                <a:latin typeface="Calibri"/>
              </a:rPr>
              <a:t>Source: campaigns.csv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6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417320"/>
          <a:ext cx="5501487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33007" y="1417320"/>
          <a:ext cx="5501487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5371"/>
                <a:gridCol w="1375371"/>
                <a:gridCol w="1375371"/>
                <a:gridCol w="1375374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1F4F8"/>
                          </a:solidFill>
                          <a:latin typeface="Calibri"/>
                        </a:rPr>
                        <a:t>Campaign</a:t>
                      </a:r>
                    </a:p>
                  </a:txBody>
                  <a:tcPr anchor="ctr" marL="91440" marR="9144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1F4F8"/>
                          </a:solidFill>
                          <a:latin typeface="Calibri"/>
                        </a:rPr>
                        <a:t>Channel</a:t>
                      </a:r>
                    </a:p>
                  </a:txBody>
                  <a:tcPr anchor="ctr" marL="91440" marR="9144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1F4F8"/>
                          </a:solidFill>
                          <a:latin typeface="Calibri"/>
                        </a:rPr>
                        <a:t>Spend</a:t>
                      </a:r>
                    </a:p>
                  </a:txBody>
                  <a:tcPr anchor="ctr" marL="91440" marR="9144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1F4F8"/>
                          </a:solidFill>
                          <a:latin typeface="Calibri"/>
                        </a:rPr>
                        <a:t>Revenue</a:t>
                      </a:r>
                    </a:p>
                  </a:txBody>
                  <a:tcPr anchor="ctr" marL="91440" marR="91440"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B2D42"/>
                          </a:solidFill>
                          <a:latin typeface="Calibri"/>
                        </a:rPr>
                        <a:t>Holiday Blitz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B2D42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2B2D42"/>
                          </a:solidFill>
                          <a:latin typeface="Calibri"/>
                        </a:rPr>
                        <a:t>$88,000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2B2D42"/>
                          </a:solidFill>
                          <a:latin typeface="Calibri"/>
                        </a:rPr>
                        <a:t>$352,000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Partner Push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Partners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$65,000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$201,000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Spring Promo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$42,000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$168,000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Retargeting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$23,000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$131,000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Trade Show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$54,000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$121,000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Loyalty Upsell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$15,000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$112,000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Holiday Blitz drove the most conversions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>
                <a:solidFill>
                  <a:srgbClr val="6C757D"/>
                </a:solidFill>
                <a:latin typeface="Calibri"/>
              </a:rPr>
              <a:t>The left region stacks a KPI card on top of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3667658" cy="15697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3301898" cy="1386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Top campaign by conversions</a:t>
            </a:r>
          </a:p>
          <a:p>
            <a:r>
              <a:rPr sz="2200" b="1">
                <a:solidFill>
                  <a:srgbClr val="1F3A5F"/>
                </a:solidFill>
                <a:latin typeface="Calibri"/>
              </a:rPr>
              <a:t>Holiday Blitz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69920"/>
            <a:ext cx="3667658" cy="3139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>
                <a:solidFill>
                  <a:srgbClr val="2B2D42"/>
                </a:solidFill>
                <a:latin typeface="Calibri"/>
              </a:rPr>
              <a:t>Holiday Blitz returned </a:t>
            </a:r>
            <a:r>
              <a:rPr sz="1600" b="1">
                <a:solidFill>
                  <a:srgbClr val="E07A5F"/>
                </a:solidFill>
                <a:latin typeface="Calibri"/>
              </a:rPr>
              <a:t>4.0x</a:t>
            </a:r>
            <a:r>
              <a:rPr sz="1600">
                <a:solidFill>
                  <a:srgbClr val="2B2D42"/>
                </a:solidFill>
                <a:latin typeface="Calibri"/>
              </a:rPr>
              <a:t> spend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>
                <a:solidFill>
                  <a:srgbClr val="2B2D42"/>
                </a:solidFill>
                <a:latin typeface="Calibri"/>
              </a:rPr>
              <a:t>Trade Show was the weakest at </a:t>
            </a:r>
            <a:r>
              <a:rPr sz="1600" b="1">
                <a:solidFill>
                  <a:srgbClr val="E07A5F"/>
                </a:solidFill>
                <a:latin typeface="Calibri"/>
              </a:rPr>
              <a:t>2.2x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399178" y="1417320"/>
          <a:ext cx="7335316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Inline data works too — no CSV needed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8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17320"/>
          <a:ext cx="11277295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9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11277295" cy="4892040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73152" cy="4892040"/>
          </a:xfrm>
          <a:prstGeom prst="rect">
            <a:avLst/>
          </a:prstGeom>
          <a:solidFill>
            <a:srgbClr val="E07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820095" cy="4526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1F3A5F"/>
                </a:solidFill>
                <a:latin typeface="Calibri"/>
              </a:rPr>
              <a:t>Recommendations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2200">
                <a:solidFill>
                  <a:srgbClr val="2B2D42"/>
                </a:solidFill>
                <a:latin typeface="Calibri"/>
              </a:rPr>
              <a:t>Shift </a:t>
            </a:r>
            <a:r>
              <a:rPr sz="2200" b="1">
                <a:solidFill>
                  <a:srgbClr val="E07A5F"/>
                </a:solidFill>
                <a:latin typeface="Calibri"/>
              </a:rPr>
              <a:t>15%</a:t>
            </a:r>
            <a:r>
              <a:rPr sz="2200">
                <a:solidFill>
                  <a:srgbClr val="2B2D42"/>
                </a:solidFill>
                <a:latin typeface="Calibri"/>
              </a:rPr>
              <a:t> of trade-show budget into online retargeting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2200">
                <a:solidFill>
                  <a:srgbClr val="2B2D42"/>
                </a:solidFill>
                <a:latin typeface="Calibri"/>
              </a:rPr>
              <a:t>Expand the Pro tier push into the South region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2200">
                <a:solidFill>
                  <a:srgbClr val="2B2D42"/>
                </a:solidFill>
                <a:latin typeface="Calibri"/>
              </a:rPr>
              <a:t>Re-baseline FY27 targets off the Q4 run-rate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FY2026 Commercial Review</dc:title>
  <dc:subject/>
  <dc:creator>Analytics Team</dc:creator>
  <cp:keywords/>
  <dc:description/>
  <cp:lastModifiedBy>Analytics Team</cp:lastModifiedBy>
  <cp:revision>1</cp:revision>
  <dcterms:created xsi:type="dcterms:W3CDTF">2026-09-29T20:24:28Z</dcterms:created>
  <dcterms:modified xsi:type="dcterms:W3CDTF">2026-09-29T20:24:28Z</dcterms:modified>
  <cp:category/>
</cp:coreProperties>
</file>