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gapWidth val="60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E07A5F"/>
              </a:solidFill>
            </a:ln>
          </c:spPr>
          <c:marker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159000</c:v>
                </c:pt>
                <c:pt idx="1">
                  <c:v>170000</c:v>
                </c:pt>
                <c:pt idx="2">
                  <c:v>181000</c:v>
                </c:pt>
                <c:pt idx="3">
                  <c:v>205000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E07A5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110000</c:v>
                </c:pt>
                <c:pt idx="1">
                  <c:v>116000</c:v>
                </c:pt>
                <c:pt idx="2">
                  <c:v>124000</c:v>
                </c:pt>
                <c:pt idx="3">
                  <c:v>138000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3D8BD3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$#,##0,"K"</c:formatCode>
                <c:ptCount val="4"/>
                <c:pt idx="0">
                  <c:v>198000</c:v>
                </c:pt>
                <c:pt idx="1">
                  <c:v>210000</c:v>
                </c:pt>
                <c:pt idx="2">
                  <c:v>221000</c:v>
                </c:pt>
                <c:pt idx="3">
                  <c:v>246000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Revenue by region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dPt>
            <c:idx val="0"/>
            <c:spPr>
              <a:solidFill>
                <a:srgbClr val="E07A5F"/>
              </a:solidFill>
            </c:spPr>
          </c:dPt>
          <c:dPt>
            <c:idx val="1"/>
            <c:spPr>
              <a:solidFill>
                <a:srgbClr val="C5CDD6"/>
              </a:solidFill>
            </c:spPr>
          </c:dPt>
          <c:dPt>
            <c:idx val="2"/>
            <c:spPr>
              <a:solidFill>
                <a:srgbClr val="C5CDD6"/>
              </a:solidFill>
            </c:spPr>
          </c:dPt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North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875000</c:v>
                </c:pt>
                <c:pt idx="1">
                  <c:v>715000</c:v>
                </c:pt>
                <c:pt idx="2">
                  <c:v>488000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Channel mix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E07A5F"/>
              </a:solidFill>
            </c:spPr>
          </c:dPt>
          <c:dPt>
            <c:idx val="2"/>
            <c:spPr>
              <a:solidFill>
                <a:srgbClr val="3D8BD3"/>
              </a:solidFill>
            </c:spPr>
          </c:dPt>
          <c:dPt>
            <c:idx val="3"/>
            <c:spPr>
              <a:solidFill>
                <a:srgbClr val="81B29A"/>
              </a:solidFill>
            </c:spPr>
          </c:dPt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Units by product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Sheet1!$A$2:$A$3</c:f>
              <c:strCache>
                <c:ptCount val="2"/>
                <c:pt idx="0">
                  <c:v>Core</c:v>
                </c:pt>
                <c:pt idx="1">
                  <c:v>Pro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8215</c:v>
                </c:pt>
                <c:pt idx="1">
                  <c:v>2758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Spend vs. revenue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3D8BD3"/>
              </a:solidFill>
              <a:ln>
                <a:solidFill>
                  <a:srgbClr val="3D8BD3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1B29A"/>
              </a:solidFill>
              <a:ln>
                <a:solidFill>
                  <a:srgbClr val="81B29A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Conversions</c:v>
                </c:pt>
              </c:strCache>
            </c:strRef>
          </c:tx>
          <c:spPr>
            <a:solidFill>
              <a:srgbClr val="1F3A5F"/>
            </a:solidFill>
          </c:spPr>
          <c:dPt>
            <c:idx val="0"/>
            <c:spPr>
              <a:solidFill>
                <a:srgbClr val="E07A5F"/>
              </a:solidFill>
            </c:spPr>
          </c:dPt>
          <c:dPt>
            <c:idx val="1"/>
            <c:spPr>
              <a:solidFill>
                <a:srgbClr val="C5CDD6"/>
              </a:solidFill>
            </c:spPr>
          </c:dPt>
          <c:dPt>
            <c:idx val="2"/>
            <c:spPr>
              <a:solidFill>
                <a:srgbClr val="C5CDD6"/>
              </a:solidFill>
            </c:spPr>
          </c:dPt>
          <c:dPt>
            <c:idx val="3"/>
            <c:spPr>
              <a:solidFill>
                <a:srgbClr val="C5CDD6"/>
              </a:solidFill>
            </c:spPr>
          </c:dPt>
          <c:dPt>
            <c:idx val="4"/>
            <c:spPr>
              <a:solidFill>
                <a:srgbClr val="C5CDD6"/>
              </a:solidFill>
            </c:spPr>
          </c:dPt>
          <c:dPt>
            <c:idx val="5"/>
            <c:spPr>
              <a:solidFill>
                <a:srgbClr val="C5CDD6"/>
              </a:solidFill>
            </c:spPr>
          </c:dPt>
          <c:dPt>
            <c:idx val="6"/>
            <c:spPr>
              <a:solidFill>
                <a:srgbClr val="C5CDD6"/>
              </a:solidFill>
            </c:spPr>
          </c:dPt>
          <c:dPt>
            <c:idx val="7"/>
            <c:spPr>
              <a:solidFill>
                <a:srgbClr val="C5CDD6"/>
              </a:solidFill>
            </c:spPr>
          </c:dPt>
          <c:cat>
            <c:strRef>
              <c:f>Sheet1!$A$2:$A$9</c:f>
              <c:strCache>
                <c:ptCount val="8"/>
                <c:pt idx="0">
                  <c:v>Holiday Blitz</c:v>
                </c:pt>
                <c:pt idx="1">
                  <c:v>Spring Promo</c:v>
                </c:pt>
                <c:pt idx="2">
                  <c:v>Retargeting</c:v>
                </c:pt>
                <c:pt idx="3">
                  <c:v>Partner Push</c:v>
                </c:pt>
                <c:pt idx="4">
                  <c:v>Marketplace Ads</c:v>
                </c:pt>
                <c:pt idx="5">
                  <c:v>Loyalty Upsell</c:v>
                </c:pt>
                <c:pt idx="6">
                  <c:v>Webinar Series</c:v>
                </c:pt>
                <c:pt idx="7">
                  <c:v>Trade Show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8"/>
                <c:pt idx="0">
                  <c:v>1540</c:v>
                </c:pt>
                <c:pt idx="1">
                  <c:v>812</c:v>
                </c:pt>
                <c:pt idx="2">
                  <c:v>690</c:v>
                </c:pt>
                <c:pt idx="3">
                  <c:v>640</c:v>
                </c:pt>
                <c:pt idx="4">
                  <c:v>515</c:v>
                </c:pt>
                <c:pt idx="5">
                  <c:v>420</c:v>
                </c:pt>
                <c:pt idx="6">
                  <c:v>305</c:v>
                </c:pt>
                <c:pt idx="7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Sheet1!$A$2:$A$6</c:f>
              <c:strCache>
                <c:ptCount val="5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1.6</c:v>
                </c:pt>
                <c:pt idx="1">
                  <c:v>1.9</c:v>
                </c:pt>
                <c:pt idx="2">
                  <c:v>2.1</c:v>
                </c:pt>
                <c:pt idx="3">
                  <c:v>2.3</c:v>
                </c:pt>
                <c:pt idx="4">
                  <c:v>2.6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come from the `notes`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2F4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FY2026 Commercial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BCC4CF"/>
                </a:solidFill>
                <a:latin typeface="Calibri"/>
              </a:rPr>
              <a:t>Revenue, regions, channels and campaign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E07A5F"/>
                </a:solidFill>
                <a:latin typeface="Calibri"/>
              </a:rPr>
              <a:t>Analytics Team</a:t>
            </a:r>
            <a:r>
              <a:rPr sz="1400">
                <a:solidFill>
                  <a:srgbClr val="BCC4CF"/>
                </a:solidFill>
                <a:latin typeface="Calibri"/>
              </a:rPr>
              <a:t>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Revenue beat target in 11 of 12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Full-year performance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2709265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2984601"/>
          <a:ext cx="7335316" cy="332475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066836" y="2984601"/>
            <a:ext cx="3667658" cy="332475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drove it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Revenue ran </a:t>
            </a:r>
            <a:r>
              <a:rPr sz="1600" b="1">
                <a:solidFill>
                  <a:srgbClr val="E07A5F"/>
                </a:solidFill>
                <a:latin typeface="Calibri"/>
              </a:rPr>
              <a:t>above target</a:t>
            </a:r>
            <a:r>
              <a:rPr sz="1600">
                <a:solidFill>
                  <a:srgbClr val="2B2D42"/>
                </a:solidFill>
                <a:latin typeface="Calibri"/>
              </a:rPr>
              <a:t> every month except February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Q4 accelerated sharply — December alone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$276K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Order volume tracked revenue, so growth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volume-led</a:t>
            </a:r>
            <a:r>
              <a:rPr sz="1600">
                <a:solidFill>
                  <a:srgbClr val="2B2D42"/>
                </a:solidFill>
                <a:latin typeface="Calibri"/>
              </a:rPr>
              <a:t>, not price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$2,646,800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3673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3673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7993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orders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17,030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0147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4467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Revenue growth Jan → Dec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52%</a:t>
            </a:r>
          </a:p>
          <a:p>
            <a:r>
              <a:rPr sz="1200">
                <a:solidFill>
                  <a:srgbClr val="2A9D8F"/>
                </a:solidFill>
                <a:latin typeface="Calibri"/>
              </a:rPr>
              <a:t>▲ 6 pts  vs. 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86621" y="1417320"/>
            <a:ext cx="2647873" cy="1292961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86621" y="1417320"/>
            <a:ext cx="73152" cy="1292961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941" y="1508760"/>
            <a:ext cx="219067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Avg. order value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$187.40</a:t>
            </a:r>
          </a:p>
          <a:p>
            <a:r>
              <a:rPr sz="1200">
                <a:solidFill>
                  <a:srgbClr val="D1495B"/>
                </a:solidFill>
                <a:latin typeface="Calibri"/>
              </a:rPr>
              <a:t>▼ 2.1%  vs. FY25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West leads every quarter; Pro is growing fastest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4063898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231913" cy="4892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West is the largest region at </a:t>
            </a:r>
            <a:r>
              <a:rPr sz="1600" b="1">
                <a:solidFill>
                  <a:srgbClr val="E07A5F"/>
                </a:solidFill>
                <a:latin typeface="Calibri"/>
              </a:rPr>
              <a:t>$875K</a:t>
            </a:r>
            <a:r>
              <a:rPr sz="1600">
                <a:solidFill>
                  <a:srgbClr val="2B2D42"/>
                </a:solidFill>
                <a:latin typeface="Calibri"/>
              </a:rPr>
              <a:t> for the year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Pro revenue grew </a:t>
            </a:r>
            <a:r>
              <a:rPr sz="1600" b="1">
                <a:solidFill>
                  <a:srgbClr val="E07A5F"/>
                </a:solidFill>
                <a:latin typeface="Calibri"/>
              </a:rPr>
              <a:t>36%</a:t>
            </a:r>
            <a:r>
              <a:rPr sz="1600">
                <a:solidFill>
                  <a:srgbClr val="2B2D42"/>
                </a:solidFill>
                <a:latin typeface="Calibri"/>
              </a:rPr>
              <a:t> from Q1 to Q4 across regions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South remains smallest but is growing steadily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963433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Where revenue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sales_by_region.csv, channel_mix.csv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5418531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3576218" cy="3601821"/>
          </a:xfrm>
          <a:prstGeom prst="roundRect">
            <a:avLst>
              <a:gd name="adj" fmla="val 3068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3210458" cy="323606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307738" y="1417320"/>
            <a:ext cx="3576218" cy="3601821"/>
          </a:xfrm>
          <a:prstGeom prst="roundRect">
            <a:avLst>
              <a:gd name="adj" fmla="val 3068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490618" y="1600200"/>
          <a:ext cx="3210458" cy="323606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58276" y="1417320"/>
            <a:ext cx="3576218" cy="3601821"/>
          </a:xfrm>
          <a:prstGeom prst="roundRect">
            <a:avLst>
              <a:gd name="adj" fmla="val 3068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341156" y="1600200"/>
          <a:ext cx="3210458" cy="3236061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5293461"/>
            <a:ext cx="11277295" cy="1015898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5293461"/>
            <a:ext cx="73152" cy="101589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76341"/>
            <a:ext cx="10820095" cy="65013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1">
                <a:solidFill>
                  <a:srgbClr val="E07A5F"/>
                </a:solidFill>
                <a:latin typeface="Calibri"/>
              </a:rPr>
              <a:t>Takeaway:</a:t>
            </a:r>
            <a:r>
              <a:rPr sz="1600">
                <a:solidFill>
                  <a:srgbClr val="2B2D42"/>
                </a:solidFill>
                <a:latin typeface="Calibri"/>
              </a:rPr>
              <a:t> Direct is still 42% of revenue, but partner and online channels together now exceed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E2E7ED"/>
                </a:solidFill>
                <a:latin typeface="Calibri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E07A5F"/>
                </a:solidFill>
                <a:latin typeface="Calibri"/>
              </a:rPr>
              <a:t>PART TWO</a:t>
            </a:r>
          </a:p>
          <a:p>
            <a:r>
              <a:rPr sz="4000" b="1">
                <a:solidFill>
                  <a:srgbClr val="1F3A5F"/>
                </a:solidFill>
                <a:latin typeface="Calibri"/>
              </a:rPr>
              <a:t>Campaign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6C757D"/>
                </a:solidFill>
                <a:latin typeface="Calibri"/>
              </a:rPr>
              <a:t>Spend efficiency and ROI by campaign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Online campaigns deliver the best return on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Campaign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8127796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33007" y="1417320"/>
          <a:ext cx="5501487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71"/>
                <a:gridCol w="1375371"/>
                <a:gridCol w="1375371"/>
                <a:gridCol w="137537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Campaign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Holiday Blitz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$88,000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$352,000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 Push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Spring Promo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$42,000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$168,000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Retargeting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$23,000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$131,000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Trade Show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$54,000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$121,000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Loyalty Upsell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$112,000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Holiday Blitz drove the most conversions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The left region stacks a KPI card on top of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Campaign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482429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3667658" cy="1569720"/>
          </a:xfrm>
          <a:prstGeom prst="roundRect">
            <a:avLst>
              <a:gd name="adj" fmla="val 8155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3301898" cy="1386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Top campaign by conversions</a:t>
            </a:r>
          </a:p>
          <a:p>
            <a:r>
              <a:rPr sz="2200" b="1">
                <a:solidFill>
                  <a:srgbClr val="1F3A5F"/>
                </a:solidFill>
                <a:latin typeface="Calibri"/>
              </a:rPr>
              <a:t>Holiday Blitz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69920"/>
            <a:ext cx="3667658" cy="3139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Holiday Blitz returned </a:t>
            </a:r>
            <a:r>
              <a:rPr sz="1600" b="1">
                <a:solidFill>
                  <a:srgbClr val="E07A5F"/>
                </a:solidFill>
                <a:latin typeface="Calibri"/>
              </a:rPr>
              <a:t>4.0x</a:t>
            </a:r>
            <a:r>
              <a:rPr sz="1600">
                <a:solidFill>
                  <a:srgbClr val="2B2D42"/>
                </a:solidFill>
                <a:latin typeface="Calibri"/>
              </a:rPr>
              <a:t> spend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Trade Show was the weakest at </a:t>
            </a:r>
            <a:r>
              <a:rPr sz="1600" b="1">
                <a:solidFill>
                  <a:srgbClr val="E07A5F"/>
                </a:solidFill>
                <a:latin typeface="Calibri"/>
              </a:rPr>
              <a:t>2.2x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99178" y="1417320"/>
          <a:ext cx="7335316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Inline data works too — no CSV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Campaign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0837062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1127729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entagon 6"/>
          <p:cNvSpPr/>
          <p:nvPr/>
        </p:nvSpPr>
        <p:spPr>
          <a:xfrm>
            <a:off x="457200" y="1417320"/>
            <a:ext cx="3966362" cy="731520"/>
          </a:xfrm>
          <a:prstGeom prst="homePlat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Q1 FY27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554882" cy="16956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Rebalance spend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6C757D"/>
                </a:solidFill>
                <a:latin typeface="Calibri"/>
              </a:rPr>
              <a:t>Shift </a:t>
            </a:r>
            <a:r>
              <a:rPr sz="1300" b="1">
                <a:solidFill>
                  <a:srgbClr val="E07A5F"/>
                </a:solidFill>
                <a:latin typeface="Calibri"/>
              </a:rPr>
              <a:t>15%</a:t>
            </a:r>
            <a:r>
              <a:rPr sz="1300">
                <a:solidFill>
                  <a:srgbClr val="6C757D"/>
                </a:solidFill>
                <a:latin typeface="Calibri"/>
              </a:rPr>
              <a:t> of trade-show budget into online retargeting</a:t>
            </a:r>
          </a:p>
        </p:txBody>
      </p:sp>
      <p:sp>
        <p:nvSpPr>
          <p:cNvPr id="9" name="Chevron 8"/>
          <p:cNvSpPr/>
          <p:nvPr/>
        </p:nvSpPr>
        <p:spPr>
          <a:xfrm>
            <a:off x="4112666" y="1417320"/>
            <a:ext cx="3966362" cy="731520"/>
          </a:xfrm>
          <a:prstGeom prst="chevron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Q2 FY27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5546" y="2331720"/>
            <a:ext cx="3554882" cy="16956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Grow Pro in the South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6C757D"/>
                </a:solidFill>
                <a:latin typeface="Calibri"/>
              </a:rPr>
              <a:t>Expand the Pro tier push into the South region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7768132" y="1417320"/>
            <a:ext cx="3966362" cy="731520"/>
          </a:xfrm>
          <a:prstGeom prst="chevron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1F3A5F"/>
                </a:solidFill>
                <a:latin typeface="Calibri"/>
              </a:rPr>
              <a:t>Q3 FY27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1012" y="2331720"/>
            <a:ext cx="3554882" cy="16956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Reset targets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6C757D"/>
                </a:solidFill>
                <a:latin typeface="Calibri"/>
              </a:rPr>
              <a:t>Re-baseline FY27 targets off the Q4 run-rate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01655"/>
            <a:ext cx="3606698" cy="2007704"/>
          </a:xfrm>
          <a:prstGeom prst="roundRect">
            <a:avLst>
              <a:gd name="adj" fmla="val 6376"/>
            </a:avLst>
          </a:prstGeom>
          <a:solidFill>
            <a:srgbClr val="FBFCFD"/>
          </a:solidFill>
          <a:ln w="12700">
            <a:solidFill>
              <a:srgbClr val="C5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93095"/>
            <a:ext cx="3240938" cy="1824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Trade Show return on spend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2.2x</a:t>
            </a:r>
          </a:p>
          <a:p>
            <a:r>
              <a:rPr sz="1200">
                <a:solidFill>
                  <a:srgbClr val="6C757D"/>
                </a:solidFill>
                <a:latin typeface="Calibri"/>
              </a:rPr>
              <a:t>the weakest campaign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2498" y="4301655"/>
            <a:ext cx="3606698" cy="2007704"/>
          </a:xfrm>
          <a:prstGeom prst="roundRect">
            <a:avLst>
              <a:gd name="adj" fmla="val 6376"/>
            </a:avLst>
          </a:prstGeom>
          <a:solidFill>
            <a:srgbClr val="FBFCFD"/>
          </a:solidFill>
          <a:ln w="12700">
            <a:solidFill>
              <a:srgbClr val="C5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5378" y="4393095"/>
            <a:ext cx="3240938" cy="1824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South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$488,000</a:t>
            </a:r>
          </a:p>
          <a:p>
            <a:r>
              <a:rPr sz="1200">
                <a:solidFill>
                  <a:srgbClr val="6C757D"/>
                </a:solidFill>
                <a:latin typeface="Calibri"/>
              </a:rPr>
              <a:t>the smallest region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7796" y="4301655"/>
            <a:ext cx="3606698" cy="2007704"/>
          </a:xfrm>
          <a:prstGeom prst="roundRect">
            <a:avLst>
              <a:gd name="adj" fmla="val 6376"/>
            </a:avLst>
          </a:prstGeom>
          <a:solidFill>
            <a:srgbClr val="FBFCFD"/>
          </a:solidFill>
          <a:ln w="12700">
            <a:solidFill>
              <a:srgbClr val="C5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0676" y="4393095"/>
            <a:ext cx="3240938" cy="182482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Q4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$777,900</a:t>
            </a:r>
          </a:p>
          <a:p>
            <a:r>
              <a:rPr sz="1200">
                <a:solidFill>
                  <a:srgbClr val="6C757D"/>
                </a:solidFill>
                <a:latin typeface="Calibri"/>
              </a:rPr>
              <a:t>the new quarterly run-rate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Commercial Review</dc:title>
  <dc:subject/>
  <dc:creator>Analytics Team</dc:creator>
  <cp:keywords/>
  <dc:description/>
  <cp:lastModifiedBy>Analytics Team</cp:lastModifiedBy>
  <cp:revision>1</cp:revision>
  <dcterms:created xsi:type="dcterms:W3CDTF">2026-09-29T23:35:50Z</dcterms:created>
  <dcterms:modified xsi:type="dcterms:W3CDTF">2026-09-29T23:35:50Z</dcterms:modified>
  <cp:category/>
</cp:coreProperties>
</file>