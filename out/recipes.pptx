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9"/>
          <c:y val="0.04"/>
          <c:w val="0.8208084002270332"/>
          <c:h val="0.86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3A5F"/>
            </a:solidFill>
          </c:spPr>
          <c:dPt>
            <c:idx val="0"/>
            <c:spPr>
              <a:solidFill>
                <a:srgbClr val="C5CDD6"/>
              </a:solidFill>
            </c:spPr>
          </c:dPt>
          <c:dPt>
            <c:idx val="1"/>
            <c:spPr>
              <a:solidFill>
                <a:srgbClr val="C5CDD6"/>
              </a:solidFill>
            </c:spPr>
          </c:dPt>
          <c:dPt>
            <c:idx val="2"/>
            <c:spPr>
              <a:solidFill>
                <a:srgbClr val="C5CDD6"/>
              </a:solidFill>
            </c:spPr>
          </c:dPt>
          <c:dPt>
            <c:idx val="3"/>
            <c:spPr>
              <a:solidFill>
                <a:srgbClr val="C5CDD6"/>
              </a:solidFill>
            </c:spPr>
          </c:dPt>
          <c:dPt>
            <c:idx val="4"/>
            <c:spPr>
              <a:solidFill>
                <a:srgbClr val="C5CDD6"/>
              </a:solidFill>
            </c:spPr>
          </c:dPt>
          <c:dPt>
            <c:idx val="5"/>
            <c:spPr>
              <a:solidFill>
                <a:srgbClr val="C5CDD6"/>
              </a:solidFill>
            </c:spPr>
          </c:dPt>
          <c:dPt>
            <c:idx val="6"/>
            <c:spPr>
              <a:solidFill>
                <a:srgbClr val="C5CDD6"/>
              </a:solidFill>
            </c:spPr>
          </c:dPt>
          <c:dPt>
            <c:idx val="7"/>
            <c:spPr>
              <a:solidFill>
                <a:srgbClr val="C5CDD6"/>
              </a:solidFill>
            </c:spPr>
          </c:dPt>
          <c:dPt>
            <c:idx val="8"/>
            <c:spPr>
              <a:solidFill>
                <a:srgbClr val="C5CDD6"/>
              </a:solidFill>
            </c:spPr>
          </c:dPt>
          <c:dPt>
            <c:idx val="9"/>
            <c:spPr>
              <a:solidFill>
                <a:srgbClr val="C5CDD6"/>
              </a:solidFill>
            </c:spPr>
          </c:dPt>
          <c:dPt>
            <c:idx val="10"/>
            <c:spPr>
              <a:solidFill>
                <a:srgbClr val="C5CDD6"/>
              </a:solidFill>
            </c:spPr>
          </c:dPt>
          <c:dPt>
            <c:idx val="11"/>
            <c:spPr>
              <a:solidFill>
                <a:srgbClr val="E07A5F"/>
              </a:solidFill>
            </c:spPr>
          </c:dPt>
          <c:dPt>
            <c:idx val="12"/>
            <c:spPr>
              <a:solidFill>
                <a:srgbClr val="C5CDD6"/>
              </a:solidFill>
            </c:spPr>
          </c:dPt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/>
                </c:pt>
              </c:strCache>
            </c:strRef>
          </c:cat>
          <c:val>
            <c:numRef>
              <c:f>Sheet1!$B$2:$B$14</c:f>
              <c:numCache>
                <c:formatCode>$#,##0,"K"</c:formatCode>
                <c:ptCount val="13"/>
                <c:pt idx="0">
                  <c:v>182000</c:v>
                </c:pt>
                <c:pt idx="1">
                  <c:v>176500</c:v>
                </c:pt>
                <c:pt idx="2">
                  <c:v>198200</c:v>
                </c:pt>
                <c:pt idx="3">
                  <c:v>205400</c:v>
                </c:pt>
                <c:pt idx="4">
                  <c:v>214900</c:v>
                </c:pt>
                <c:pt idx="5">
                  <c:v>209800</c:v>
                </c:pt>
                <c:pt idx="6">
                  <c:v>221300</c:v>
                </c:pt>
                <c:pt idx="7">
                  <c:v>232700</c:v>
                </c:pt>
                <c:pt idx="8">
                  <c:v>228100</c:v>
                </c:pt>
                <c:pt idx="9">
                  <c:v>241900</c:v>
                </c:pt>
                <c:pt idx="10">
                  <c:v>259600</c:v>
                </c:pt>
                <c:pt idx="11">
                  <c:v>276400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$200K goal</c:v>
                </c:pt>
              </c:strCache>
            </c:strRef>
          </c:tx>
          <c:spPr>
            <a:ln w="19050">
              <a:solidFill>
                <a:srgbClr val="6C757D"/>
              </a:solidFill>
              <a:prstDash val="dash"/>
            </a:ln>
          </c:spPr>
          <c:marker>
            <c:symbol val="none"/>
            <c:spPr>
              <a:noFill/>
              <a:ln>
                <a:noFill/>
              </a:ln>
            </c:spPr>
          </c:marker>
          <c:dLbls>
            <c:dLbl>
              <c:idx val="1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6C757D"/>
                        </a:solidFill>
                      </a:rPr>
                      <a:t>$200K goal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/>
                </c:pt>
              </c:strCache>
            </c:strRef>
          </c:cat>
          <c:val>
            <c:numRef>
              <c:f>Sheet1!$C$2:$C$14</c:f>
              <c:numCache>
                <c:formatCode>$#,##0,"K"</c:formatCode>
                <c:ptCount val="13"/>
                <c:pt idx="0">
                  <c:v>200000</c:v>
                </c:pt>
                <c:pt idx="1">
                  <c:v>200000</c:v>
                </c:pt>
                <c:pt idx="2">
                  <c:v>200000</c:v>
                </c:pt>
                <c:pt idx="3">
                  <c:v>200000</c:v>
                </c:pt>
                <c:pt idx="4">
                  <c:v>200000</c:v>
                </c:pt>
                <c:pt idx="5">
                  <c:v>200000</c:v>
                </c:pt>
                <c:pt idx="6">
                  <c:v>200000</c:v>
                </c:pt>
                <c:pt idx="7">
                  <c:v>200000</c:v>
                </c:pt>
                <c:pt idx="8">
                  <c:v>200000</c:v>
                </c:pt>
                <c:pt idx="9">
                  <c:v>200000</c:v>
                </c:pt>
                <c:pt idx="10">
                  <c:v>200000</c:v>
                </c:pt>
                <c:pt idx="11">
                  <c:v>200000</c:v>
                </c:pt>
                <c:pt idx="12">
                  <c:v>200000</c:v>
                </c:pt>
              </c:numCache>
            </c:numRef>
          </c:val>
          <c:smooth val="0"/>
        </c:ser>
        <c:marker val="1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C757D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$#,##0,&quot;K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D4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9"/>
          <c:y val="0.04"/>
          <c:w val="0.8065345300423835"/>
          <c:h val="0.8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8575">
              <a:solidFill>
                <a:srgbClr val="1F3A5F"/>
              </a:solidFill>
            </a:ln>
          </c:spPr>
          <c:marker>
            <c:spPr>
              <a:solidFill>
                <a:srgbClr val="1F3A5F"/>
              </a:solidFill>
              <a:ln>
                <a:solidFill>
                  <a:srgbClr val="1F3A5F"/>
                </a:solidFill>
              </a:ln>
            </c:spPr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F3A5F"/>
                        </a:solidFill>
                      </a:rPr>
                      <a:t>Revenue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182000</c:v>
                </c:pt>
                <c:pt idx="1">
                  <c:v>176500</c:v>
                </c:pt>
                <c:pt idx="2">
                  <c:v>198200</c:v>
                </c:pt>
                <c:pt idx="3">
                  <c:v>205400</c:v>
                </c:pt>
                <c:pt idx="4">
                  <c:v>214900</c:v>
                </c:pt>
                <c:pt idx="5">
                  <c:v>209800</c:v>
                </c:pt>
                <c:pt idx="6">
                  <c:v>221300</c:v>
                </c:pt>
                <c:pt idx="7">
                  <c:v>232700</c:v>
                </c:pt>
                <c:pt idx="8">
                  <c:v>228100</c:v>
                </c:pt>
                <c:pt idx="9">
                  <c:v>241900</c:v>
                </c:pt>
                <c:pt idx="10">
                  <c:v>259600</c:v>
                </c:pt>
                <c:pt idx="11">
                  <c:v>276400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28575">
              <a:solidFill>
                <a:srgbClr val="E07A5F"/>
              </a:solidFill>
            </a:ln>
          </c:spPr>
          <c:marker>
            <c:spPr>
              <a:solidFill>
                <a:srgbClr val="E07A5F"/>
              </a:solidFill>
              <a:ln>
                <a:solidFill>
                  <a:srgbClr val="E07A5F"/>
                </a:solidFill>
              </a:ln>
            </c:spPr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E07A5F"/>
                        </a:solidFill>
                      </a:rPr>
                      <a:t>Target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175000</c:v>
                </c:pt>
                <c:pt idx="1">
                  <c:v>180000</c:v>
                </c:pt>
                <c:pt idx="2">
                  <c:v>185000</c:v>
                </c:pt>
                <c:pt idx="3">
                  <c:v>190000</c:v>
                </c:pt>
                <c:pt idx="4">
                  <c:v>195000</c:v>
                </c:pt>
                <c:pt idx="5">
                  <c:v>200000</c:v>
                </c:pt>
                <c:pt idx="6">
                  <c:v>205000</c:v>
                </c:pt>
                <c:pt idx="7">
                  <c:v>210000</c:v>
                </c:pt>
                <c:pt idx="8">
                  <c:v>215000</c:v>
                </c:pt>
                <c:pt idx="9">
                  <c:v>220000</c:v>
                </c:pt>
                <c:pt idx="10">
                  <c:v>225000</c:v>
                </c:pt>
                <c:pt idx="11">
                  <c:v>230000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C757D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E0E7"/>
              </a:solidFill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2B2D4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3A5F"/>
                </a:solidFill>
              </a:rPr>
              <a:t>Core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3A5F"/>
            </a:solidFill>
          </c:spPr>
          <c:cat>
            <c:strRef>
              <c:f>Sheet1!$A$2:$A$4</c:f>
              <c:strCache>
                <c:ptCount val="3"/>
                <c:pt idx="0">
                  <c:v>West</c:v>
                </c:pt>
                <c:pt idx="1">
                  <c:v>North</c:v>
                </c:pt>
                <c:pt idx="2">
                  <c:v>South</c:v>
                </c:pt>
              </c:strCache>
            </c:strRef>
          </c:cat>
          <c:val>
            <c:numRef>
              <c:f>Sheet1!$B$2:$B$4</c:f>
              <c:numCache>
                <c:formatCode>$#,##0,"K"</c:formatCode>
                <c:ptCount val="3"/>
                <c:pt idx="0">
                  <c:v>520000</c:v>
                </c:pt>
                <c:pt idx="1">
                  <c:v>432000</c:v>
                </c:pt>
                <c:pt idx="2">
                  <c:v>312000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6C757D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000.0"/>
          <c:min val="0.0"/>
        </c:scaling>
        <c:delete val="0"/>
        <c:axPos val="b"/>
        <c:numFmt formatCode="$#,##0,&quot;K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max"/>
      </c:valAx>
    </c:plotArea>
    <c:dispBlanksAs val="gap"/>
  </c:chart>
  <c:txPr>
    <a:bodyPr/>
    <a:lstStyle/>
    <a:p>
      <a:pPr>
        <a:defRPr sz="1100">
          <a:solidFill>
            <a:srgbClr val="2B2D4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3A5F"/>
                </a:solidFill>
              </a:rPr>
              <a:t>Pro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3A5F"/>
            </a:solidFill>
          </c:spPr>
          <c:cat>
            <c:strRef>
              <c:f>Sheet1!$A$2:$A$4</c:f>
              <c:strCache>
                <c:ptCount val="3"/>
                <c:pt idx="0">
                  <c:v>West</c:v>
                </c:pt>
                <c:pt idx="1">
                  <c:v>North</c:v>
                </c:pt>
                <c:pt idx="2">
                  <c:v>South</c:v>
                </c:pt>
              </c:strCache>
            </c:strRef>
          </c:cat>
          <c:val>
            <c:numRef>
              <c:f>Sheet1!$B$2:$B$4</c:f>
              <c:numCache>
                <c:formatCode>$#,##0,"K"</c:formatCode>
                <c:ptCount val="3"/>
                <c:pt idx="0">
                  <c:v>355000</c:v>
                </c:pt>
                <c:pt idx="1">
                  <c:v>283000</c:v>
                </c:pt>
                <c:pt idx="2">
                  <c:v>176000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6C757D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000.0"/>
          <c:min val="0.0"/>
        </c:scaling>
        <c:delete val="0"/>
        <c:axPos val="b"/>
        <c:numFmt formatCode="$#,##0,&quot;K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max"/>
      </c:valAx>
    </c:plotArea>
    <c:dispBlanksAs val="gap"/>
  </c:chart>
  <c:txPr>
    <a:bodyPr/>
    <a:lstStyle/>
    <a:p>
      <a:pPr>
        <a:defRPr sz="1100">
          <a:solidFill>
            <a:srgbClr val="2B2D4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8138160" y="822960"/>
            <a:ext cx="6583680" cy="6583680"/>
          </a:xfrm>
          <a:prstGeom prst="donut">
            <a:avLst>
              <a:gd name="adj" fmla="val 16000"/>
            </a:avLst>
          </a:prstGeom>
          <a:solidFill>
            <a:srgbClr val="2F4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9692640" y="-1188720"/>
            <a:ext cx="3657600" cy="3657600"/>
          </a:xfrm>
          <a:prstGeom prst="donut">
            <a:avLst>
              <a:gd name="adj" fmla="val 3500"/>
            </a:avLst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46120"/>
            <a:ext cx="1097280" cy="7315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7558851" cy="24231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Slide recipes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7558851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>
                <a:solidFill>
                  <a:srgbClr val="BCC4CF"/>
                </a:solidFill>
                <a:latin typeface="Calibri"/>
              </a:rPr>
              <a:t>One pattern per use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E07A5F"/>
                </a:solidFill>
                <a:latin typeface="Calibri"/>
              </a:rPr>
              <a:t>Analytics Team</a:t>
            </a:r>
            <a:r>
              <a:rPr sz="1400">
                <a:solidFill>
                  <a:srgbClr val="BCC4CF"/>
                </a:solidFill>
                <a:latin typeface="Calibri"/>
              </a:rPr>
              <a:t>   · 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Revenue beat plan, but Trade Show is dragging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67052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6C757D"/>
                </a:solidFill>
                <a:latin typeface="Calibri"/>
              </a:rPr>
              <a:t>Source: monthly_sales.csv, campaigns.csv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647873" cy="269367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269367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37561" y="1581912"/>
            <a:ext cx="502920" cy="502920"/>
          </a:xfrm>
          <a:prstGeom prst="ellipse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82" b="1">
                <a:solidFill>
                  <a:srgbClr val="FFFFFF"/>
                </a:solidFill>
                <a:latin typeface="Segoe UI Symbol"/>
              </a:rPr>
              <a:t>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642033" cy="251079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6C757D"/>
                </a:solidFill>
                <a:latin typeface="Calibri"/>
              </a:rPr>
              <a:t>Revenue</a:t>
            </a:r>
          </a:p>
          <a:p>
            <a:r>
              <a:rPr sz="2600" b="1">
                <a:solidFill>
                  <a:srgbClr val="1F3A5F"/>
                </a:solidFill>
                <a:latin typeface="Calibri"/>
              </a:rPr>
              <a:t>$2,646,800</a:t>
            </a:r>
          </a:p>
          <a:p>
            <a:r>
              <a:rPr sz="1200">
                <a:solidFill>
                  <a:srgbClr val="2A9D8F"/>
                </a:solidFill>
                <a:latin typeface="Calibri"/>
              </a:rPr>
              <a:t>▲ 4.2%  vs.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3673" y="1417320"/>
            <a:ext cx="2647873" cy="269367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3673" y="1417320"/>
            <a:ext cx="73152" cy="269367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7993" y="1508760"/>
            <a:ext cx="2190673" cy="251079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6C757D"/>
                </a:solidFill>
                <a:latin typeface="Calibri"/>
              </a:rPr>
              <a:t>Orders</a:t>
            </a:r>
          </a:p>
          <a:p>
            <a:r>
              <a:rPr sz="2600" b="1">
                <a:solidFill>
                  <a:srgbClr val="1F3A5F"/>
                </a:solidFill>
                <a:latin typeface="Calibri"/>
              </a:rPr>
              <a:t>17,030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417320"/>
            <a:ext cx="2647873" cy="269367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0147" y="1417320"/>
            <a:ext cx="73152" cy="269367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4467" y="1508760"/>
            <a:ext cx="2190673" cy="251079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6C757D"/>
                </a:solidFill>
                <a:latin typeface="Calibri"/>
              </a:rPr>
              <a:t>Best return on spend</a:t>
            </a:r>
          </a:p>
          <a:p>
            <a:r>
              <a:rPr sz="2600" b="1">
                <a:solidFill>
                  <a:srgbClr val="1F3A5F"/>
                </a:solidFill>
                <a:latin typeface="Calibri"/>
              </a:rPr>
              <a:t>7.5x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86621" y="1417320"/>
            <a:ext cx="2647873" cy="269367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86621" y="1417320"/>
            <a:ext cx="73152" cy="269367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60941" y="1508760"/>
            <a:ext cx="2190673" cy="251079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6C757D"/>
                </a:solidFill>
                <a:latin typeface="Calibri"/>
              </a:rPr>
              <a:t>Worst return on spend</a:t>
            </a:r>
          </a:p>
          <a:p>
            <a:r>
              <a:rPr sz="2600" b="1">
                <a:solidFill>
                  <a:srgbClr val="1F3A5F"/>
                </a:solidFill>
                <a:latin typeface="Calibri"/>
              </a:rPr>
              <a:t>2.2x</a:t>
            </a:r>
          </a:p>
          <a:p>
            <a:r>
              <a:rPr sz="1200">
                <a:solidFill>
                  <a:srgbClr val="D1495B"/>
                </a:solidFill>
                <a:latin typeface="Calibri"/>
              </a:rPr>
              <a:t>▼ 1.8x  vs. 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5310"/>
            <a:ext cx="11277295" cy="192405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5310"/>
            <a:ext cx="73152" cy="192405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68190"/>
            <a:ext cx="10820095" cy="155829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marL="256032" indent="-256032">
              <a:spcAft>
                <a:spcPts val="1000"/>
              </a:spcAft>
              <a:buClr>
                <a:srgbClr val="E07A5F"/>
              </a:buClr>
              <a:buChar char="•"/>
            </a:pPr>
            <a:r>
              <a:rPr sz="1600" b="1">
                <a:solidFill>
                  <a:srgbClr val="E07A5F"/>
                </a:solidFill>
                <a:latin typeface="Calibri"/>
              </a:rPr>
              <a:t>Decision needed:</a:t>
            </a:r>
            <a:r>
              <a:rPr sz="1600">
                <a:solidFill>
                  <a:srgbClr val="2B2D42"/>
                </a:solidFill>
                <a:latin typeface="Calibri"/>
              </a:rPr>
              <a:t> move budget from Trade Show into online retargeting in Q1.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December hit $276K, 38% above the $200K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>
                <a:solidFill>
                  <a:srgbClr val="6C757D"/>
                </a:solidFill>
                <a:latin typeface="Calibri"/>
              </a:rPr>
              <a:t>Monthly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7052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6C757D"/>
                </a:solidFill>
                <a:latin typeface="Calibri"/>
              </a:rPr>
              <a:t>Source: monthly_sales.csv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17320"/>
          <a:ext cx="11277295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Q4 accelerated sharply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67052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6C757D"/>
                </a:solidFill>
                <a:latin typeface="Calibri"/>
              </a:rPr>
              <a:t>Source: monthly_sales.csv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17320"/>
          <a:ext cx="7335316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66836" y="1417320"/>
            <a:ext cx="3667658" cy="4892040"/>
          </a:xfrm>
          <a:prstGeom prst="roundRect">
            <a:avLst>
              <a:gd name="adj" fmla="val 2991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49716" y="1600200"/>
            <a:ext cx="3301898" cy="4526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Why it matters</a:t>
            </a:r>
          </a:p>
          <a:p>
            <a:pPr marL="256032" indent="-256032">
              <a:spcAft>
                <a:spcPts val="1000"/>
              </a:spcAft>
              <a:buClr>
                <a:srgbClr val="E07A5F"/>
              </a:buClr>
              <a:buChar char="•"/>
            </a:pPr>
            <a:r>
              <a:rPr sz="1600">
                <a:solidFill>
                  <a:srgbClr val="2B2D42"/>
                </a:solidFill>
                <a:latin typeface="Calibri"/>
              </a:rPr>
              <a:t>December alone was </a:t>
            </a:r>
            <a:r>
              <a:rPr sz="1600" b="1">
                <a:solidFill>
                  <a:srgbClr val="E07A5F"/>
                </a:solidFill>
                <a:latin typeface="Calibri"/>
              </a:rPr>
              <a:t>$276K</a:t>
            </a:r>
          </a:p>
          <a:p>
            <a:pPr marL="256032" indent="-256032">
              <a:spcAft>
                <a:spcPts val="1000"/>
              </a:spcAft>
              <a:buClr>
                <a:srgbClr val="E07A5F"/>
              </a:buClr>
              <a:buChar char="•"/>
            </a:pPr>
            <a:r>
              <a:rPr sz="1600">
                <a:solidFill>
                  <a:srgbClr val="2B2D42"/>
                </a:solidFill>
                <a:latin typeface="Calibri"/>
              </a:rPr>
              <a:t>Growth was </a:t>
            </a:r>
            <a:r>
              <a:rPr sz="1600" b="1">
                <a:solidFill>
                  <a:srgbClr val="E07A5F"/>
                </a:solidFill>
                <a:latin typeface="Calibri"/>
              </a:rPr>
              <a:t>volume-led</a:t>
            </a:r>
            <a:r>
              <a:rPr sz="1600">
                <a:solidFill>
                  <a:srgbClr val="2B2D42"/>
                </a:solidFill>
                <a:latin typeface="Calibri"/>
              </a:rPr>
              <a:t>, not price</a:t>
            </a:r>
          </a:p>
          <a:p>
            <a:pPr marL="256032" indent="-256032">
              <a:spcAft>
                <a:spcPts val="1000"/>
              </a:spcAft>
              <a:buClr>
                <a:srgbClr val="E07A5F"/>
              </a:buClr>
              <a:buChar char="•"/>
            </a:pPr>
            <a:r>
              <a:rPr sz="1600">
                <a:solidFill>
                  <a:srgbClr val="2B2D42"/>
                </a:solidFill>
                <a:latin typeface="Calibri"/>
              </a:rPr>
              <a:t>The Q4 run-rate becomes the FY27 baseline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West outsells South in both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67052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6C757D"/>
                </a:solidFill>
                <a:latin typeface="Calibri"/>
              </a:rPr>
              <a:t>Source: sales_by_region.csv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  <a:latin typeface="Calibri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501487" cy="4892040"/>
          </a:xfrm>
          <a:prstGeom prst="roundRect">
            <a:avLst>
              <a:gd name="adj" fmla="val 2242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600200"/>
          <a:ext cx="5135727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33007" y="1417320"/>
            <a:ext cx="5501487" cy="4892040"/>
          </a:xfrm>
          <a:prstGeom prst="roundRect">
            <a:avLst>
              <a:gd name="adj" fmla="val 2242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15887" y="1600200"/>
          <a:ext cx="5135727" cy="4526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Three of five campaigns cleared 4x return on spend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67052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6C757D"/>
                </a:solidFill>
                <a:latin typeface="Calibri"/>
              </a:rPr>
              <a:t>Source: campaigns.csv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383188" cy="9052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50"/>
              </a:spcAft>
            </a:pPr>
            <a:r>
              <a:rPr sz="1500">
                <a:solidFill>
                  <a:srgbClr val="2B2D42"/>
                </a:solidFill>
                <a:latin typeface="Calibri"/>
              </a:rPr>
              <a:t>Webinar Series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548" y="1732788"/>
            <a:ext cx="6522506" cy="274320"/>
          </a:xfrm>
          <a:prstGeom prst="roundRect">
            <a:avLst>
              <a:gd name="adj" fmla="val 50000"/>
            </a:avLst>
          </a:prstGeom>
          <a:solidFill>
            <a:srgbClr val="DD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7548" y="1732788"/>
            <a:ext cx="5859385" cy="27432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07598" y="1641348"/>
            <a:ext cx="36576" cy="457200"/>
          </a:xfrm>
          <a:prstGeom prst="rect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37215" y="1417320"/>
            <a:ext cx="1097280" cy="9052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509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5.4x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14016"/>
            <a:ext cx="3383188" cy="9052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50"/>
              </a:spcAft>
            </a:pPr>
            <a:r>
              <a:rPr sz="1500">
                <a:solidFill>
                  <a:srgbClr val="2B2D42"/>
                </a:solidFill>
                <a:latin typeface="Calibri"/>
              </a:rPr>
              <a:t>Spring Promo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548" y="2729484"/>
            <a:ext cx="6522506" cy="274320"/>
          </a:xfrm>
          <a:prstGeom prst="roundRect">
            <a:avLst>
              <a:gd name="adj" fmla="val 50000"/>
            </a:avLst>
          </a:prstGeom>
          <a:solidFill>
            <a:srgbClr val="DD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77548" y="2729484"/>
            <a:ext cx="4348337" cy="27432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07598" y="2638044"/>
            <a:ext cx="36576" cy="457200"/>
          </a:xfrm>
          <a:prstGeom prst="rect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37215" y="2414016"/>
            <a:ext cx="1097280" cy="9052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509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4.0x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10712"/>
            <a:ext cx="3383188" cy="9052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50"/>
              </a:spcAft>
            </a:pPr>
            <a:r>
              <a:rPr sz="1500">
                <a:solidFill>
                  <a:srgbClr val="2B2D42"/>
                </a:solidFill>
                <a:latin typeface="Calibri"/>
              </a:rPr>
              <a:t>Holiday Blitz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548" y="3726180"/>
            <a:ext cx="6522506" cy="274320"/>
          </a:xfrm>
          <a:prstGeom prst="roundRect">
            <a:avLst>
              <a:gd name="adj" fmla="val 50000"/>
            </a:avLst>
          </a:prstGeom>
          <a:solidFill>
            <a:srgbClr val="DD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77548" y="3726180"/>
            <a:ext cx="4348337" cy="27432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7598" y="3634740"/>
            <a:ext cx="36576" cy="457200"/>
          </a:xfrm>
          <a:prstGeom prst="rect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37215" y="3410712"/>
            <a:ext cx="1097280" cy="9052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509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4.0x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07408"/>
            <a:ext cx="3383188" cy="9052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50"/>
              </a:spcAft>
            </a:pPr>
            <a:r>
              <a:rPr sz="1500">
                <a:solidFill>
                  <a:srgbClr val="2B2D42"/>
                </a:solidFill>
                <a:latin typeface="Calibri"/>
              </a:rPr>
              <a:t>Partner Push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548" y="4722876"/>
            <a:ext cx="6522506" cy="274320"/>
          </a:xfrm>
          <a:prstGeom prst="roundRect">
            <a:avLst>
              <a:gd name="adj" fmla="val 50000"/>
            </a:avLst>
          </a:prstGeom>
          <a:solidFill>
            <a:srgbClr val="DD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977548" y="4722876"/>
            <a:ext cx="3359090" cy="27432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07598" y="4631436"/>
            <a:ext cx="36576" cy="457200"/>
          </a:xfrm>
          <a:prstGeom prst="rect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37215" y="4407408"/>
            <a:ext cx="1097280" cy="9052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509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3.1x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04104"/>
            <a:ext cx="3383188" cy="9052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50"/>
              </a:spcAft>
            </a:pPr>
            <a:r>
              <a:rPr sz="1500">
                <a:solidFill>
                  <a:srgbClr val="2B2D42"/>
                </a:solidFill>
                <a:latin typeface="Calibri"/>
              </a:rPr>
              <a:t>Trade Show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548" y="5719572"/>
            <a:ext cx="6522506" cy="274320"/>
          </a:xfrm>
          <a:prstGeom prst="roundRect">
            <a:avLst>
              <a:gd name="adj" fmla="val 50000"/>
            </a:avLst>
          </a:prstGeom>
          <a:solidFill>
            <a:srgbClr val="DD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977548" y="5719572"/>
            <a:ext cx="2391585" cy="27432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07598" y="5628132"/>
            <a:ext cx="36576" cy="457200"/>
          </a:xfrm>
          <a:prstGeom prst="rect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37215" y="5404104"/>
            <a:ext cx="1097280" cy="9052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509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2.2x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Rollout takes three quarters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  <a:latin typeface="Calibri"/>
              </a:rPr>
              <a:t>7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417320"/>
            <a:ext cx="4057802" cy="1005840"/>
          </a:xfrm>
          <a:prstGeom prst="homePlate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301752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8660" y="2606040"/>
            <a:ext cx="3509162" cy="20436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6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Pilot</a:t>
            </a:r>
          </a:p>
          <a:p>
            <a:pPr algn="l">
              <a:spcAft>
                <a:spcPts val="570"/>
              </a:spcAft>
            </a:pPr>
            <a:r>
              <a:rPr sz="1900">
                <a:solidFill>
                  <a:srgbClr val="6C757D"/>
                </a:solidFill>
                <a:latin typeface="Calibri"/>
              </a:rPr>
              <a:t>Two regions, </a:t>
            </a:r>
            <a:r>
              <a:rPr sz="1900" b="1">
                <a:solidFill>
                  <a:srgbClr val="E07A5F"/>
                </a:solidFill>
                <a:latin typeface="Calibri"/>
              </a:rPr>
              <a:t>10%</a:t>
            </a:r>
            <a:r>
              <a:rPr sz="1900">
                <a:solidFill>
                  <a:srgbClr val="6C757D"/>
                </a:solidFill>
                <a:latin typeface="Calibri"/>
              </a:rPr>
              <a:t> of spend</a:t>
            </a:r>
          </a:p>
        </p:txBody>
      </p:sp>
      <p:sp>
        <p:nvSpPr>
          <p:cNvPr id="6" name="Chevron 5"/>
          <p:cNvSpPr/>
          <p:nvPr/>
        </p:nvSpPr>
        <p:spPr>
          <a:xfrm>
            <a:off x="4066946" y="1417320"/>
            <a:ext cx="4057802" cy="1005840"/>
          </a:xfrm>
          <a:prstGeom prst="chevron">
            <a:avLst/>
          </a:prstGeom>
          <a:solidFill>
            <a:srgbClr val="C5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301752" wrap="square"/>
          <a:lstStyle/>
          <a:p>
            <a:pPr algn="ctr"/>
            <a:r>
              <a:rPr sz="2000" b="1">
                <a:solidFill>
                  <a:srgbClr val="1F3A5F"/>
                </a:solidFill>
                <a:latin typeface="Calibri"/>
              </a:rP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406" y="2606040"/>
            <a:ext cx="3509162" cy="20436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6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Expand</a:t>
            </a:r>
          </a:p>
          <a:p>
            <a:pPr algn="l">
              <a:spcAft>
                <a:spcPts val="570"/>
              </a:spcAft>
            </a:pPr>
            <a:r>
              <a:rPr sz="1900">
                <a:solidFill>
                  <a:srgbClr val="6C757D"/>
                </a:solidFill>
                <a:latin typeface="Calibri"/>
              </a:rPr>
              <a:t>All regions</a:t>
            </a:r>
          </a:p>
        </p:txBody>
      </p:sp>
      <p:sp>
        <p:nvSpPr>
          <p:cNvPr id="8" name="Chevron 7"/>
          <p:cNvSpPr/>
          <p:nvPr/>
        </p:nvSpPr>
        <p:spPr>
          <a:xfrm>
            <a:off x="7676692" y="1417320"/>
            <a:ext cx="4057802" cy="1005840"/>
          </a:xfrm>
          <a:prstGeom prst="chevron">
            <a:avLst/>
          </a:prstGeom>
          <a:solidFill>
            <a:srgbClr val="C5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301752" wrap="square"/>
          <a:lstStyle/>
          <a:p>
            <a:pPr algn="ctr"/>
            <a:r>
              <a:rPr sz="2000" b="1">
                <a:solidFill>
                  <a:srgbClr val="1F3A5F"/>
                </a:solidFill>
                <a:latin typeface="Calibri"/>
              </a:rP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8152" y="2606040"/>
            <a:ext cx="3509162" cy="20436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6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Optimise</a:t>
            </a:r>
          </a:p>
          <a:p>
            <a:pPr algn="l">
              <a:spcAft>
                <a:spcPts val="570"/>
              </a:spcAft>
            </a:pPr>
            <a:r>
              <a:rPr sz="1900">
                <a:solidFill>
                  <a:srgbClr val="6C757D"/>
                </a:solidFill>
                <a:latin typeface="Calibri"/>
              </a:rPr>
              <a:t>Re-baseline targets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24044"/>
            <a:ext cx="11277295" cy="138531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924044"/>
            <a:ext cx="73152" cy="1385316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106924"/>
            <a:ext cx="10820095" cy="10195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marL="256032" indent="-256032">
              <a:spcAft>
                <a:spcPts val="1000"/>
              </a:spcAft>
              <a:buClr>
                <a:srgbClr val="E07A5F"/>
              </a:buClr>
              <a:buChar char="•"/>
            </a:pPr>
            <a:r>
              <a:rPr sz="1600" b="1">
                <a:solidFill>
                  <a:srgbClr val="E07A5F"/>
                </a:solidFill>
                <a:latin typeface="Calibri"/>
              </a:rPr>
              <a:t>Risk:</a:t>
            </a:r>
            <a:r>
              <a:rPr sz="1600">
                <a:solidFill>
                  <a:srgbClr val="2B2D42"/>
                </a:solidFill>
                <a:latin typeface="Calibri"/>
              </a:rPr>
              <a:t> the pilot regions are not representative of the South.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Every campaign follows the same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  <a:latin typeface="Calibri"/>
              </a:rPr>
              <a:t>8</a:t>
            </a:r>
          </a:p>
        </p:txBody>
      </p:sp>
      <p:sp>
        <p:nvSpPr>
          <p:cNvPr id="4" name="Donut 3"/>
          <p:cNvSpPr/>
          <p:nvPr/>
        </p:nvSpPr>
        <p:spPr>
          <a:xfrm>
            <a:off x="2491397" y="2688336"/>
            <a:ext cx="2350008" cy="2350008"/>
          </a:xfrm>
          <a:prstGeom prst="donut">
            <a:avLst>
              <a:gd name="adj" fmla="val 2723"/>
            </a:avLst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8100000">
            <a:off x="4386448" y="2985229"/>
            <a:ext cx="219456" cy="182880"/>
          </a:xfrm>
          <a:prstGeom prst="triangle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3500000">
            <a:off x="4343343" y="4601675"/>
            <a:ext cx="219456" cy="182880"/>
          </a:xfrm>
          <a:prstGeom prst="triangle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18900000">
            <a:off x="2726897" y="4558570"/>
            <a:ext cx="219456" cy="182880"/>
          </a:xfrm>
          <a:prstGeom prst="triangle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2700000">
            <a:off x="2770002" y="2942124"/>
            <a:ext cx="219456" cy="182880"/>
          </a:xfrm>
          <a:prstGeom prst="triangle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32061" y="2286000"/>
            <a:ext cx="868680" cy="8686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77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4770" y="1417320"/>
            <a:ext cx="1403261" cy="73152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Plan</a:t>
            </a:r>
          </a:p>
        </p:txBody>
      </p:sp>
      <p:sp>
        <p:nvSpPr>
          <p:cNvPr id="11" name="Oval 10"/>
          <p:cNvSpPr/>
          <p:nvPr/>
        </p:nvSpPr>
        <p:spPr>
          <a:xfrm>
            <a:off x="4375061" y="3429000"/>
            <a:ext cx="868680" cy="8686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77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80901" y="3360420"/>
            <a:ext cx="1403261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8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Launch</a:t>
            </a:r>
          </a:p>
        </p:txBody>
      </p:sp>
      <p:sp>
        <p:nvSpPr>
          <p:cNvPr id="13" name="Oval 12"/>
          <p:cNvSpPr/>
          <p:nvPr/>
        </p:nvSpPr>
        <p:spPr>
          <a:xfrm>
            <a:off x="3232061" y="4572000"/>
            <a:ext cx="868680" cy="8686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77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4770" y="5577840"/>
            <a:ext cx="1403261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Measure</a:t>
            </a:r>
          </a:p>
        </p:txBody>
      </p:sp>
      <p:sp>
        <p:nvSpPr>
          <p:cNvPr id="15" name="Oval 14"/>
          <p:cNvSpPr/>
          <p:nvPr/>
        </p:nvSpPr>
        <p:spPr>
          <a:xfrm>
            <a:off x="2089061" y="3429000"/>
            <a:ext cx="868680" cy="8686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77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0420"/>
            <a:ext cx="1403261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48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Adjust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9181" y="3246120"/>
            <a:ext cx="1234440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Campaign</a:t>
            </a: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9922" y="1417320"/>
            <a:ext cx="4584573" cy="4892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1000"/>
              </a:spcAft>
              <a:buClr>
                <a:srgbClr val="E07A5F"/>
              </a:buClr>
              <a:buAutoNum type="arabicPeriod"/>
            </a:pPr>
            <a:r>
              <a:rPr sz="1600">
                <a:solidFill>
                  <a:srgbClr val="2B2D42"/>
                </a:solidFill>
                <a:latin typeface="Calibri"/>
              </a:rPr>
              <a:t>Set a return-on-spend target </a:t>
            </a:r>
            <a:r>
              <a:rPr sz="1600" b="1">
                <a:solidFill>
                  <a:srgbClr val="E07A5F"/>
                </a:solidFill>
                <a:latin typeface="Calibri"/>
              </a:rPr>
              <a:t>before</a:t>
            </a:r>
            <a:r>
              <a:rPr sz="1600">
                <a:solidFill>
                  <a:srgbClr val="2B2D42"/>
                </a:solidFill>
                <a:latin typeface="Calibri"/>
              </a:rPr>
              <a:t> launch</a:t>
            </a:r>
          </a:p>
          <a:p>
            <a:pPr marL="256032" indent="-256032">
              <a:spcAft>
                <a:spcPts val="1000"/>
              </a:spcAft>
              <a:buClr>
                <a:srgbClr val="E07A5F"/>
              </a:buClr>
              <a:buAutoNum type="arabicPeriod"/>
            </a:pPr>
            <a:r>
              <a:rPr sz="1600">
                <a:solidFill>
                  <a:srgbClr val="2B2D42"/>
                </a:solidFill>
                <a:latin typeface="Calibri"/>
              </a:rPr>
              <a:t>Review at week two, not at the end</a:t>
            </a:r>
          </a:p>
          <a:p>
            <a:pPr marL="256032" indent="-256032">
              <a:spcAft>
                <a:spcPts val="1000"/>
              </a:spcAft>
              <a:buClr>
                <a:srgbClr val="E07A5F"/>
              </a:buClr>
              <a:buAutoNum type="arabicPeriod"/>
            </a:pPr>
            <a:r>
              <a:rPr sz="1600">
                <a:solidFill>
                  <a:srgbClr val="2B2D42"/>
                </a:solidFill>
                <a:latin typeface="Calibri"/>
              </a:rPr>
              <a:t>Stop anything under </a:t>
            </a:r>
            <a:r>
              <a:rPr sz="1600" b="1">
                <a:solidFill>
                  <a:srgbClr val="E07A5F"/>
                </a:solidFill>
                <a:latin typeface="Calibri"/>
              </a:rPr>
              <a:t>2.5x</a:t>
            </a:r>
            <a:r>
              <a:rPr sz="1600">
                <a:solidFill>
                  <a:srgbClr val="2B2D42"/>
                </a:solidFill>
                <a:latin typeface="Calibri"/>
              </a:rPr>
              <a:t> after one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7" y="182880"/>
            <a:ext cx="5821527" cy="6492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30000" b="1">
                <a:solidFill>
                  <a:srgbClr val="2F486A"/>
                </a:solidFill>
                <a:latin typeface="Calibri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46120"/>
            <a:ext cx="1097280" cy="7315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558851" cy="24231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Customer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Support quality is steady; North escalations need a 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67052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6C757D"/>
                </a:solidFill>
                <a:latin typeface="Calibri"/>
              </a:rPr>
              <a:t>Source: support_metrics.csv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36815" y="64465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E07A5F"/>
                </a:solidFill>
                <a:latin typeface="Calibri"/>
              </a:rPr>
              <a:t>Customer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606698" cy="1065627"/>
          </a:xfrm>
          <a:prstGeom prst="roundRect">
            <a:avLst>
              <a:gd name="adj" fmla="val 12013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240938" cy="88274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BCC4CF"/>
                </a:solidFill>
                <a:latin typeface="Calibri"/>
              </a:rPr>
              <a:t>Avg. CSAT</a:t>
            </a:r>
          </a:p>
          <a:p>
            <a:r>
              <a:rPr sz="3000" b="1">
                <a:solidFill>
                  <a:srgbClr val="FFFFFF"/>
                </a:solidFill>
                <a:latin typeface="Calibri"/>
              </a:rPr>
              <a:t>91%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2498" y="1417320"/>
            <a:ext cx="3606698" cy="1065627"/>
          </a:xfrm>
          <a:prstGeom prst="roundRect">
            <a:avLst>
              <a:gd name="adj" fmla="val 12013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5378" y="1508760"/>
            <a:ext cx="3240938" cy="88274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BCC4CF"/>
                </a:solidFill>
                <a:latin typeface="Calibri"/>
              </a:rPr>
              <a:t>Tickets</a:t>
            </a:r>
          </a:p>
          <a:p>
            <a:r>
              <a:rPr sz="3000" b="1">
                <a:solidFill>
                  <a:srgbClr val="FFFFFF"/>
                </a:solidFill>
                <a:latin typeface="Calibri"/>
              </a:rPr>
              <a:t>7,720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1417320"/>
            <a:ext cx="3606698" cy="1065627"/>
          </a:xfrm>
          <a:prstGeom prst="roundRect">
            <a:avLst>
              <a:gd name="adj" fmla="val 12013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0676" y="1508760"/>
            <a:ext cx="3240938" cy="88274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BCC4CF"/>
                </a:solidFill>
                <a:latin typeface="Calibri"/>
              </a:rPr>
              <a:t>First response</a:t>
            </a:r>
          </a:p>
          <a:p>
            <a:r>
              <a:rPr sz="3000" b="1">
                <a:solidFill>
                  <a:srgbClr val="FFFFFF"/>
                </a:solidFill>
                <a:latin typeface="Calibri"/>
              </a:rPr>
              <a:t>3.2 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757267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anchor="ctr" marL="91440" marR="9144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Tickets</a:t>
                      </a:r>
                    </a:p>
                  </a:txBody>
                  <a:tcPr anchor="ctr" marL="91440" marR="9144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Escalations</a:t>
                      </a:r>
                    </a:p>
                  </a:txBody>
                  <a:tcPr anchor="ctr" marL="91440" marR="91440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B2D42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2B2D42"/>
                          </a:solidFill>
                          <a:latin typeface="Calibri"/>
                        </a:rPr>
                        <a:t>1,540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2B2D42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D42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anchor="ctr" marL="91440" marR="9144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>
                          <a:solidFill>
                            <a:srgbClr val="2B2D42"/>
                          </a:solidFill>
                          <a:latin typeface="Calibri"/>
                        </a:rPr>
                        <a:t>1,260</a:t>
                      </a:r>
                    </a:p>
                  </a:txBody>
                  <a:tcPr anchor="ctr" marL="91440" marR="9144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>
                          <a:solidFill>
                            <a:srgbClr val="2B2D42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1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D42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>
                          <a:solidFill>
                            <a:srgbClr val="2B2D42"/>
                          </a:solidFill>
                          <a:latin typeface="Calibri"/>
                        </a:rPr>
                        <a:t>1,020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>
                          <a:solidFill>
                            <a:srgbClr val="2B2D42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What customers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465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E07A5F"/>
                </a:solidFill>
                <a:latin typeface="Calibri"/>
              </a:rPr>
              <a:t>Customer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60220"/>
            <a:ext cx="12801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0" b="1">
                <a:solidFill>
                  <a:srgbClr val="E07A5F"/>
                </a:solidFill>
                <a:latin typeface="Georgia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17320"/>
            <a:ext cx="10180015" cy="4892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1800"/>
              </a:spcAft>
            </a:pPr>
            <a:r>
              <a:rPr sz="3000" i="1">
                <a:solidFill>
                  <a:srgbClr val="1F3A5F"/>
                </a:solidFill>
                <a:latin typeface="Calibri"/>
              </a:rPr>
              <a:t>The new process cut our time to resolution in half.</a:t>
            </a:r>
          </a:p>
          <a:p>
            <a:r>
              <a:rPr sz="1800" b="1">
                <a:solidFill>
                  <a:srgbClr val="2B2D42"/>
                </a:solidFill>
                <a:latin typeface="Calibri"/>
              </a:rPr>
              <a:t>Head of Operations</a:t>
            </a:r>
          </a:p>
          <a:p>
            <a:r>
              <a:rPr sz="1400">
                <a:solidFill>
                  <a:srgbClr val="6C757D"/>
                </a:solidFill>
                <a:latin typeface="Calibri"/>
              </a:rPr>
              <a:t>Enterprise customer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465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E07A5F"/>
                </a:solidFill>
                <a:latin typeface="Calibri"/>
              </a:rPr>
              <a:t>Customer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20568"/>
            <a:ext cx="11277295" cy="13716"/>
          </a:xfrm>
          <a:prstGeom prst="rect">
            <a:avLst/>
          </a:prstGeom>
          <a:solidFill>
            <a:srgbClr val="C5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97280" cy="1539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4000" b="1">
                <a:solidFill>
                  <a:srgbClr val="C5CDD6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17320"/>
            <a:ext cx="9722815" cy="1539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5CDD6"/>
                </a:solidFill>
                <a:latin typeface="Calibri"/>
              </a:rPr>
              <a:t>Performance</a:t>
            </a:r>
          </a:p>
          <a:p>
            <a:pPr algn="l">
              <a:spcAft>
                <a:spcPts val="420"/>
              </a:spcAft>
            </a:pPr>
            <a:r>
              <a:rPr sz="1400">
                <a:solidFill>
                  <a:srgbClr val="C5CDD6"/>
                </a:solidFill>
                <a:latin typeface="Calibri"/>
              </a:rPr>
              <a:t>Revenue and orders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93720"/>
            <a:ext cx="11277295" cy="15392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093720"/>
            <a:ext cx="73152" cy="153924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93720"/>
            <a:ext cx="1097280" cy="1539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4000" b="1">
                <a:solidFill>
                  <a:srgbClr val="E07A5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93720"/>
            <a:ext cx="9722815" cy="1539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Customer support</a:t>
            </a:r>
          </a:p>
          <a:p>
            <a:pPr algn="l">
              <a:spcAft>
                <a:spcPts val="420"/>
              </a:spcAft>
            </a:pPr>
            <a:r>
              <a:rPr sz="1400">
                <a:solidFill>
                  <a:srgbClr val="6C757D"/>
                </a:solidFill>
                <a:latin typeface="Calibri"/>
              </a:rPr>
              <a:t>Quality and escalations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70120"/>
            <a:ext cx="1097280" cy="1539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4000" b="1">
                <a:solidFill>
                  <a:srgbClr val="C5CDD6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770120"/>
            <a:ext cx="9722815" cy="1539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5CDD6"/>
                </a:solidFill>
                <a:latin typeface="Calibri"/>
              </a:rPr>
              <a:t>Next steps</a:t>
            </a:r>
          </a:p>
          <a:p>
            <a:pPr algn="l">
              <a:spcAft>
                <a:spcPts val="420"/>
              </a:spcAft>
            </a:pPr>
            <a:r>
              <a:rPr sz="1400">
                <a:solidFill>
                  <a:srgbClr val="C5CDD6"/>
                </a:solidFill>
                <a:latin typeface="Calibri"/>
              </a:rPr>
              <a:t>Decisions and owners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8138160" y="822960"/>
            <a:ext cx="6583680" cy="6583680"/>
          </a:xfrm>
          <a:prstGeom prst="donut">
            <a:avLst>
              <a:gd name="adj" fmla="val 16000"/>
            </a:avLst>
          </a:prstGeom>
          <a:solidFill>
            <a:srgbClr val="2F4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9692640" y="-1188720"/>
            <a:ext cx="3657600" cy="3657600"/>
          </a:xfrm>
          <a:prstGeom prst="donut">
            <a:avLst>
              <a:gd name="adj" fmla="val 3500"/>
            </a:avLst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46120"/>
            <a:ext cx="1097280" cy="7315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7558851" cy="24231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recipes</dc:title>
  <dc:subject/>
  <dc:creator>Analytics Team</dc:creator>
  <cp:keywords/>
  <dc:description/>
  <cp:lastModifiedBy>Analytics Team</cp:lastModifiedBy>
  <cp:revision>1</cp:revision>
  <dcterms:created xsi:type="dcterms:W3CDTF">2026-09-30T11:43:51Z</dcterms:created>
  <dcterms:modified xsi:type="dcterms:W3CDTF">2026-09-30T11:43:51Z</dcterms:modified>
  <cp:category/>
</cp:coreProperties>
</file>