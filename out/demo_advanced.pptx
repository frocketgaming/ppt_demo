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35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FF6B3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Pt>
            <c:idx val="4"/>
            <c:spPr>
              <a:solidFill>
                <a:srgbClr val="C9D3DE"/>
              </a:solidFill>
            </c:spPr>
          </c:dPt>
          <c:dPt>
            <c:idx val="5"/>
            <c:spPr>
              <a:solidFill>
                <a:srgbClr val="C9D3DE"/>
              </a:solidFill>
            </c:spPr>
          </c:dPt>
          <c:dPt>
            <c:idx val="6"/>
            <c:spPr>
              <a:solidFill>
                <a:srgbClr val="C9D3DE"/>
              </a:solidFill>
            </c:spPr>
          </c:dPt>
          <c:dPt>
            <c:idx val="7"/>
            <c:spPr>
              <a:solidFill>
                <a:srgbClr val="FF6B35"/>
              </a:solidFill>
            </c:spPr>
          </c:dPt>
          <c:dPt>
            <c:idx val="8"/>
            <c:spPr>
              <a:solidFill>
                <a:srgbClr val="C9D3DE"/>
              </a:solidFill>
            </c:spPr>
          </c:dPt>
          <c:dPt>
            <c:idx val="9"/>
            <c:spPr>
              <a:solidFill>
                <a:srgbClr val="C9D3DE"/>
              </a:solidFill>
            </c:spPr>
          </c:dPt>
          <c:dPt>
            <c:idx val="10"/>
            <c:spPr>
              <a:solidFill>
                <a:srgbClr val="FF6B35"/>
              </a:solidFill>
            </c:spPr>
          </c:dPt>
          <c:dPt>
            <c:idx val="11"/>
            <c:spPr>
              <a:solidFill>
                <a:srgbClr val="FF6B35"/>
              </a:solidFill>
            </c:spPr>
          </c:dPt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$#,##0,"K"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Quarterly revenue, Q1 → Q4, by region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Sheet1!$B$2:$B$6</c:f>
              <c:numCache>
                <c:formatCode>$#,##0,"K"</c:formatCode>
                <c:ptCount val="5"/>
                <c:pt idx="0">
                  <c:v>0</c:v>
                </c:pt>
                <c:pt idx="1">
                  <c:v>467000</c:v>
                </c:pt>
                <c:pt idx="2">
                  <c:v>513000</c:v>
                </c:pt>
                <c:pt idx="3">
                  <c:v>541000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;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Sheet1!$C$2:$C$6</c:f>
              <c:numCache>
                <c:formatCode>$#,##0,"K"</c:formatCode>
                <c:ptCount val="5"/>
                <c:pt idx="0">
                  <c:v>467000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589000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13A89E"/>
            </a:solidFill>
          </c:spPr>
          <c:dLbls>
            <c:numFmt formatCode="+$#,##0,&quot;K&quot;;+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Sheet1!$D$2:$D$6</c:f>
              <c:numCache>
                <c:formatCode>$#,##0,"K"</c:formatCode>
                <c:ptCount val="5"/>
                <c:pt idx="0">
                  <c:v>0</c:v>
                </c:pt>
                <c:pt idx="1">
                  <c:v>46000</c:v>
                </c:pt>
                <c:pt idx="2">
                  <c:v>28000</c:v>
                </c:pt>
                <c:pt idx="3">
                  <c:v>48000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E63946"/>
            </a:solidFill>
          </c:spPr>
          <c:dLbls>
            <c:numFmt formatCode="-$#,##0,&quot;K&quot;;-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Sheet1!$E$2:$E$6</c:f>
              <c:numCache>
                <c:formatCode>$#,##0,"K"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40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98000</c:v>
                </c:pt>
                <c:pt idx="1">
                  <c:v>104000</c:v>
                </c:pt>
                <c:pt idx="2">
                  <c:v>109000</c:v>
                </c:pt>
                <c:pt idx="3">
                  <c:v>121000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61000</c:v>
                </c:pt>
                <c:pt idx="1">
                  <c:v>66000</c:v>
                </c:pt>
                <c:pt idx="2">
                  <c:v>72000</c:v>
                </c:pt>
                <c:pt idx="3">
                  <c:v>84000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72000</c:v>
                </c:pt>
                <c:pt idx="1">
                  <c:v>75000</c:v>
                </c:pt>
                <c:pt idx="2">
                  <c:v>79000</c:v>
                </c:pt>
                <c:pt idx="3">
                  <c:v>86000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38000</c:v>
                </c:pt>
                <c:pt idx="1">
                  <c:v>41000</c:v>
                </c:pt>
                <c:pt idx="2">
                  <c:v>45000</c:v>
                </c:pt>
                <c:pt idx="3">
                  <c:v>52000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121000</c:v>
                </c:pt>
                <c:pt idx="1">
                  <c:v>126000</c:v>
                </c:pt>
                <c:pt idx="2">
                  <c:v>131000</c:v>
                </c:pt>
                <c:pt idx="3">
                  <c:v>142000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77000</c:v>
                </c:pt>
                <c:pt idx="1">
                  <c:v>84000</c:v>
                </c:pt>
                <c:pt idx="2">
                  <c:v>90000</c:v>
                </c:pt>
                <c:pt idx="3">
                  <c:v>104000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revenue by product, all regions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291000</c:v>
                </c:pt>
                <c:pt idx="1">
                  <c:v>305000</c:v>
                </c:pt>
                <c:pt idx="2">
                  <c:v>319000</c:v>
                </c:pt>
                <c:pt idx="3">
                  <c:v>349000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176000</c:v>
                </c:pt>
                <c:pt idx="1">
                  <c:v>191000</c:v>
                </c:pt>
                <c:pt idx="2">
                  <c:v>207000</c:v>
                </c:pt>
                <c:pt idx="3">
                  <c:v>240000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Return on ad spend (ROAS)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FF6B3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Pt>
            <c:idx val="4"/>
            <c:spPr>
              <a:solidFill>
                <a:srgbClr val="C9D3DE"/>
              </a:solidFill>
            </c:spPr>
          </c:dPt>
          <c:dPt>
            <c:idx val="5"/>
            <c:spPr>
              <a:solidFill>
                <a:srgbClr val="C9D3DE"/>
              </a:solidFill>
            </c:spPr>
          </c:dPt>
          <c:dPt>
            <c:idx val="6"/>
            <c:spPr>
              <a:solidFill>
                <a:srgbClr val="C9D3DE"/>
              </a:solidFill>
            </c:spPr>
          </c:dPt>
          <c:dPt>
            <c:idx val="7"/>
            <c:spPr>
              <a:solidFill>
                <a:srgbClr val="C9D3DE"/>
              </a:solidFill>
            </c:spPr>
          </c:dPt>
          <c:cat>
            <c:strRef>
              <c:f>Sheet1!$A$2:$A$9</c:f>
              <c:strCache>
                <c:ptCount val="8"/>
                <c:pt idx="0">
                  <c:v>Loyalty Upsell</c:v>
                </c:pt>
                <c:pt idx="1">
                  <c:v>Retargeting</c:v>
                </c:pt>
                <c:pt idx="2">
                  <c:v>Webinar Series</c:v>
                </c:pt>
                <c:pt idx="3">
                  <c:v>Spring Promo</c:v>
                </c:pt>
                <c:pt idx="4">
                  <c:v>Holiday Blitz</c:v>
                </c:pt>
                <c:pt idx="5">
                  <c:v>Partner Push</c:v>
                </c:pt>
                <c:pt idx="6">
                  <c:v>Marketplace Ads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0.0"x"</c:formatCode>
                <c:ptCount val="8"/>
                <c:pt idx="0">
                  <c:v>7.47</c:v>
                </c:pt>
                <c:pt idx="1">
                  <c:v>5.7</c:v>
                </c:pt>
                <c:pt idx="2">
                  <c:v>5.39</c:v>
                </c:pt>
                <c:pt idx="3">
                  <c:v>4.0</c:v>
                </c:pt>
                <c:pt idx="4">
                  <c:v>4.0</c:v>
                </c:pt>
                <c:pt idx="5">
                  <c:v>3.09</c:v>
                </c:pt>
                <c:pt idx="6">
                  <c:v>2.54</c:v>
                </c:pt>
                <c:pt idx="7">
                  <c:v>2.24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&quot;x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Spend vs. revenue, by channel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3A89E"/>
              </a:solidFill>
              <a:ln>
                <a:solidFill>
                  <a:srgbClr val="13A89E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DA9C4"/>
              </a:solidFill>
              <a:ln>
                <a:solidFill>
                  <a:srgbClr val="8DA9C4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all sales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C9D3DE"/>
              </a:solidFill>
            </c:spPr>
          </c:dPt>
          <c:dPt>
            <c:idx val="1"/>
            <c:spPr>
              <a:solidFill>
                <a:srgbClr val="C9D3DE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Lbls>
            <c:dLbl>
              <c:idx val="0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Campaign spend vs.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153000</c:v>
                </c:pt>
                <c:pt idx="1">
                  <c:v>87000</c:v>
                </c:pt>
                <c:pt idx="2">
                  <c:v>65000</c:v>
                </c:pt>
                <c:pt idx="3">
                  <c:v>37000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651000</c:v>
                </c:pt>
                <c:pt idx="1">
                  <c:v>330000</c:v>
                </c:pt>
                <c:pt idx="2">
                  <c:v>201000</c:v>
                </c:pt>
                <c:pt idx="3">
                  <c:v>94000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People at each stage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C9D3DE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C9D3DE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cat>
            <c:strRef>
              <c:f>Sheet1!$A$2:$A$5</c:f>
              <c:strCache>
                <c:ptCount val="4"/>
                <c:pt idx="0">
                  <c:v>Leads</c:v>
                </c:pt>
                <c:pt idx="1">
                  <c:v>Trials started</c:v>
                </c:pt>
                <c:pt idx="2">
                  <c:v>Opportunities</c:v>
                </c:pt>
                <c:pt idx="3">
                  <c:v>Customers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38600</c:v>
                </c:pt>
                <c:pt idx="1">
                  <c:v>14900</c:v>
                </c:pt>
                <c:pt idx="2">
                  <c:v>8300</c:v>
                </c:pt>
                <c:pt idx="3">
                  <c:v>5132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Hours to first response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04"/>
          <c:w val="0.8019637663093161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C9D3DE"/>
              </a:solidFill>
            </a:ln>
          </c:spPr>
          <c:marker>
            <c:spPr>
              <a:solidFill>
                <a:srgbClr val="C9D3DE"/>
              </a:solidFill>
              <a:ln>
                <a:solidFill>
                  <a:srgbClr val="C9D3DE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9D3DE"/>
                        </a:solidFill>
                      </a:rPr>
                      <a:t>North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0.0"h"</c:formatCode>
                <c:ptCount val="6"/>
                <c:pt idx="0">
                  <c:v>4.2</c:v>
                </c:pt>
                <c:pt idx="1">
                  <c:v>4.0</c:v>
                </c:pt>
                <c:pt idx="2">
                  <c:v>3.7</c:v>
                </c:pt>
                <c:pt idx="3">
                  <c:v>3.4</c:v>
                </c:pt>
                <c:pt idx="4">
                  <c:v>3.1</c:v>
                </c:pt>
                <c:pt idx="5">
                  <c:v>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ln w="28575">
              <a:solidFill>
                <a:srgbClr val="C9D3DE"/>
              </a:solidFill>
            </a:ln>
          </c:spPr>
          <c:marker>
            <c:spPr>
              <a:solidFill>
                <a:srgbClr val="C9D3DE"/>
              </a:solidFill>
              <a:ln>
                <a:solidFill>
                  <a:srgbClr val="C9D3DE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9D3DE"/>
                        </a:solidFill>
                      </a:rPr>
                      <a:t>South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0.0"h"</c:formatCode>
                <c:ptCount val="6"/>
                <c:pt idx="0">
                  <c:v>3.8</c:v>
                </c:pt>
                <c:pt idx="1">
                  <c:v>3.6</c:v>
                </c:pt>
                <c:pt idx="2">
                  <c:v>3.3</c:v>
                </c:pt>
                <c:pt idx="3">
                  <c:v>3.0</c:v>
                </c:pt>
                <c:pt idx="4">
                  <c:v>2.8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ln w="38100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6B35"/>
                        </a:solidFill>
                      </a:rPr>
                      <a:t>West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0.0"h"</c:formatCode>
                <c:ptCount val="6"/>
                <c:pt idx="0">
                  <c:v>3.5</c:v>
                </c:pt>
                <c:pt idx="1">
                  <c:v>3.2</c:v>
                </c:pt>
                <c:pt idx="2">
                  <c:v>2.9</c:v>
                </c:pt>
                <c:pt idx="3">
                  <c:v>2.7</c:v>
                </c:pt>
                <c:pt idx="4">
                  <c:v>2.5</c:v>
                </c:pt>
                <c:pt idx="5">
                  <c:v>2.3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0.0&quot;h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Escalations per month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9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13A89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11</c:v>
                </c:pt>
                <c:pt idx="1">
                  <c:v>10</c:v>
                </c:pt>
                <c:pt idx="2">
                  <c:v>9</c:v>
                </c:pt>
                <c:pt idx="3">
                  <c:v>8</c:v>
                </c:pt>
                <c:pt idx="4">
                  <c:v>7</c:v>
                </c:pt>
                <c:pt idx="5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computed from the source data at build time. Nothing on these slides was typed in by hand except the commentary.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1C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ANNUAL BUSINESS REVIEW  ·  FY2026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The year growth started to compound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6BEC7"/>
                </a:solidFill>
                <a:latin typeface="Calibri"/>
              </a:rPr>
              <a:t>Revenue, product, go-to-market and customer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  <a:latin typeface="Calibri"/>
              </a:rPr>
              <a:t>Analytics Team</a:t>
            </a:r>
            <a:r>
              <a:rPr sz="1400">
                <a:solidFill>
                  <a:srgbClr val="B6BEC7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Four chapters, one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Every number in this deck is calculated from the data when the deck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10833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014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173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Growth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Revenue, targets and the shape of the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587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46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746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Product &amp; regions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Where the growth came from, and what it's made of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60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Go-to-market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What we spent on campaigns and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892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1892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Customer experience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Faster support, happier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9602" y="141732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66983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2482" y="150876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Revenue, Jan → Dec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+52%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9602" y="310896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66983" y="327355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2482" y="320040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Best return on ad spend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7.5x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19602" y="480060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66983" y="496519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2482" y="489204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Time to first response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-32%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01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Revenue, targets and the shape of the 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THE HEADLINE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Monthly revenue is up 52% since January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B6BEC7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B6BEC7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21667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6601785" cy="4892040"/>
          </a:xfrm>
          <a:prstGeom prst="roundRect">
            <a:avLst>
              <a:gd name="adj" fmla="val 2616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236025" cy="4709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December revenue vs. January</a:t>
            </a:r>
          </a:p>
          <a:p>
            <a:r>
              <a:rPr sz="15000" b="1">
                <a:solidFill>
                  <a:srgbClr val="FFFFFF"/>
                </a:solidFill>
                <a:latin typeface="Calibri"/>
              </a:rPr>
              <a:t>+52%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$94,400  added to the monthly run-rate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41732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185" y="150876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FY26 revenue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$2,646,800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8.9%  vs. annual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33305" y="310896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185" y="320040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Orders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17,030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41%  Jan → Dec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305" y="480060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185" y="489204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Weakest month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$176,500</a:t>
            </a:r>
          </a:p>
          <a:p>
            <a:r>
              <a:rPr sz="1200">
                <a:solidFill>
                  <a:srgbClr val="E63946"/>
                </a:solidFill>
                <a:latin typeface="Calibri"/>
              </a:rPr>
              <a:t>▼ 1.9%  Feb: the only miss vs. target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Revenue beat target in 11 of 12 months, and sped up into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7083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7453628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185148" y="1417320"/>
            <a:ext cx="3549346" cy="4892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5148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9468" y="1600200"/>
            <a:ext cx="3092146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What changed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Each quarter beat the last: </a:t>
            </a:r>
            <a:r>
              <a:rPr sz="1600" b="1">
                <a:solidFill>
                  <a:srgbClr val="FF6B35"/>
                </a:solidFill>
                <a:latin typeface="Calibri"/>
              </a:rPr>
              <a:t>$557K → $630K → $682K → $778K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Q4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14%</a:t>
            </a:r>
            <a:r>
              <a:rPr sz="1600">
                <a:solidFill>
                  <a:srgbClr val="1B2432"/>
                </a:solidFill>
                <a:latin typeface="Calibri"/>
              </a:rPr>
              <a:t> on Q3, almost double Q3's </a:t>
            </a:r>
            <a:r>
              <a:rPr sz="1600" b="1">
                <a:solidFill>
                  <a:srgbClr val="FF6B35"/>
                </a:solidFill>
                <a:latin typeface="Calibri"/>
              </a:rPr>
              <a:t>8%</a:t>
            </a:r>
            <a:r>
              <a:rPr sz="1600">
                <a:solidFill>
                  <a:srgbClr val="1B2432"/>
                </a:solidFill>
                <a:latin typeface="Calibri"/>
              </a:rPr>
              <a:t> gain on Q2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Second-half revenue was </a:t>
            </a:r>
            <a:r>
              <a:rPr sz="1600" b="1">
                <a:solidFill>
                  <a:srgbClr val="FF6B35"/>
                </a:solidFill>
                <a:latin typeface="Calibri"/>
              </a:rPr>
              <a:t>23% higher</a:t>
            </a:r>
            <a:r>
              <a:rPr sz="1600">
                <a:solidFill>
                  <a:srgbClr val="1B2432"/>
                </a:solidFill>
                <a:latin typeface="Calibri"/>
              </a:rPr>
              <a:t> than the first half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February was the only miss, </a:t>
            </a:r>
            <a:r>
              <a:rPr sz="1600" b="1">
                <a:solidFill>
                  <a:srgbClr val="FF6B35"/>
                </a:solidFill>
                <a:latin typeface="Calibri"/>
              </a:rPr>
              <a:t>$3.5K</a:t>
            </a:r>
            <a:r>
              <a:rPr sz="1600">
                <a:solidFill>
                  <a:srgbClr val="1B2432"/>
                </a:solidFill>
                <a:latin typeface="Calibri"/>
              </a:rPr>
              <a:t>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The year in six moments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Monthly revenue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monthly_sales.csv, campaigns.csv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332500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20774" y="2084831"/>
            <a:ext cx="9550146" cy="3657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3614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JAN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$182K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The year opens just above target</a:t>
            </a:r>
          </a:p>
        </p:txBody>
      </p:sp>
      <p:sp>
        <p:nvSpPr>
          <p:cNvPr id="13" name="Oval 12"/>
          <p:cNvSpPr/>
          <p:nvPr/>
        </p:nvSpPr>
        <p:spPr>
          <a:xfrm>
            <a:off x="3093643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67229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FEB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7229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The only miss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$3.5K short of a $180K target</a:t>
            </a:r>
          </a:p>
        </p:txBody>
      </p:sp>
      <p:sp>
        <p:nvSpPr>
          <p:cNvPr id="16" name="Oval 15"/>
          <p:cNvSpPr/>
          <p:nvPr/>
        </p:nvSpPr>
        <p:spPr>
          <a:xfrm>
            <a:off x="5003673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7258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+12% in a month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Revenue jumps to $198K</a:t>
            </a:r>
          </a:p>
        </p:txBody>
      </p:sp>
      <p:sp>
        <p:nvSpPr>
          <p:cNvPr id="19" name="Oval 18"/>
          <p:cNvSpPr/>
          <p:nvPr/>
        </p:nvSpPr>
        <p:spPr>
          <a:xfrm>
            <a:off x="6913702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AUG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$233K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Summer high before a flat September</a:t>
            </a:r>
          </a:p>
        </p:txBody>
      </p:sp>
      <p:sp>
        <p:nvSpPr>
          <p:cNvPr id="22" name="Oval 21"/>
          <p:cNvSpPr/>
          <p:nvPr/>
        </p:nvSpPr>
        <p:spPr>
          <a:xfrm>
            <a:off x="8823731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7316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NOV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7316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Holiday Blitz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The year's biggest campaign returns 4.0x</a:t>
            </a:r>
          </a:p>
        </p:txBody>
      </p:sp>
      <p:sp>
        <p:nvSpPr>
          <p:cNvPr id="25" name="Oval 24"/>
          <p:cNvSpPr/>
          <p:nvPr/>
        </p:nvSpPr>
        <p:spPr>
          <a:xfrm>
            <a:off x="10569168" y="1801367"/>
            <a:ext cx="603504" cy="603504"/>
          </a:xfrm>
          <a:prstGeom prst="ellipse">
            <a:avLst/>
          </a:prstGeom>
          <a:solidFill>
            <a:srgbClr val="FF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78896" y="1911095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7346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DEC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7346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$276K record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52% above January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457200" y="3699344"/>
          <a:ext cx="11277295" cy="26100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02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Product &amp; regions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Where the growth came from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Q4 brought in $122K more than Q1, mostly from North and West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443334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720884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940365" y="1417320"/>
            <a:ext cx="3794129" cy="18112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0365" y="1417320"/>
            <a:ext cx="73152" cy="1811215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4685" y="1508760"/>
            <a:ext cx="3336929" cy="1628335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Added per quarter, Q1 → Q4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+$122,000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26%  quarterly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40365" y="3411415"/>
            <a:ext cx="3794129" cy="28979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0365" y="3411415"/>
            <a:ext cx="73152" cy="289794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685" y="3594295"/>
            <a:ext cx="3336929" cy="25321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North and West added </a:t>
            </a:r>
            <a:r>
              <a:rPr sz="1600" b="1">
                <a:solidFill>
                  <a:srgbClr val="FF6B35"/>
                </a:solidFill>
                <a:latin typeface="Calibri"/>
              </a:rPr>
              <a:t>$94K</a:t>
            </a:r>
            <a:r>
              <a:rPr sz="1600">
                <a:solidFill>
                  <a:srgbClr val="1B2432"/>
                </a:solidFill>
                <a:latin typeface="Calibri"/>
              </a:rPr>
              <a:t> between them, </a:t>
            </a:r>
            <a:r>
              <a:rPr sz="1600" b="1">
                <a:solidFill>
                  <a:srgbClr val="FF6B35"/>
                </a:solidFill>
                <a:latin typeface="Calibri"/>
              </a:rPr>
              <a:t>77%</a:t>
            </a:r>
            <a:r>
              <a:rPr sz="1600">
                <a:solidFill>
                  <a:srgbClr val="1B2432"/>
                </a:solidFill>
                <a:latin typeface="Calibri"/>
              </a:rPr>
              <a:t> of the gain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South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25%</a:t>
            </a:r>
            <a:r>
              <a:rPr sz="1600">
                <a:solidFill>
                  <a:srgbClr val="1B2432"/>
                </a:solidFill>
                <a:latin typeface="Calibri"/>
              </a:rPr>
              <a:t>, but from the smallest 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is the biggest region, but North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Quarterly revenue by product; growth figures are Q1 →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498751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04946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50941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North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$715,000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29%  fastest growth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57200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4338218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2538" y="1508760"/>
            <a:ext cx="305805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South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25%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4338218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Rectangle 17"/>
          <p:cNvSpPr/>
          <p:nvPr/>
        </p:nvSpPr>
        <p:spPr>
          <a:xfrm>
            <a:off x="8219236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9236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6983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1508760"/>
            <a:ext cx="250941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West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$875,000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24%  largest region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8219236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Pro rose from 38% to 41% of revenue, one quarter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554167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02581" y="1417320"/>
            <a:ext cx="4231913" cy="1331258"/>
          </a:xfrm>
          <a:prstGeom prst="roundRect">
            <a:avLst>
              <a:gd name="adj" fmla="val 9616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5461" y="1508760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Pro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$814,000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36%  Q1 → Q4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2581" y="2931458"/>
            <a:ext cx="4231913" cy="1331258"/>
          </a:xfrm>
          <a:prstGeom prst="roundRect">
            <a:avLst>
              <a:gd name="adj" fmla="val 9616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5461" y="3022898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Core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$1,264,000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20%  Q1 → Q4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02581" y="4445597"/>
            <a:ext cx="4231913" cy="186376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02581" y="4445597"/>
            <a:ext cx="73152" cy="186376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6901" y="4628477"/>
            <a:ext cx="3774713" cy="14980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earns </a:t>
            </a:r>
            <a:r>
              <a:rPr sz="1500" b="1">
                <a:solidFill>
                  <a:srgbClr val="FF6B35"/>
                </a:solidFill>
                <a:latin typeface="Calibri"/>
              </a:rPr>
              <a:t>~$295 a unit</a:t>
            </a:r>
            <a:r>
              <a:rPr sz="1500">
                <a:solidFill>
                  <a:srgbClr val="1B2432"/>
                </a:solidFill>
                <a:latin typeface="Calibri"/>
              </a:rPr>
              <a:t>, almost double Core's </a:t>
            </a:r>
            <a:r>
              <a:rPr sz="1500" b="1">
                <a:solidFill>
                  <a:srgbClr val="FF6B35"/>
                </a:solidFill>
                <a:latin typeface="Calibri"/>
              </a:rPr>
              <a:t>~$154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revenue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36%</a:t>
            </a:r>
            <a:r>
              <a:rPr sz="1500">
                <a:solidFill>
                  <a:srgbClr val="1B2432"/>
                </a:solidFill>
                <a:latin typeface="Calibri"/>
              </a:rPr>
              <a:t> in the year; Core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20%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03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What we spent, and what it returned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Our three smallest campaigns returned the most per dollar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  ·  ROAS = revenue ÷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665001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6001622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733142" y="1417320"/>
          <a:ext cx="5001352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Loyalty Upsell, Retargeting and Webinar Series cost the least (</a:t>
            </a:r>
            <a:r>
              <a:rPr sz="1500" b="1">
                <a:solidFill>
                  <a:srgbClr val="FF6B35"/>
                </a:solidFill>
                <a:latin typeface="Calibri"/>
              </a:rPr>
              <a:t>$15–23K</a:t>
            </a:r>
            <a:r>
              <a:rPr sz="1500">
                <a:solidFill>
                  <a:srgbClr val="1B2432"/>
                </a:solidFill>
                <a:latin typeface="Calibri"/>
              </a:rPr>
              <a:t>) and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5.4–7.5x</a:t>
            </a:r>
            <a:r>
              <a:rPr sz="1500">
                <a:solidFill>
                  <a:srgbClr val="1B2432"/>
                </a:solidFill>
                <a:latin typeface="Calibri"/>
              </a:rPr>
              <a:t>. Trade Show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2.2x</a:t>
            </a:r>
            <a:r>
              <a:rPr sz="1500">
                <a:solidFill>
                  <a:srgbClr val="1B2432"/>
                </a:solidFill>
                <a:latin typeface="Calibri"/>
              </a:rPr>
              <a:t> on $54K.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Online brought in half of campaign revenue on 45% of the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720418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2643291" cy="2649474"/>
          </a:xfrm>
          <a:prstGeom prst="roundRect">
            <a:avLst>
              <a:gd name="adj" fmla="val 415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743200"/>
          <a:ext cx="2277531" cy="228371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374811" y="2560320"/>
            <a:ext cx="3576218" cy="2649474"/>
          </a:xfrm>
          <a:prstGeom prst="roundRect">
            <a:avLst>
              <a:gd name="adj" fmla="val 414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557691" y="2743200"/>
          <a:ext cx="3210458" cy="228371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225350" y="2560320"/>
            <a:ext cx="4509144" cy="2649474"/>
          </a:xfrm>
          <a:prstGeom prst="roundRect">
            <a:avLst>
              <a:gd name="adj" fmla="val 414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408230" y="2743200"/>
          <a:ext cx="414338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846"/>
                <a:gridCol w="1035846"/>
                <a:gridCol w="1035846"/>
                <a:gridCol w="1035846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Conv.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$153,000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$651,000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3,042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$87,000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$330,000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$94,000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8379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1259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 spend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$342,000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59558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42438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 revenue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$1,276,000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737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617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Conversions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5,132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1916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44796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ROAS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4.3x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4114"/>
            <a:ext cx="11277295" cy="82524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484114"/>
            <a:ext cx="73152" cy="82524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666994"/>
            <a:ext cx="10820095" cy="45948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400">
                <a:solidFill>
                  <a:srgbClr val="1B2432"/>
                </a:solidFill>
                <a:latin typeface="Calibri"/>
              </a:rPr>
              <a:t>Online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$4.25</a:t>
            </a:r>
            <a:r>
              <a:rPr sz="1400">
                <a:solidFill>
                  <a:srgbClr val="1B2432"/>
                </a:solidFill>
                <a:latin typeface="Calibri"/>
              </a:rPr>
              <a:t> for every dollar, the best of any channel. Marketplace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$2.54</a:t>
            </a:r>
            <a:r>
              <a:rPr sz="1400">
                <a:solidFill>
                  <a:srgbClr val="1B24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Only 4 in 10 leads start a trial, the biggest fixable leak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FY26 acquisition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web analytics and CRM (inline data in this YAML)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775835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417320"/>
          <a:ext cx="6219072" cy="41559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950592" y="1417320"/>
            <a:ext cx="4783902" cy="4155948"/>
          </a:xfrm>
          <a:prstGeom prst="roundRect">
            <a:avLst>
              <a:gd name="adj" fmla="val 264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70632" y="1737360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Visitor → lead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2512" y="2005393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72512" y="200539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81551" y="1913953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2935" y="1737360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0632" y="2639187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Lead → trial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512" y="2907220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72512" y="2907220"/>
            <a:ext cx="491479" cy="27432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54519" y="2815780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2935" y="2639187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39%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0632" y="3541014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Trial → opportunity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72512" y="3809047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72512" y="3809047"/>
            <a:ext cx="709207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4519" y="3717607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2935" y="3541014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56%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0632" y="4442841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Opportunity → customer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512" y="4710874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72512" y="4710874"/>
            <a:ext cx="786876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18182" y="4619434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82935" y="4442841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62%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47588"/>
            <a:ext cx="11277295" cy="4617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Bars show FY26 conversion; black markers are the FY26 plan. </a:t>
            </a:r>
            <a:r>
              <a:rPr sz="1400" b="1">
                <a:solidFill>
                  <a:srgbClr val="FF6B35"/>
                </a:solidFill>
                <a:latin typeface="Calibri"/>
              </a:rPr>
              <a:t>Lead → trial is 16 points short.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04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Customer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Faster answers, happier customers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Where FY26 moved the customer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Support is where this chapter's gains came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86668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nut 7"/>
          <p:cNvSpPr/>
          <p:nvPr/>
        </p:nvSpPr>
        <p:spPr>
          <a:xfrm>
            <a:off x="2658241" y="2720340"/>
            <a:ext cx="2286000" cy="2286000"/>
          </a:xfrm>
          <a:prstGeom prst="donut">
            <a:avLst>
              <a:gd name="adj" fmla="val 2799"/>
            </a:avLst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7200000">
            <a:off x="4263013" y="2782032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4834513" y="3771900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4400000">
            <a:off x="4263013" y="4761767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8000000">
            <a:off x="3120013" y="4761767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0">
            <a:off x="2548513" y="3771900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3600000">
            <a:off x="3120013" y="2782032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66901" y="22860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90" y="1417320"/>
            <a:ext cx="1538101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Discover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412K site visitors</a:t>
            </a:r>
          </a:p>
        </p:txBody>
      </p:sp>
      <p:sp>
        <p:nvSpPr>
          <p:cNvPr id="17" name="Oval 16"/>
          <p:cNvSpPr/>
          <p:nvPr/>
        </p:nvSpPr>
        <p:spPr>
          <a:xfrm>
            <a:off x="4356768" y="2857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6042" y="25031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Trial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39% of leads start one</a:t>
            </a:r>
          </a:p>
        </p:txBody>
      </p:sp>
      <p:sp>
        <p:nvSpPr>
          <p:cNvPr id="19" name="Oval 18"/>
          <p:cNvSpPr/>
          <p:nvPr/>
        </p:nvSpPr>
        <p:spPr>
          <a:xfrm>
            <a:off x="4356768" y="4000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6042" y="42176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Buy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5,132 new customers</a:t>
            </a:r>
          </a:p>
        </p:txBody>
      </p:sp>
      <p:sp>
        <p:nvSpPr>
          <p:cNvPr id="21" name="Oval 20"/>
          <p:cNvSpPr/>
          <p:nvPr/>
        </p:nvSpPr>
        <p:spPr>
          <a:xfrm>
            <a:off x="3366901" y="45720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32190" y="5577840"/>
            <a:ext cx="153810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Onboard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Next: a Pro trial</a:t>
            </a:r>
          </a:p>
        </p:txBody>
      </p:sp>
      <p:sp>
        <p:nvSpPr>
          <p:cNvPr id="23" name="Oval 22"/>
          <p:cNvSpPr/>
          <p:nvPr/>
        </p:nvSpPr>
        <p:spPr>
          <a:xfrm>
            <a:off x="2377034" y="4000500"/>
            <a:ext cx="868680" cy="8686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339" y="42176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Support</a:t>
            </a:r>
          </a:p>
          <a:p>
            <a:pPr algn="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First response down 32%</a:t>
            </a:r>
          </a:p>
        </p:txBody>
      </p:sp>
      <p:sp>
        <p:nvSpPr>
          <p:cNvPr id="25" name="Oval 24"/>
          <p:cNvSpPr/>
          <p:nvPr/>
        </p:nvSpPr>
        <p:spPr>
          <a:xfrm>
            <a:off x="2377034" y="2857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339" y="25031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Expand</a:t>
            </a:r>
          </a:p>
          <a:p>
            <a:pPr algn="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Pro now 41% of 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4021" y="3246120"/>
            <a:ext cx="1234440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Customer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lifecycle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19602" y="1417320"/>
            <a:ext cx="4314892" cy="4892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19602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3922" y="1600200"/>
            <a:ext cx="3857692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Read it clockwise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Support</a:t>
            </a:r>
            <a:r>
              <a:rPr sz="1500">
                <a:solidFill>
                  <a:srgbClr val="1B2432"/>
                </a:solidFill>
                <a:latin typeface="Calibri"/>
              </a:rPr>
              <a:t> improved most: faster answers, fewer escalations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Trial</a:t>
            </a:r>
            <a:r>
              <a:rPr sz="1500">
                <a:solidFill>
                  <a:srgbClr val="1B2432"/>
                </a:solidFill>
                <a:latin typeface="Calibri"/>
              </a:rPr>
              <a:t> is the weakest link, and the top FY27 fix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Expand</a:t>
            </a:r>
            <a:r>
              <a:rPr sz="1500">
                <a:solidFill>
                  <a:srgbClr val="1B2432"/>
                </a:solidFill>
                <a:latin typeface="Calibri"/>
              </a:rPr>
              <a:t> is working: customers keep moving up to Pro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In six months, support got faster and customers noticed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All regions combined, January vs.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42085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88%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25064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504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3.8h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32808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24248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6152" y="1417320"/>
            <a:ext cx="1399389" cy="374035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9600" b="1">
                <a:solidFill>
                  <a:srgbClr val="FF6B35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9862" y="1417320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69862" y="1417320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42454" y="1581912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182" y="1508760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93%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5 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9862" y="2725064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69862" y="2725064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42454" y="2889656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4182" y="2816504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69862" y="4032808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69862" y="4032808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42454" y="4197400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4182" y="4124248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31993"/>
            <a:ext cx="11277295" cy="87736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431993"/>
            <a:ext cx="73152" cy="87736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614873"/>
            <a:ext cx="10820095" cy="51160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Ticket volume </a:t>
            </a:r>
            <a:r>
              <a:rPr sz="1600" b="1">
                <a:solidFill>
                  <a:srgbClr val="FF6B35"/>
                </a:solidFill>
                <a:latin typeface="Calibri"/>
              </a:rPr>
              <a:t>rose 3%</a:t>
            </a:r>
            <a:r>
              <a:rPr sz="1600">
                <a:solidFill>
                  <a:srgbClr val="1B2432"/>
                </a:solidFill>
                <a:latin typeface="Calibri"/>
              </a:rPr>
              <a:t> over the same months: the team got better, not less busy.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got fastest, and escalations nearly halved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97502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33007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Regional scorecard: West leads on satisfaction and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January–June averages and totals; changes are January →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052919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North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8379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1259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89.0%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9558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737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617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79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1916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44796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3,025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South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8379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41259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90.5%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9558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42438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3.2h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737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617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40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44%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916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44796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2,085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62267" y="496519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92040"/>
            <a:ext cx="115817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West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58379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1259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92.5%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59558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2438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2.9h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737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3617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51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45%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61916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44796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2,610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IN THEIR WORDS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What customers told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B6BEC7"/>
                </a:solidFill>
                <a:latin typeface="Calibri"/>
              </a:rPr>
              <a:t>Source: June CSAT survey (illustrative comment)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B6BEC7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108335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760220"/>
            <a:ext cx="12801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0" b="1">
                <a:solidFill>
                  <a:srgbClr val="FF6B35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17320"/>
            <a:ext cx="10180015" cy="4892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1800"/>
              </a:spcAft>
            </a:pPr>
            <a:r>
              <a:rPr sz="3400" i="1">
                <a:solidFill>
                  <a:srgbClr val="FFFFFF"/>
                </a:solidFill>
                <a:latin typeface="Calibri"/>
              </a:rPr>
              <a:t>We used to wait half a day for a first answer. Now we hear back before lunch, and it's usually the right answer.</a:t>
            </a:r>
          </a:p>
          <a:p>
            <a:r>
              <a:rPr sz="1800" b="1">
                <a:solidFill>
                  <a:srgbClr val="FFFFFF"/>
                </a:solidFill>
                <a:latin typeface="Calibri"/>
              </a:rPr>
              <a:t>Operations lead, retail customer</a:t>
            </a:r>
          </a:p>
          <a:p>
            <a:r>
              <a:rPr sz="1400">
                <a:solidFill>
                  <a:srgbClr val="B6BEC7"/>
                </a:solidFill>
                <a:latin typeface="Calibri"/>
              </a:rPr>
              <a:t>West region  ·  CSAT 5/5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WHAT'S NEXT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FY27: four moves, one per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163752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052495" cy="731520"/>
          </a:xfrm>
          <a:prstGeom prst="homePlat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Fund what works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Move trade-show budget into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31987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16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Fix the trial step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Launch a Pro trial for Core customers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59403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32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Serve like West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Roll West's support model out to North</a:t>
            </a:r>
          </a:p>
        </p:txBody>
      </p:sp>
      <p:sp>
        <p:nvSpPr>
          <p:cNvPr id="13" name="Chevron 12"/>
          <p:cNvSpPr/>
          <p:nvPr/>
        </p:nvSpPr>
        <p:spPr>
          <a:xfrm>
            <a:off x="86819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Q4 FY27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48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Set FY28 targets from the Q4 run-rate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Retargeting ROAS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5.7x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vs. 2.2x for Trade Show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3673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6553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lead → trial today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39%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16 points below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West's average CSAT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92.5%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the best of the three regions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6621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501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Q4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the new quarterly baseline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1C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THANK YOU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Growth that compounds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6BEC7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Annual Business Review</dc:title>
  <dc:subject/>
  <dc:creator>Analytics Team</dc:creator>
  <cp:keywords/>
  <dc:description/>
  <cp:lastModifiedBy>Analytics Team</cp:lastModifiedBy>
  <cp:revision>1</cp:revision>
  <dcterms:created xsi:type="dcterms:W3CDTF">2026-09-30T11:26:09Z</dcterms:created>
  <dcterms:modified xsi:type="dcterms:W3CDTF">2026-09-30T11:26:09Z</dcterms:modified>
  <cp:category/>
</cp:coreProperties>
</file>