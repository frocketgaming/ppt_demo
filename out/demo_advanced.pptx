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EF3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98000</c:v>
                </c:pt>
                <c:pt idx="1">
                  <c:v>104000</c:v>
                </c:pt>
                <c:pt idx="2">
                  <c:v>109000</c:v>
                </c:pt>
                <c:pt idx="3">
                  <c:v>121000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61000</c:v>
                </c:pt>
                <c:pt idx="1">
                  <c:v>66000</c:v>
                </c:pt>
                <c:pt idx="2">
                  <c:v>72000</c:v>
                </c:pt>
                <c:pt idx="3">
                  <c:v>84000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72000</c:v>
                </c:pt>
                <c:pt idx="1">
                  <c:v>75000</c:v>
                </c:pt>
                <c:pt idx="2">
                  <c:v>79000</c:v>
                </c:pt>
                <c:pt idx="3">
                  <c:v>86000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38000</c:v>
                </c:pt>
                <c:pt idx="1">
                  <c:v>41000</c:v>
                </c:pt>
                <c:pt idx="2">
                  <c:v>45000</c:v>
                </c:pt>
                <c:pt idx="3">
                  <c:v>52000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121000</c:v>
                </c:pt>
                <c:pt idx="1">
                  <c:v>126000</c:v>
                </c:pt>
                <c:pt idx="2">
                  <c:v>131000</c:v>
                </c:pt>
                <c:pt idx="3">
                  <c:v>142000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77000</c:v>
                </c:pt>
                <c:pt idx="1">
                  <c:v>84000</c:v>
                </c:pt>
                <c:pt idx="2">
                  <c:v>90000</c:v>
                </c:pt>
                <c:pt idx="3">
                  <c:v>104000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Revenue by quarter, all regions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291000</c:v>
                </c:pt>
                <c:pt idx="1">
                  <c:v>305000</c:v>
                </c:pt>
                <c:pt idx="2">
                  <c:v>319000</c:v>
                </c:pt>
                <c:pt idx="3">
                  <c:v>349000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176000</c:v>
                </c:pt>
                <c:pt idx="1">
                  <c:v>191000</c:v>
                </c:pt>
                <c:pt idx="2">
                  <c:v>207000</c:v>
                </c:pt>
                <c:pt idx="3">
                  <c:v>240000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EF3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Return on ad spend (ROAS)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Sheet1!$A$2:$A$9</c:f>
              <c:strCache>
                <c:ptCount val="8"/>
                <c:pt idx="0">
                  <c:v>Loyalty Upsell</c:v>
                </c:pt>
                <c:pt idx="1">
                  <c:v>Retargeting</c:v>
                </c:pt>
                <c:pt idx="2">
                  <c:v>Webinar Series</c:v>
                </c:pt>
                <c:pt idx="3">
                  <c:v>Spring Promo</c:v>
                </c:pt>
                <c:pt idx="4">
                  <c:v>Holiday Blitz</c:v>
                </c:pt>
                <c:pt idx="5">
                  <c:v>Partner Push</c:v>
                </c:pt>
                <c:pt idx="6">
                  <c:v>Marketplace Ads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0.0"x"</c:formatCode>
                <c:ptCount val="8"/>
                <c:pt idx="0">
                  <c:v>7.47</c:v>
                </c:pt>
                <c:pt idx="1">
                  <c:v>5.7</c:v>
                </c:pt>
                <c:pt idx="2">
                  <c:v>5.39</c:v>
                </c:pt>
                <c:pt idx="3">
                  <c:v>4.0</c:v>
                </c:pt>
                <c:pt idx="4">
                  <c:v>4.0</c:v>
                </c:pt>
                <c:pt idx="5">
                  <c:v>3.09</c:v>
                </c:pt>
                <c:pt idx="6">
                  <c:v>2.54</c:v>
                </c:pt>
                <c:pt idx="7">
                  <c:v>2.24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&quot;x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Spend vs. revenue, by channel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3A89E"/>
              </a:solidFill>
              <a:ln>
                <a:solidFill>
                  <a:srgbClr val="13A89E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DA9C4"/>
              </a:solidFill>
              <a:ln>
                <a:solidFill>
                  <a:srgbClr val="8DA9C4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EF3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all sales, by channel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0B254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13A89E"/>
              </a:solidFill>
            </c:spPr>
          </c:dPt>
          <c:dPt>
            <c:idx val="3"/>
            <c:spPr>
              <a:solidFill>
                <a:srgbClr val="8DA9C4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Campaign spend vs.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153000</c:v>
                </c:pt>
                <c:pt idx="1">
                  <c:v>87000</c:v>
                </c:pt>
                <c:pt idx="2">
                  <c:v>65000</c:v>
                </c:pt>
                <c:pt idx="3">
                  <c:v>37000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651000</c:v>
                </c:pt>
                <c:pt idx="1">
                  <c:v>330000</c:v>
                </c:pt>
                <c:pt idx="2">
                  <c:v>201000</c:v>
                </c:pt>
                <c:pt idx="3">
                  <c:v>94000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EF3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From lead to customer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Leads</c:v>
                </c:pt>
                <c:pt idx="1">
                  <c:v>Trials started</c:v>
                </c:pt>
                <c:pt idx="2">
                  <c:v>Opportunities</c:v>
                </c:pt>
                <c:pt idx="3">
                  <c:v>Customers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38600</c:v>
                </c:pt>
                <c:pt idx="1">
                  <c:v>14900</c:v>
                </c:pt>
                <c:pt idx="2">
                  <c:v>8300</c:v>
                </c:pt>
                <c:pt idx="3">
                  <c:v>5132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Hours to first response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0.0"h"</c:formatCode>
                <c:ptCount val="6"/>
                <c:pt idx="0">
                  <c:v>4.2</c:v>
                </c:pt>
                <c:pt idx="1">
                  <c:v>4.0</c:v>
                </c:pt>
                <c:pt idx="2">
                  <c:v>3.7</c:v>
                </c:pt>
                <c:pt idx="3">
                  <c:v>3.4</c:v>
                </c:pt>
                <c:pt idx="4">
                  <c:v>3.1</c:v>
                </c:pt>
                <c:pt idx="5">
                  <c:v>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ln w="28575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0.0"h"</c:formatCode>
                <c:ptCount val="6"/>
                <c:pt idx="0">
                  <c:v>3.8</c:v>
                </c:pt>
                <c:pt idx="1">
                  <c:v>3.6</c:v>
                </c:pt>
                <c:pt idx="2">
                  <c:v>3.3</c:v>
                </c:pt>
                <c:pt idx="3">
                  <c:v>3.0</c:v>
                </c:pt>
                <c:pt idx="4">
                  <c:v>2.8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28575">
              <a:solidFill>
                <a:srgbClr val="13A89E"/>
              </a:solidFill>
            </a:ln>
          </c:spPr>
          <c:marker>
            <c:spPr>
              <a:solidFill>
                <a:srgbClr val="13A89E"/>
              </a:solidFill>
              <a:ln>
                <a:solidFill>
                  <a:srgbClr val="13A89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0.0"h"</c:formatCode>
                <c:ptCount val="6"/>
                <c:pt idx="0">
                  <c:v>3.5</c:v>
                </c:pt>
                <c:pt idx="1">
                  <c:v>3.2</c:v>
                </c:pt>
                <c:pt idx="2">
                  <c:v>2.9</c:v>
                </c:pt>
                <c:pt idx="3">
                  <c:v>2.7</c:v>
                </c:pt>
                <c:pt idx="4">
                  <c:v>2.5</c:v>
                </c:pt>
                <c:pt idx="5">
                  <c:v>2.3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EF3F8"/>
              </a:solidFill>
            </a:ln>
          </c:spPr>
        </c:majorGridlines>
        <c:numFmt formatCode="0.0&quot;h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Escalations per month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9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13A89E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computed from the source data at build time. Nothing on these slides was typed in by hand except the commentary.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FY2026: the year growth started to compound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Annual business review  ·  Revenue, product, go-to-market and customer experience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Four chapters, one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Each chapter's headline number, calculated from its data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47873" cy="317468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2282113" cy="29918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01  ·  Growth</a:t>
            </a:r>
          </a:p>
          <a:p>
            <a:r>
              <a:rPr sz="4400" b="1">
                <a:solidFill>
                  <a:srgbClr val="0B2545"/>
                </a:solidFill>
                <a:latin typeface="Calibri"/>
              </a:rPr>
              <a:t>Revenue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52%  revenue, Jan → Dec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673" y="1417320"/>
            <a:ext cx="2647873" cy="317468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6553" y="1508760"/>
            <a:ext cx="2282113" cy="29918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02  ·  Product &amp; regions</a:t>
            </a:r>
          </a:p>
          <a:p>
            <a:r>
              <a:rPr sz="4400" b="1">
                <a:solidFill>
                  <a:srgbClr val="0B2545"/>
                </a:solidFill>
                <a:latin typeface="Calibri"/>
              </a:rPr>
              <a:t>Pro mix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36%  Pro revenue, Q1 → Q4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417320"/>
            <a:ext cx="2647873" cy="317468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3027" y="1508760"/>
            <a:ext cx="2282113" cy="29918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03  ·  Go-to-market</a:t>
            </a:r>
          </a:p>
          <a:p>
            <a:r>
              <a:rPr sz="4400" b="1">
                <a:solidFill>
                  <a:srgbClr val="0B2545"/>
                </a:solidFill>
                <a:latin typeface="Calibri"/>
              </a:rPr>
              <a:t>ROI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7.5x  best return on spend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6621" y="1417320"/>
            <a:ext cx="2647873" cy="317468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9501" y="1508760"/>
            <a:ext cx="2282113" cy="29918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04  ·  Customers</a:t>
            </a:r>
          </a:p>
          <a:p>
            <a:r>
              <a:rPr sz="4400" b="1">
                <a:solidFill>
                  <a:srgbClr val="0B2545"/>
                </a:solidFill>
                <a:latin typeface="Calibri"/>
              </a:rPr>
              <a:t>Support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  time to first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66322"/>
            <a:ext cx="11277295" cy="144303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>
                <a:solidFill>
                  <a:srgbClr val="5C6B7A"/>
                </a:solidFill>
                <a:latin typeface="Calibri"/>
              </a:rPr>
              <a:t>Change a CSV and rebuild: </a:t>
            </a:r>
            <a:r>
              <a:rPr sz="2000" b="1">
                <a:solidFill>
                  <a:srgbClr val="FF6B35"/>
                </a:solidFill>
                <a:latin typeface="Calibri"/>
              </a:rPr>
              <a:t>every card, chart and table in this deck updates</a:t>
            </a:r>
            <a:r>
              <a:rPr sz="2000">
                <a:solidFill>
                  <a:srgbClr val="5C6B7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Monthly revenue is up 52% since January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6601785" cy="489204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236025" cy="4709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December revenue vs. January</a:t>
            </a:r>
          </a:p>
          <a:p>
            <a:r>
              <a:rPr sz="15000" b="1">
                <a:solidFill>
                  <a:srgbClr val="0B2545"/>
                </a:solidFill>
                <a:latin typeface="Calibri"/>
              </a:rPr>
              <a:t>+52%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$94,400  added to the monthly run-rate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3305" y="1417320"/>
            <a:ext cx="4401190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16185" y="150876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FY26 revenue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8.9%  vs. annual 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33305" y="3108960"/>
            <a:ext cx="4401190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185" y="320040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Orders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17,030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41%  Jan → Dec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305" y="4800600"/>
            <a:ext cx="4401190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16185" y="489204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Weakest month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$176,500</a:t>
            </a:r>
          </a:p>
          <a:p>
            <a:r>
              <a:rPr sz="1200">
                <a:solidFill>
                  <a:srgbClr val="E63946"/>
                </a:solidFill>
                <a:latin typeface="Calibri"/>
              </a:rPr>
              <a:t>▼ 1.9%  Feb: the only miss vs. 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Revenue beat target in 11 of 12 months, and sped up into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7453628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185148" y="1417320"/>
            <a:ext cx="3549346" cy="489204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85148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9468" y="1600200"/>
            <a:ext cx="3092146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What changed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Each quarter beat the last: </a:t>
            </a:r>
            <a:r>
              <a:rPr sz="1600" b="1">
                <a:solidFill>
                  <a:srgbClr val="FF6B35"/>
                </a:solidFill>
                <a:latin typeface="Calibri"/>
              </a:rPr>
              <a:t>$557K → $630K → $682K → $778K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Q4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14%</a:t>
            </a:r>
            <a:r>
              <a:rPr sz="1600">
                <a:solidFill>
                  <a:srgbClr val="1B2432"/>
                </a:solidFill>
                <a:latin typeface="Calibri"/>
              </a:rPr>
              <a:t> on Q3, almost double Q3's </a:t>
            </a:r>
            <a:r>
              <a:rPr sz="1600" b="1">
                <a:solidFill>
                  <a:srgbClr val="FF6B35"/>
                </a:solidFill>
                <a:latin typeface="Calibri"/>
              </a:rPr>
              <a:t>8%</a:t>
            </a:r>
            <a:r>
              <a:rPr sz="1600">
                <a:solidFill>
                  <a:srgbClr val="1B2432"/>
                </a:solidFill>
                <a:latin typeface="Calibri"/>
              </a:rPr>
              <a:t> gain on Q2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Second-half revenue was </a:t>
            </a:r>
            <a:r>
              <a:rPr sz="1600" b="1">
                <a:solidFill>
                  <a:srgbClr val="FF6B35"/>
                </a:solidFill>
                <a:latin typeface="Calibri"/>
              </a:rPr>
              <a:t>23% higher</a:t>
            </a:r>
            <a:r>
              <a:rPr sz="1600">
                <a:solidFill>
                  <a:srgbClr val="1B2432"/>
                </a:solidFill>
                <a:latin typeface="Calibri"/>
              </a:rPr>
              <a:t> than the first half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February was the only miss, </a:t>
            </a:r>
            <a:r>
              <a:rPr sz="1600" b="1">
                <a:solidFill>
                  <a:srgbClr val="FF6B35"/>
                </a:solidFill>
                <a:latin typeface="Calibri"/>
              </a:rPr>
              <a:t>$3.5K</a:t>
            </a:r>
            <a:r>
              <a:rPr sz="1600">
                <a:solidFill>
                  <a:srgbClr val="1B2432"/>
                </a:solidFill>
                <a:latin typeface="Calibri"/>
              </a:rPr>
              <a:t> short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0B2545"/>
                </a:solidFill>
                <a:latin typeface="Calibri"/>
              </a:rPr>
              <a:t>02  Product &amp;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5C6B7A"/>
                </a:solidFill>
                <a:latin typeface="Calibri"/>
              </a:rPr>
              <a:t>Where the growth came from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is the biggest region, but North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Quarterly revenue by product; growth figures are Q1 →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3515258" cy="1385047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14949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North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$715,000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29%  fastest growth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38218" y="1417320"/>
            <a:ext cx="3515258" cy="1385047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1508760"/>
            <a:ext cx="314949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South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25%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38218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219236" y="1417320"/>
            <a:ext cx="3515258" cy="1385047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2116" y="1508760"/>
            <a:ext cx="314949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West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$875,000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24%  largest region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8219236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Pro rose from 38% to 41% of revenue, one quarter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02581" y="1417320"/>
            <a:ext cx="4231913" cy="133125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5461" y="1508760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Pro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$814,000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36%  Q1 → Q4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2581" y="2931458"/>
            <a:ext cx="4231913" cy="1331258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5461" y="3022898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Core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$1,264,000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20%  Q1 → Q4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02581" y="4445597"/>
            <a:ext cx="4231913" cy="1863762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02581" y="4445597"/>
            <a:ext cx="73152" cy="186376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6901" y="4628477"/>
            <a:ext cx="3774713" cy="14980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earns </a:t>
            </a:r>
            <a:r>
              <a:rPr sz="1500" b="1">
                <a:solidFill>
                  <a:srgbClr val="FF6B35"/>
                </a:solidFill>
                <a:latin typeface="Calibri"/>
              </a:rPr>
              <a:t>~$295 a unit</a:t>
            </a:r>
            <a:r>
              <a:rPr sz="1500">
                <a:solidFill>
                  <a:srgbClr val="1B2432"/>
                </a:solidFill>
                <a:latin typeface="Calibri"/>
              </a:rPr>
              <a:t>, almost double Core's </a:t>
            </a:r>
            <a:r>
              <a:rPr sz="1500" b="1">
                <a:solidFill>
                  <a:srgbClr val="FF6B35"/>
                </a:solidFill>
                <a:latin typeface="Calibri"/>
              </a:rPr>
              <a:t>~$154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revenue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36%</a:t>
            </a:r>
            <a:r>
              <a:rPr sz="1500">
                <a:solidFill>
                  <a:srgbClr val="1B2432"/>
                </a:solidFill>
                <a:latin typeface="Calibri"/>
              </a:rPr>
              <a:t> in the year; Core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20%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0B2545"/>
                </a:solidFill>
                <a:latin typeface="Calibri"/>
              </a:rPr>
              <a:t>03 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5C6B7A"/>
                </a:solidFill>
                <a:latin typeface="Calibri"/>
              </a:rPr>
              <a:t>What we spent, and what it returned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Our three smallest campaigns returned the most per dollar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  ·  ROAS = revenue ÷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6001622" cy="350946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733142" y="1417320"/>
          <a:ext cx="5001352" cy="350946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01107"/>
            <a:ext cx="11277295" cy="1108252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201107"/>
            <a:ext cx="73152" cy="11082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83987"/>
            <a:ext cx="10820095" cy="7424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Loyalty Upsell, Retargeting and Webinar Series cost the least (</a:t>
            </a:r>
            <a:r>
              <a:rPr sz="1500" b="1">
                <a:solidFill>
                  <a:srgbClr val="FF6B35"/>
                </a:solidFill>
                <a:latin typeface="Calibri"/>
              </a:rPr>
              <a:t>$15–23K</a:t>
            </a:r>
            <a:r>
              <a:rPr sz="1500">
                <a:solidFill>
                  <a:srgbClr val="1B2432"/>
                </a:solidFill>
                <a:latin typeface="Calibri"/>
              </a:rPr>
              <a:t>) and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5.4–7.5x</a:t>
            </a:r>
            <a:r>
              <a:rPr sz="1500">
                <a:solidFill>
                  <a:srgbClr val="1B2432"/>
                </a:solidFill>
                <a:latin typeface="Calibri"/>
              </a:rPr>
              <a:t>. Trade Show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2.2x</a:t>
            </a:r>
            <a:r>
              <a:rPr sz="1500">
                <a:solidFill>
                  <a:srgbClr val="1B2432"/>
                </a:solidFill>
                <a:latin typeface="Calibri"/>
              </a:rPr>
              <a:t> on $54K.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Online brought in half of campaign revenue on 45% of the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2734056"/>
          <a:ext cx="3017434" cy="24323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748954" y="2734056"/>
          <a:ext cx="3687975" cy="2432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1249" y="2734056"/>
          <a:ext cx="402324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11"/>
                <a:gridCol w="1005811"/>
                <a:gridCol w="1005811"/>
                <a:gridCol w="1005812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EF3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EF3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EF3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EF3F8"/>
                          </a:solidFill>
                          <a:latin typeface="Calibri"/>
                        </a:rPr>
                        <a:t>Conv.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$153,000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$651,000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3,042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$87,000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$330,000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$94,000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1417320"/>
            <a:ext cx="2072579" cy="104241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706819" cy="85953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Campaigns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8379" y="1417320"/>
            <a:ext cx="2072579" cy="104241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1259" y="1508760"/>
            <a:ext cx="1706819" cy="85953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 spend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$342,000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9558" y="1417320"/>
            <a:ext cx="2072579" cy="104241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2438" y="1508760"/>
            <a:ext cx="1706819" cy="85953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 revenue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$1,276,000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737" y="1417320"/>
            <a:ext cx="2072579" cy="104241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617" y="1508760"/>
            <a:ext cx="1706819" cy="85953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Conversions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5,132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61916" y="1417320"/>
            <a:ext cx="2072579" cy="1042416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44796" y="1508760"/>
            <a:ext cx="1706819" cy="85953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ROAS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4.3x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40680"/>
            <a:ext cx="11277295" cy="86868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440680"/>
            <a:ext cx="73152" cy="8686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820095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400">
                <a:solidFill>
                  <a:srgbClr val="1B2432"/>
                </a:solidFill>
                <a:latin typeface="Calibri"/>
              </a:rPr>
              <a:t>Online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$4.25</a:t>
            </a:r>
            <a:r>
              <a:rPr sz="1400">
                <a:solidFill>
                  <a:srgbClr val="1B2432"/>
                </a:solidFill>
                <a:latin typeface="Calibri"/>
              </a:rPr>
              <a:t> for every dollar, the best of any channel. Marketplace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$2.54</a:t>
            </a:r>
            <a:r>
              <a:rPr sz="1400">
                <a:solidFill>
                  <a:srgbClr val="1B24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Only 4 in 10 leads start a trial, the biggest fixable 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FY26 acquisition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web analytics and CRM (inline data in this YAML)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66836" y="1417320"/>
            <a:ext cx="3667658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49716" y="1508760"/>
            <a:ext cx="3301898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Site visitors (top of funnel)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412,000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9.4%  became leads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3108960"/>
            <a:ext cx="3667658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9716" y="3200400"/>
            <a:ext cx="3301898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Lead → trial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39%</a:t>
            </a:r>
          </a:p>
          <a:p>
            <a:r>
              <a:rPr sz="1200">
                <a:solidFill>
                  <a:srgbClr val="E63946"/>
                </a:solidFill>
                <a:latin typeface="Calibri"/>
              </a:rPr>
              <a:t>▼ 61%  of leads lost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4800600"/>
            <a:ext cx="3667658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9716" y="4892040"/>
            <a:ext cx="3301898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New customers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5,132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62%  of opportunities closed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0B2545"/>
                </a:solidFill>
                <a:latin typeface="Calibri"/>
              </a:rPr>
              <a:t>04  Customer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5C6B7A"/>
                </a:solidFill>
                <a:latin typeface="Calibri"/>
              </a:rPr>
              <a:t>Faster answers, happier customers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In six months, support got faster and customers noticed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All regions combined, January vs.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88%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25064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16504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3.8h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32808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24248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6152" y="1417320"/>
            <a:ext cx="1399389" cy="374035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9600" b="1">
                <a:solidFill>
                  <a:srgbClr val="FF6B35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69862" y="1417320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2742" y="1508760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93%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5 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69862" y="2725064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52742" y="2816504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9862" y="4032808"/>
            <a:ext cx="4664632" cy="1124864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2742" y="4124248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431993"/>
            <a:ext cx="11277295" cy="877366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431993"/>
            <a:ext cx="73152" cy="87736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614873"/>
            <a:ext cx="10820095" cy="51160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Ticket volume </a:t>
            </a:r>
            <a:r>
              <a:rPr sz="1600" b="1">
                <a:solidFill>
                  <a:srgbClr val="FF6B35"/>
                </a:solidFill>
                <a:latin typeface="Calibri"/>
              </a:rPr>
              <a:t>rose 3%</a:t>
            </a:r>
            <a:r>
              <a:rPr sz="1600">
                <a:solidFill>
                  <a:srgbClr val="1B2432"/>
                </a:solidFill>
                <a:latin typeface="Calibri"/>
              </a:rPr>
              <a:t> over the same months: the team got better, not less busy.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Every region got faster, and escalations nearly halved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33007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Regional scorecard: West leads on satisfaction and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January–June averages and totals; changes are January →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North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58379" y="141732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1259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89.0%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9558" y="141732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737" y="141732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617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79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50%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1916" y="141732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4796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3,025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0896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South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58379" y="310896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41259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90.5%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59558" y="310896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2438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3.2h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737" y="310896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617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40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44%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61916" y="310896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44796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2,085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West  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58379" y="480060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41259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92.5%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59558" y="480060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2438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2.9h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34%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0737" y="480060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617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51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61916" y="4800600"/>
            <a:ext cx="2072579" cy="15087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44796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2,610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FY27: three bets, sequenced by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354019"/>
            <a:ext cx="3576218" cy="295534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354019"/>
            <a:ext cx="73152" cy="29553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536899"/>
            <a:ext cx="3119018" cy="25895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Fund what works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Retargeting returns </a:t>
            </a:r>
            <a:r>
              <a:rPr sz="1500" b="1">
                <a:solidFill>
                  <a:srgbClr val="FF6B35"/>
                </a:solidFill>
                <a:latin typeface="Calibri"/>
              </a:rPr>
              <a:t>5.7x</a:t>
            </a:r>
            <a:r>
              <a:rPr sz="1500">
                <a:solidFill>
                  <a:srgbClr val="1B2432"/>
                </a:solidFill>
                <a:latin typeface="Calibri"/>
              </a:rPr>
              <a:t>; Trade Show returns </a:t>
            </a:r>
            <a:r>
              <a:rPr sz="1500" b="1">
                <a:solidFill>
                  <a:srgbClr val="FF6B35"/>
                </a:solidFill>
                <a:latin typeface="Calibri"/>
              </a:rPr>
              <a:t>2.2x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Fund the small campaigns before the big launches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738" y="3354019"/>
            <a:ext cx="3576218" cy="295534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07738" y="3354019"/>
            <a:ext cx="73152" cy="29553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2058" y="3536899"/>
            <a:ext cx="3119018" cy="25895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Sell up to Pro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earns </a:t>
            </a:r>
            <a:r>
              <a:rPr sz="1500" b="1">
                <a:solidFill>
                  <a:srgbClr val="FF6B35"/>
                </a:solidFill>
                <a:latin typeface="Calibri"/>
              </a:rPr>
              <a:t>~2x</a:t>
            </a:r>
            <a:r>
              <a:rPr sz="1500">
                <a:solidFill>
                  <a:srgbClr val="1B2432"/>
                </a:solidFill>
                <a:latin typeface="Calibri"/>
              </a:rPr>
              <a:t> Core's revenue per unit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Fix the lead → trial step first: </a:t>
            </a:r>
            <a:r>
              <a:rPr sz="1500" b="1">
                <a:solidFill>
                  <a:srgbClr val="FF6B35"/>
                </a:solidFill>
                <a:latin typeface="Calibri"/>
              </a:rPr>
              <a:t>61%</a:t>
            </a:r>
            <a:r>
              <a:rPr sz="1500">
                <a:solidFill>
                  <a:srgbClr val="1B2432"/>
                </a:solidFill>
                <a:latin typeface="Calibri"/>
              </a:rPr>
              <a:t> of leads drop out there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58276" y="3354019"/>
            <a:ext cx="3576218" cy="2955340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58276" y="3354019"/>
            <a:ext cx="73152" cy="29553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2596" y="3536899"/>
            <a:ext cx="3119018" cy="25895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Serve like West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West leads on CSAT at </a:t>
            </a:r>
            <a:r>
              <a:rPr sz="1500" b="1">
                <a:solidFill>
                  <a:srgbClr val="FF6B35"/>
                </a:solidFill>
                <a:latin typeface="Calibri"/>
              </a:rPr>
              <a:t>92.5%</a:t>
            </a:r>
            <a:r>
              <a:rPr sz="1500">
                <a:solidFill>
                  <a:srgbClr val="1B2432"/>
                </a:solidFill>
                <a:latin typeface="Calibri"/>
              </a:rPr>
              <a:t>, with the fastest responses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Copy West's approach in North, the busiest region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417320"/>
            <a:ext cx="2647873" cy="1662379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508760"/>
            <a:ext cx="2282113" cy="147949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Q1  ·  Jan–Mar</a:t>
            </a:r>
          </a:p>
          <a:p>
            <a:r>
              <a:rPr sz="2000" b="1">
                <a:solidFill>
                  <a:srgbClr val="0B2545"/>
                </a:solidFill>
                <a:latin typeface="Calibri"/>
              </a:rPr>
              <a:t>Move trade-show budget to retargeting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3673" y="1417320"/>
            <a:ext cx="2647873" cy="1662379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6553" y="1508760"/>
            <a:ext cx="2282113" cy="147949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Q2  ·  Apr–Jun</a:t>
            </a:r>
          </a:p>
          <a:p>
            <a:r>
              <a:rPr sz="2000" b="1">
                <a:solidFill>
                  <a:srgbClr val="0B2545"/>
                </a:solidFill>
                <a:latin typeface="Calibri"/>
              </a:rPr>
              <a:t>Launch a Pro trial for Core customers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417320"/>
            <a:ext cx="2647873" cy="1662379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3027" y="1508760"/>
            <a:ext cx="2282113" cy="147949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Q3  ·  Jul–Sep</a:t>
            </a:r>
          </a:p>
          <a:p>
            <a:r>
              <a:rPr sz="2000" b="1">
                <a:solidFill>
                  <a:srgbClr val="0B2545"/>
                </a:solidFill>
                <a:latin typeface="Calibri"/>
              </a:rPr>
              <a:t>Roll West's support model out to North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621" y="1417320"/>
            <a:ext cx="2647873" cy="1662379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9501" y="1508760"/>
            <a:ext cx="2282113" cy="147949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Q4  ·  Oct–Dec</a:t>
            </a:r>
          </a:p>
          <a:p>
            <a:r>
              <a:rPr sz="2000" b="1">
                <a:solidFill>
                  <a:srgbClr val="0B2545"/>
                </a:solidFill>
                <a:latin typeface="Calibri"/>
              </a:rPr>
              <a:t>Reset FY28 targets from Q4 run-rate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Growth that compounds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Annual Business Review</dc:title>
  <dc:subject/>
  <dc:creator>Analytics Team</dc:creator>
  <cp:keywords/>
  <dc:description/>
  <cp:lastModifiedBy>Analytics Team</cp:lastModifiedBy>
  <cp:revision>1</cp:revision>
  <dcterms:created xsi:type="dcterms:W3CDTF">2026-09-29T23:10:33Z</dcterms:created>
  <dcterms:modified xsi:type="dcterms:W3CDTF">2026-09-29T23:10:33Z</dcterms:modified>
  <cp:category/>
</cp:coreProperties>
</file>