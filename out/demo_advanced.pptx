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300" b="1">
                <a:solidFill>
                  <a:srgbClr val="123C69"/>
                </a:solidFill>
              </a:rPr>
              <a:t>Revenue vs. target</a:t>
            </a:r>
          </a:p>
        </c:rich>
      </c:tx>
      <c:layout/>
      <c:overlay val="0"/>
    </c:title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23C69"/>
            </a:solidFill>
          </c:spP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$#,##0</c:formatCode>
                <c:ptCount val="12"/>
                <c:pt idx="0">
                  <c:v>182000</c:v>
                </c:pt>
                <c:pt idx="1">
                  <c:v>176500</c:v>
                </c:pt>
                <c:pt idx="2">
                  <c:v>198200</c:v>
                </c:pt>
                <c:pt idx="3">
                  <c:v>205400</c:v>
                </c:pt>
                <c:pt idx="4">
                  <c:v>214900</c:v>
                </c:pt>
                <c:pt idx="5">
                  <c:v>209800</c:v>
                </c:pt>
                <c:pt idx="6">
                  <c:v>221300</c:v>
                </c:pt>
                <c:pt idx="7">
                  <c:v>232700</c:v>
                </c:pt>
                <c:pt idx="8">
                  <c:v>228100</c:v>
                </c:pt>
                <c:pt idx="9">
                  <c:v>241900</c:v>
                </c:pt>
                <c:pt idx="10">
                  <c:v>259600</c:v>
                </c:pt>
                <c:pt idx="11">
                  <c:v>276400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F4A261"/>
            </a:solidFill>
          </c:spP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$#,##0</c:formatCode>
                <c:ptCount val="12"/>
                <c:pt idx="0">
                  <c:v>175000</c:v>
                </c:pt>
                <c:pt idx="1">
                  <c:v>180000</c:v>
                </c:pt>
                <c:pt idx="2">
                  <c:v>185000</c:v>
                </c:pt>
                <c:pt idx="3">
                  <c:v>190000</c:v>
                </c:pt>
                <c:pt idx="4">
                  <c:v>195000</c:v>
                </c:pt>
                <c:pt idx="5">
                  <c:v>200000</c:v>
                </c:pt>
                <c:pt idx="6">
                  <c:v>205000</c:v>
                </c:pt>
                <c:pt idx="7">
                  <c:v>210000</c:v>
                </c:pt>
                <c:pt idx="8">
                  <c:v>215000</c:v>
                </c:pt>
                <c:pt idx="9">
                  <c:v>220000</c:v>
                </c:pt>
                <c:pt idx="10">
                  <c:v>225000</c:v>
                </c:pt>
                <c:pt idx="11">
                  <c:v>230000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F1F4F8"/>
              </a:solidFill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101159928"/>
        <c:crosses val="autoZero"/>
        <c:crossBetween val="midCat"/>
      </c:valAx>
    </c:plotArea>
    <c:legend>
      <c:legendPos val="t"/>
      <c:layout/>
      <c:overlay val="0"/>
    </c:legend>
    <c:plotVisOnly val="1"/>
    <c:dispBlanksAs val="zero"/>
    <c:showDLblsOverMax val="0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23C69"/>
                </a:solidFill>
              </a:rPr>
              <a:t>Revenue by region, split by product</a:t>
            </a:r>
          </a:p>
        </c:rich>
      </c:tx>
      <c:layout/>
      <c:overlay val="0"/>
    </c:title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Core</c:v>
                </c:pt>
              </c:strCache>
            </c:strRef>
          </c:tx>
          <c:spPr>
            <a:solidFill>
              <a:srgbClr val="123C69"/>
            </a:solidFill>
          </c:spPr>
          <c:cat>
            <c:strRef>
              <c:f>Sheet1!$A$2:$A$4</c:f>
              <c:strCache>
                <c:ptCount val="3"/>
                <c:pt idx="0">
                  <c:v>North</c:v>
                </c:pt>
                <c:pt idx="1">
                  <c:v>South</c:v>
                </c:pt>
                <c:pt idx="2">
                  <c:v>West</c:v>
                </c:pt>
              </c:strCache>
            </c:strRef>
          </c:cat>
          <c:val>
            <c:numRef>
              <c:f>Sheet1!$B$2:$B$4</c:f>
              <c:numCache>
                <c:formatCode>$#,##0,"K"</c:formatCode>
                <c:ptCount val="3"/>
                <c:pt idx="0">
                  <c:v>432000</c:v>
                </c:pt>
                <c:pt idx="1">
                  <c:v>312000</c:v>
                </c:pt>
                <c:pt idx="2">
                  <c:v>520000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</c:v>
                </c:pt>
              </c:strCache>
            </c:strRef>
          </c:tx>
          <c:spPr>
            <a:solidFill>
              <a:srgbClr val="F4A261"/>
            </a:solidFill>
          </c:spPr>
          <c:cat>
            <c:strRef>
              <c:f>Sheet1!$A$2:$A$4</c:f>
              <c:strCache>
                <c:ptCount val="3"/>
                <c:pt idx="0">
                  <c:v>North</c:v>
                </c:pt>
                <c:pt idx="1">
                  <c:v>South</c:v>
                </c:pt>
                <c:pt idx="2">
                  <c:v>West</c:v>
                </c:pt>
              </c:strCache>
            </c:strRef>
          </c:cat>
          <c:val>
            <c:numRef>
              <c:f>Sheet1!$C$2:$C$4</c:f>
              <c:numCache>
                <c:formatCode>$#,##0,"K"</c:formatCode>
                <c:ptCount val="3"/>
                <c:pt idx="0">
                  <c:v>283000</c:v>
                </c:pt>
                <c:pt idx="1">
                  <c:v>176000</c:v>
                </c:pt>
                <c:pt idx="2">
                  <c:v>355000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F1F4F8"/>
              </a:solidFill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300" b="1">
                <a:solidFill>
                  <a:srgbClr val="123C69"/>
                </a:solidFill>
              </a:rPr>
              <a:t>Units sold by product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Units</c:v>
                </c:pt>
              </c:strCache>
            </c:strRef>
          </c:tx>
          <c:dPt>
            <c:idx val="0"/>
            <c:spPr>
              <a:solidFill>
                <a:srgbClr val="123C69"/>
              </a:solidFill>
            </c:spPr>
          </c:dPt>
          <c:dPt>
            <c:idx val="1"/>
            <c:spPr>
              <a:solidFill>
                <a:srgbClr val="F4A261"/>
              </a:solidFill>
            </c:spPr>
          </c:dPt>
          <c:cat>
            <c:strRef>
              <c:f>Sheet1!$A$2:$A$3</c:f>
              <c:strCache>
                <c:ptCount val="2"/>
                <c:pt idx="0">
                  <c:v>Core</c:v>
                </c:pt>
                <c:pt idx="1">
                  <c:v>Pro</c:v>
                </c:pt>
              </c:strCache>
            </c:strRef>
          </c:cat>
          <c:val>
            <c:numRef>
              <c:f>Sheet1!$B$2:$B$3</c:f>
              <c:numCache>
                <c:formatCode>0%</c:formatCode>
                <c:ptCount val="2"/>
                <c:pt idx="0">
                  <c:v>8215</c:v>
                </c:pt>
                <c:pt idx="1">
                  <c:v>2758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1"/>
          <c:showBubbleSize val="0"/>
          <c:showLeaderLines val="1"/>
        </c:dLbls>
      </c:pieChart>
    </c:plotArea>
    <c:legend>
      <c:legendPos/>
      <c:overlay val="0"/>
    </c:legend>
    <c:dispBlanksAs val="gap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23C69"/>
                </a:solidFill>
              </a:rPr>
              <a:t>Quarterly revenue, West vs. North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North</c:v>
                </c:pt>
              </c:strCache>
            </c:strRef>
          </c:tx>
          <c:spPr>
            <a:ln w="28575">
              <a:solidFill>
                <a:srgbClr val="123C69"/>
              </a:solidFill>
            </a:ln>
          </c:spPr>
          <c:marker>
            <c:spPr>
              <a:solidFill>
                <a:srgbClr val="123C69"/>
              </a:solidFill>
              <a:ln>
                <a:solidFill>
                  <a:srgbClr val="123C69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$#,##0,"K"</c:formatCode>
                <c:ptCount val="4"/>
                <c:pt idx="0">
                  <c:v>159000</c:v>
                </c:pt>
                <c:pt idx="1">
                  <c:v>170000</c:v>
                </c:pt>
                <c:pt idx="2">
                  <c:v>181000</c:v>
                </c:pt>
                <c:pt idx="3">
                  <c:v>205000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West</c:v>
                </c:pt>
              </c:strCache>
            </c:strRef>
          </c:tx>
          <c:spPr>
            <a:ln w="28575">
              <a:solidFill>
                <a:srgbClr val="F4A261"/>
              </a:solidFill>
            </a:ln>
          </c:spPr>
          <c:marker>
            <c:spPr>
              <a:solidFill>
                <a:srgbClr val="F4A261"/>
              </a:solidFill>
              <a:ln>
                <a:solidFill>
                  <a:srgbClr val="F4A261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$#,##0,"K"</c:formatCode>
                <c:ptCount val="4"/>
                <c:pt idx="0">
                  <c:v>198000</c:v>
                </c:pt>
                <c:pt idx="1">
                  <c:v>210000</c:v>
                </c:pt>
                <c:pt idx="2">
                  <c:v>221000</c:v>
                </c:pt>
                <c:pt idx="3">
                  <c:v>246000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F1F4F8"/>
              </a:solidFill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300" b="1">
                <a:solidFill>
                  <a:srgbClr val="123C69"/>
                </a:solidFill>
              </a:rPr>
              <a:t>Channel mix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dPt>
            <c:idx val="0"/>
            <c:spPr>
              <a:solidFill>
                <a:srgbClr val="123C69"/>
              </a:solidFill>
            </c:spPr>
          </c:dPt>
          <c:dPt>
            <c:idx val="1"/>
            <c:spPr>
              <a:solidFill>
                <a:srgbClr val="F4A261"/>
              </a:solidFill>
            </c:spPr>
          </c:dPt>
          <c:dPt>
            <c:idx val="2"/>
            <c:spPr>
              <a:solidFill>
                <a:srgbClr val="2A9D8F"/>
              </a:solidFill>
            </c:spPr>
          </c:dPt>
          <c:dPt>
            <c:idx val="3"/>
            <c:spPr>
              <a:solidFill>
                <a:srgbClr val="8ECAE6"/>
              </a:solidFill>
            </c:spPr>
          </c:dPt>
          <c:cat>
            <c:strRef>
              <c:f>Sheet1!$A$2:$A$5</c:f>
              <c:strCache>
                <c:ptCount val="4"/>
                <c:pt idx="0">
                  <c:v>Direct</c:v>
                </c:pt>
                <c:pt idx="1">
                  <c:v>Partners</c:v>
                </c:pt>
                <c:pt idx="2">
                  <c:v>Online</c:v>
                </c:pt>
                <c:pt idx="3">
                  <c:v>Marketplace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0.42</c:v>
                </c:pt>
                <c:pt idx="1">
                  <c:v>0.27</c:v>
                </c:pt>
                <c:pt idx="2">
                  <c:v>0.21</c:v>
                </c:pt>
                <c:pt idx="3">
                  <c:v>0.1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300" b="1">
                <a:solidFill>
                  <a:srgbClr val="123C69"/>
                </a:solidFill>
              </a:rPr>
              <a:t>Spend vs. revenue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Online</c:v>
                </c:pt>
              </c:strCache>
            </c:strRef>
          </c:tx>
          <c:spPr>
            <a:ln w="28575">
              <a:noFill/>
            </a:ln>
          </c:spPr>
          <c:marker>
            <c:size val="10"/>
            <c:spPr>
              <a:solidFill>
                <a:srgbClr val="123C69"/>
              </a:solidFill>
              <a:ln>
                <a:solidFill>
                  <a:srgbClr val="123C69"/>
                </a:solidFill>
              </a:ln>
            </c:spPr>
          </c:marker>
          <c:xVal>
            <c:numRef>
              <c:f>Sheet1!$A$2:$A$4</c:f>
              <c:numCache>
                <c:formatCode>$#,##0,"K"</c:formatCode>
                <c:ptCount val="3"/>
                <c:pt idx="0">
                  <c:v>42000</c:v>
                </c:pt>
                <c:pt idx="1">
                  <c:v>88000</c:v>
                </c:pt>
                <c:pt idx="2">
                  <c:v>23000</c:v>
                </c:pt>
              </c:numCache>
            </c:numRef>
          </c:xVal>
          <c:yVal>
            <c:numRef>
              <c:f>Sheet1!$B$2:$B$4</c:f>
              <c:numCache>
                <c:formatCode>$#,##0,"K"</c:formatCode>
                <c:ptCount val="3"/>
                <c:pt idx="0">
                  <c:v>168000</c:v>
                </c:pt>
                <c:pt idx="1">
                  <c:v>352000</c:v>
                </c:pt>
                <c:pt idx="2">
                  <c:v>131000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Sheet1!$B$6</c:f>
              <c:strCache>
                <c:ptCount val="1"/>
                <c:pt idx="0">
                  <c:v>Partners</c:v>
                </c:pt>
              </c:strCache>
            </c:strRef>
          </c:tx>
          <c:spPr>
            <a:ln w="28575">
              <a:noFill/>
            </a:ln>
          </c:spPr>
          <c:marker>
            <c:size val="10"/>
            <c:spPr>
              <a:solidFill>
                <a:srgbClr val="F4A261"/>
              </a:solidFill>
              <a:ln>
                <a:solidFill>
                  <a:srgbClr val="F4A261"/>
                </a:solidFill>
              </a:ln>
            </c:spPr>
          </c:marker>
          <c:xVal>
            <c:numRef>
              <c:f>Sheet1!$A$7:$A$7</c:f>
              <c:numCache>
                <c:formatCode>$#,##0,"K"</c:formatCode>
                <c:ptCount val="1"/>
                <c:pt idx="0">
                  <c:v>65000</c:v>
                </c:pt>
              </c:numCache>
            </c:numRef>
          </c:xVal>
          <c:yVal>
            <c:numRef>
              <c:f>Sheet1!$B$7:$B$7</c:f>
              <c:numCache>
                <c:formatCode>$#,##0,"K"</c:formatCode>
                <c:ptCount val="1"/>
                <c:pt idx="0">
                  <c:v>201000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Sheet1!$B$9</c:f>
              <c:strCache>
                <c:ptCount val="1"/>
                <c:pt idx="0">
                  <c:v>Direct</c:v>
                </c:pt>
              </c:strCache>
            </c:strRef>
          </c:tx>
          <c:spPr>
            <a:ln w="28575">
              <a:noFill/>
            </a:ln>
          </c:spPr>
          <c:marker>
            <c:size val="10"/>
            <c:spPr>
              <a:solidFill>
                <a:srgbClr val="2A9D8F"/>
              </a:solidFill>
              <a:ln>
                <a:solidFill>
                  <a:srgbClr val="2A9D8F"/>
                </a:solidFill>
              </a:ln>
            </c:spPr>
          </c:marker>
          <c:xVal>
            <c:numRef>
              <c:f>Sheet1!$A$10:$A$12</c:f>
              <c:numCache>
                <c:formatCode>$#,##0,"K"</c:formatCode>
                <c:ptCount val="3"/>
                <c:pt idx="0">
                  <c:v>18000</c:v>
                </c:pt>
                <c:pt idx="1">
                  <c:v>54000</c:v>
                </c:pt>
                <c:pt idx="2">
                  <c:v>15000</c:v>
                </c:pt>
              </c:numCache>
            </c:numRef>
          </c:xVal>
          <c:yVal>
            <c:numRef>
              <c:f>Sheet1!$B$10:$B$12</c:f>
              <c:numCache>
                <c:formatCode>$#,##0,"K"</c:formatCode>
                <c:ptCount val="3"/>
                <c:pt idx="0">
                  <c:v>97000</c:v>
                </c:pt>
                <c:pt idx="1">
                  <c:v>121000</c:v>
                </c:pt>
                <c:pt idx="2">
                  <c:v>112000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Sheet1!$B$14</c:f>
              <c:strCache>
                <c:ptCount val="1"/>
                <c:pt idx="0">
                  <c:v>Marketplace</c:v>
                </c:pt>
              </c:strCache>
            </c:strRef>
          </c:tx>
          <c:spPr>
            <a:ln w="28575">
              <a:noFill/>
            </a:ln>
          </c:spPr>
          <c:marker>
            <c:size val="10"/>
            <c:spPr>
              <a:solidFill>
                <a:srgbClr val="8ECAE6"/>
              </a:solidFill>
              <a:ln>
                <a:solidFill>
                  <a:srgbClr val="8ECAE6"/>
                </a:solidFill>
              </a:ln>
            </c:spPr>
          </c:marker>
          <c:xVal>
            <c:numRef>
              <c:f>Sheet1!$A$15:$A$15</c:f>
              <c:numCache>
                <c:formatCode>$#,##0,"K"</c:formatCode>
                <c:ptCount val="1"/>
                <c:pt idx="0">
                  <c:v>37000</c:v>
                </c:pt>
              </c:numCache>
            </c:numRef>
          </c:xVal>
          <c:yVal>
            <c:numRef>
              <c:f>Sheet1!$B$15:$B$15</c:f>
              <c:numCache>
                <c:formatCode>$#,##0,"K"</c:formatCode>
                <c:ptCount val="1"/>
                <c:pt idx="0">
                  <c:v>94000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>
          <c:spPr>
            <a:ln>
              <a:solidFill>
                <a:srgbClr val="F1F4F8"/>
              </a:solidFill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128940872"/>
        <c:crosses val="autoZero"/>
        <c:crossBetween val="midCat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23C69"/>
                </a:solidFill>
              </a:rPr>
              <a:t>CSAT by region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North</c:v>
                </c:pt>
              </c:strCache>
            </c:strRef>
          </c:tx>
          <c:spPr>
            <a:ln w="28575">
              <a:solidFill>
                <a:srgbClr val="123C69"/>
              </a:solidFill>
            </a:ln>
          </c:spPr>
          <c:marker>
            <c:spPr>
              <a:solidFill>
                <a:srgbClr val="123C69"/>
              </a:solidFill>
              <a:ln>
                <a:solidFill>
                  <a:srgbClr val="123C69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0%</c:formatCode>
                <c:ptCount val="6"/>
                <c:pt idx="0">
                  <c:v>0.86</c:v>
                </c:pt>
                <c:pt idx="1">
                  <c:v>0.87</c:v>
                </c:pt>
                <c:pt idx="2">
                  <c:v>0.88</c:v>
                </c:pt>
                <c:pt idx="3">
                  <c:v>0.9</c:v>
                </c:pt>
                <c:pt idx="4">
                  <c:v>0.91</c:v>
                </c:pt>
                <c:pt idx="5">
                  <c:v>0.92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South</c:v>
                </c:pt>
              </c:strCache>
            </c:strRef>
          </c:tx>
          <c:spPr>
            <a:ln w="28575">
              <a:solidFill>
                <a:srgbClr val="F4A261"/>
              </a:solidFill>
            </a:ln>
          </c:spPr>
          <c:marker>
            <c:spPr>
              <a:solidFill>
                <a:srgbClr val="F4A261"/>
              </a:solidFill>
              <a:ln>
                <a:solidFill>
                  <a:srgbClr val="F4A261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0%</c:formatCode>
                <c:ptCount val="6"/>
                <c:pt idx="0">
                  <c:v>0.88</c:v>
                </c:pt>
                <c:pt idx="1">
                  <c:v>0.89</c:v>
                </c:pt>
                <c:pt idx="2">
                  <c:v>0.9</c:v>
                </c:pt>
                <c:pt idx="3">
                  <c:v>0.91</c:v>
                </c:pt>
                <c:pt idx="4">
                  <c:v>0.92</c:v>
                </c:pt>
                <c:pt idx="5">
                  <c:v>0.93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West</c:v>
                </c:pt>
              </c:strCache>
            </c:strRef>
          </c:tx>
          <c:spPr>
            <a:ln w="28575">
              <a:solidFill>
                <a:srgbClr val="2A9D8F"/>
              </a:solidFill>
            </a:ln>
          </c:spPr>
          <c:marker>
            <c:spPr>
              <a:solidFill>
                <a:srgbClr val="2A9D8F"/>
              </a:solidFill>
              <a:ln>
                <a:solidFill>
                  <a:srgbClr val="2A9D8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0%</c:formatCode>
                <c:ptCount val="6"/>
                <c:pt idx="0">
                  <c:v>0.9</c:v>
                </c:pt>
                <c:pt idx="1">
                  <c:v>0.91</c:v>
                </c:pt>
                <c:pt idx="2">
                  <c:v>0.92</c:v>
                </c:pt>
                <c:pt idx="3">
                  <c:v>0.93</c:v>
                </c:pt>
                <c:pt idx="4">
                  <c:v>0.94</c:v>
                </c:pt>
                <c:pt idx="5">
                  <c:v>0.95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F1F4F8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t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23C69"/>
                </a:solidFill>
              </a:rPr>
              <a:t>Avg. first response time by region (lower is better)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First Response Hours</c:v>
                </c:pt>
              </c:strCache>
            </c:strRef>
          </c:tx>
          <c:spPr>
            <a:solidFill>
              <a:srgbClr val="123C69"/>
            </a:solidFill>
          </c:spPr>
          <c:cat>
            <c:strRef>
              <c:f>Sheet1!$A$2:$A$4</c:f>
              <c:strCache>
                <c:ptCount val="3"/>
                <c:pt idx="0">
                  <c:v>West</c:v>
                </c:pt>
                <c:pt idx="1">
                  <c:v>South</c:v>
                </c:pt>
                <c:pt idx="2">
                  <c:v>North</c:v>
                </c:pt>
              </c:strCache>
            </c:strRef>
          </c:cat>
          <c:val>
            <c:numRef>
              <c:f>Sheet1!$B$2:$B$4</c:f>
              <c:numCache>
                <c:formatCode>0.0"h"</c:formatCode>
                <c:ptCount val="3"/>
                <c:pt idx="0">
                  <c:v>2.85</c:v>
                </c:pt>
                <c:pt idx="1">
                  <c:v>3.1833333333333336</c:v>
                </c:pt>
                <c:pt idx="2">
                  <c:v>3.5500000000000003</c:v>
                </c:pt>
              </c:numCache>
            </c:numRef>
          </c:val>
        </c:ser>
        <c:dLbls>
          <c:numFmt formatCode="0.0&quot;h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numFmt formatCode="0.0&quot;h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300" b="1">
                <a:solidFill>
                  <a:srgbClr val="123C69"/>
                </a:solidFill>
              </a:rPr>
              <a:t>Ticket reasons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dPt>
            <c:idx val="0"/>
            <c:spPr>
              <a:solidFill>
                <a:srgbClr val="123C69"/>
              </a:solidFill>
            </c:spPr>
          </c:dPt>
          <c:dPt>
            <c:idx val="1"/>
            <c:spPr>
              <a:solidFill>
                <a:srgbClr val="F4A261"/>
              </a:solidFill>
            </c:spPr>
          </c:dPt>
          <c:dPt>
            <c:idx val="2"/>
            <c:spPr>
              <a:solidFill>
                <a:srgbClr val="2A9D8F"/>
              </a:solidFill>
            </c:spPr>
          </c:dPt>
          <c:dPt>
            <c:idx val="3"/>
            <c:spPr>
              <a:solidFill>
                <a:srgbClr val="8ECAE6"/>
              </a:solidFill>
            </c:spPr>
          </c:dPt>
          <c:cat>
            <c:strRef>
              <c:f>Sheet1!$A$2:$A$5</c:f>
              <c:strCache>
                <c:ptCount val="4"/>
                <c:pt idx="0">
                  <c:v>Billing</c:v>
                </c:pt>
                <c:pt idx="1">
                  <c:v>Technical</c:v>
                </c:pt>
                <c:pt idx="2">
                  <c:v>Onboarding</c:v>
                </c:pt>
                <c:pt idx="3">
                  <c:v>Other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0.35</c:v>
                </c:pt>
                <c:pt idx="1">
                  <c:v>0.3</c:v>
                </c:pt>
                <c:pt idx="2">
                  <c:v>0.2</c:v>
                </c:pt>
                <c:pt idx="3">
                  <c:v>0.15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1"/>
          <c:showBubbleSize val="0"/>
          <c:showLeaderLines val="1"/>
        </c:dLbls>
      </c:pieChart>
    </c:plotArea>
    <c:legend>
      <c:legendPos/>
      <c:overlay val="0"/>
    </c:legend>
    <c:dispBlanksAs val="gap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23C69"/>
                </a:solidFill>
              </a:rPr>
              <a:t>Where the team's time goes</a:t>
            </a:r>
          </a:p>
        </c:rich>
      </c:tx>
      <c:layout/>
      <c:overlay val="0"/>
    </c:title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Tickets</c:v>
                </c:pt>
              </c:strCache>
            </c:strRef>
          </c:tx>
          <c:spPr>
            <a:solidFill>
              <a:srgbClr val="123C69"/>
            </a:solidFill>
          </c:spPr>
          <c:cat>
            <c:strRef>
              <c:f>Sheet1!$A$2:$A$4</c:f>
              <c:strCache>
                <c:ptCount val="3"/>
                <c:pt idx="0">
                  <c:v>Support</c:v>
                </c:pt>
                <c:pt idx="1">
                  <c:v>Success</c:v>
                </c:pt>
                <c:pt idx="2">
                  <c:v>Ops</c:v>
                </c:pt>
              </c:strCache>
            </c:strRef>
          </c:cat>
          <c:val>
            <c:numRef>
              <c:f>Sheet1!$B$2:$B$4</c:f>
              <c:numCache>
                <c:formatCode>#,##0</c:formatCode>
                <c:ptCount val="3"/>
                <c:pt idx="0">
                  <c:v>420</c:v>
                </c:pt>
                <c:pt idx="1">
                  <c:v>260</c:v>
                </c:pt>
                <c:pt idx="2">
                  <c:v>180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Follow-ups</c:v>
                </c:pt>
              </c:strCache>
            </c:strRef>
          </c:tx>
          <c:spPr>
            <a:solidFill>
              <a:srgbClr val="F4A261"/>
            </a:solidFill>
          </c:spPr>
          <c:cat>
            <c:strRef>
              <c:f>Sheet1!$A$2:$A$4</c:f>
              <c:strCache>
                <c:ptCount val="3"/>
                <c:pt idx="0">
                  <c:v>Support</c:v>
                </c:pt>
                <c:pt idx="1">
                  <c:v>Success</c:v>
                </c:pt>
                <c:pt idx="2">
                  <c:v>Ops</c:v>
                </c:pt>
              </c:strCache>
            </c:strRef>
          </c:cat>
          <c:val>
            <c:numRef>
              <c:f>Sheet1!$C$2:$C$4</c:f>
              <c:numCache>
                <c:formatCode>#,##0</c:formatCode>
                <c:ptCount val="3"/>
                <c:pt idx="0">
                  <c:v>140</c:v>
                </c:pt>
                <c:pt idx="1">
                  <c:v>210</c:v>
                </c:pt>
                <c:pt idx="2">
                  <c:v>90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Escalations</c:v>
                </c:pt>
              </c:strCache>
            </c:strRef>
          </c:tx>
          <c:spPr>
            <a:solidFill>
              <a:srgbClr val="2A9D8F"/>
            </a:solidFill>
          </c:spPr>
          <c:cat>
            <c:strRef>
              <c:f>Sheet1!$A$2:$A$4</c:f>
              <c:strCache>
                <c:ptCount val="3"/>
                <c:pt idx="0">
                  <c:v>Support</c:v>
                </c:pt>
                <c:pt idx="1">
                  <c:v>Success</c:v>
                </c:pt>
                <c:pt idx="2">
                  <c:v>Ops</c:v>
                </c:pt>
              </c:strCache>
            </c:strRef>
          </c:cat>
          <c:val>
            <c:numRef>
              <c:f>Sheet1!$D$2:$D$4</c:f>
              <c:numCache>
                <c:formatCode>#,##0</c:formatCode>
                <c:ptCount val="3"/>
                <c:pt idx="0">
                  <c:v>30</c:v>
                </c:pt>
                <c:pt idx="1">
                  <c:v>45</c:v>
                </c:pt>
                <c:pt idx="2">
                  <c:v>70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F1F4F8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KPI row mixes four different aggregations off two data sources — sum, count, max and growth — computed straight from the CSVs, no pre-calculated numbers in the YAML.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Holiday Blitz alone returned four times what it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3C6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46120"/>
            <a:ext cx="1097280" cy="73152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178308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FY2026 Growth &amp; Customer Experience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77295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000">
                <a:solidFill>
                  <a:srgbClr val="D0D7E1"/>
                </a:solidFill>
                <a:latin typeface="Calibri"/>
              </a:rPr>
              <a:t>Revenue, regions, campaigns and support — all generated from one YAML 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68580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23C69"/>
                </a:solidFill>
                <a:latin typeface="Calibri"/>
              </a:rPr>
              <a:t>Revenue grew every quarter, on the back of more campaigns, not fewer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>
                <a:solidFill>
                  <a:srgbClr val="6C757D"/>
                </a:solidFill>
                <a:latin typeface="Calibri"/>
              </a:rPr>
              <a:t>Full-year performance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3628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6C757D"/>
                </a:solidFill>
                <a:latin typeface="Calibri"/>
              </a:rPr>
              <a:t>Source: monthly_sales.csv, campaigns.csv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2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2984601"/>
          <a:ext cx="7335316" cy="332475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8066836" y="2984601"/>
            <a:ext cx="3667658" cy="3324758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66836" y="2984601"/>
            <a:ext cx="73152" cy="3324758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41156" y="3167481"/>
            <a:ext cx="3210458" cy="295899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123C69"/>
                </a:solidFill>
                <a:latin typeface="Calibri"/>
              </a:rPr>
              <a:t>Signal</a:t>
            </a:r>
          </a:p>
          <a:p>
            <a:pPr marL="256032" indent="-256032">
              <a:spcAft>
                <a:spcPts val="1000"/>
              </a:spcAft>
              <a:buClr>
                <a:srgbClr val="F4A261"/>
              </a:buClr>
              <a:buChar char="•"/>
            </a:pPr>
            <a:r>
              <a:rPr sz="1500">
                <a:solidFill>
                  <a:srgbClr val="2B2D42"/>
                </a:solidFill>
                <a:latin typeface="Calibri"/>
              </a:rPr>
              <a:t>Revenue cleared target in </a:t>
            </a:r>
            <a:r>
              <a:rPr sz="1500" b="1">
                <a:solidFill>
                  <a:srgbClr val="F4A261"/>
                </a:solidFill>
                <a:latin typeface="Calibri"/>
              </a:rPr>
              <a:t>11 of 12</a:t>
            </a:r>
            <a:r>
              <a:rPr sz="1500">
                <a:solidFill>
                  <a:srgbClr val="2B2D42"/>
                </a:solidFill>
                <a:latin typeface="Calibri"/>
              </a:rPr>
              <a:t> months</a:t>
            </a:r>
          </a:p>
          <a:p>
            <a:pPr marL="256032" indent="-256032">
              <a:spcAft>
                <a:spcPts val="1000"/>
              </a:spcAft>
              <a:buClr>
                <a:srgbClr val="F4A261"/>
              </a:buClr>
              <a:buChar char="•"/>
            </a:pPr>
            <a:r>
              <a:rPr sz="1500">
                <a:solidFill>
                  <a:srgbClr val="2B2D42"/>
                </a:solidFill>
                <a:latin typeface="Calibri"/>
              </a:rPr>
              <a:t>December alone closed at </a:t>
            </a:r>
            <a:r>
              <a:rPr sz="1500" b="1">
                <a:solidFill>
                  <a:srgbClr val="F4A261"/>
                </a:solidFill>
                <a:latin typeface="Calibri"/>
              </a:rPr>
              <a:t>$276K</a:t>
            </a:r>
            <a:r>
              <a:rPr sz="1500">
                <a:solidFill>
                  <a:srgbClr val="2B2D42"/>
                </a:solidFill>
                <a:latin typeface="Calibri"/>
              </a:rPr>
              <a:t>, the year's peak</a:t>
            </a:r>
          </a:p>
          <a:p>
            <a:pPr marL="256032" indent="-256032">
              <a:spcAft>
                <a:spcPts val="1000"/>
              </a:spcAft>
              <a:buClr>
                <a:srgbClr val="F4A261"/>
              </a:buClr>
              <a:buChar char="•"/>
            </a:pPr>
            <a:r>
              <a:rPr sz="1500">
                <a:solidFill>
                  <a:srgbClr val="2B2D42"/>
                </a:solidFill>
                <a:latin typeface="Calibri"/>
              </a:rPr>
              <a:t>Growth came from </a:t>
            </a:r>
            <a:r>
              <a:rPr sz="1500" b="1">
                <a:solidFill>
                  <a:srgbClr val="F4A261"/>
                </a:solidFill>
                <a:latin typeface="Calibri"/>
              </a:rPr>
              <a:t>more campaigns</a:t>
            </a:r>
            <a:r>
              <a:rPr sz="1500">
                <a:solidFill>
                  <a:srgbClr val="2B2D42"/>
                </a:solidFill>
                <a:latin typeface="Calibri"/>
              </a:rPr>
              <a:t>, not bigger average spend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417320"/>
            <a:ext cx="2647873" cy="1292961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08760"/>
            <a:ext cx="2282113" cy="1110081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Total revenue</a:t>
            </a:r>
          </a:p>
          <a:p>
            <a:r>
              <a:rPr sz="3000" b="1">
                <a:solidFill>
                  <a:srgbClr val="123C69"/>
                </a:solidFill>
                <a:latin typeface="Calibri"/>
              </a:rPr>
              <a:t>$2,646,800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3673" y="1417320"/>
            <a:ext cx="2647873" cy="1292961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6553" y="1508760"/>
            <a:ext cx="2282113" cy="1110081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Campaigns run</a:t>
            </a:r>
          </a:p>
          <a:p>
            <a:r>
              <a:rPr sz="3000" b="1">
                <a:solidFill>
                  <a:srgbClr val="123C69"/>
                </a:solidFill>
                <a:latin typeface="Calibri"/>
              </a:rPr>
              <a:t>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147" y="1417320"/>
            <a:ext cx="2647873" cy="1292961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3027" y="1508760"/>
            <a:ext cx="2282113" cy="1110081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Best single month</a:t>
            </a:r>
          </a:p>
          <a:p>
            <a:r>
              <a:rPr sz="3000" b="1">
                <a:solidFill>
                  <a:srgbClr val="123C69"/>
                </a:solidFill>
                <a:latin typeface="Calibri"/>
              </a:rPr>
              <a:t>$276,400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86621" y="1417320"/>
            <a:ext cx="2647873" cy="1292961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69501" y="1508760"/>
            <a:ext cx="2282113" cy="1110081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Revenue growth Jan → Dec</a:t>
            </a:r>
          </a:p>
          <a:p>
            <a:r>
              <a:rPr sz="3000" b="1">
                <a:solidFill>
                  <a:srgbClr val="123C69"/>
                </a:solidFill>
                <a:latin typeface="Calibri"/>
              </a:rPr>
              <a:t>52%</a:t>
            </a:r>
          </a:p>
          <a:p>
            <a:r>
              <a:rPr sz="1200">
                <a:solidFill>
                  <a:srgbClr val="2A9D8F"/>
                </a:solidFill>
                <a:latin typeface="Calibri"/>
              </a:rPr>
              <a:t>▲ 6 pts  vs. plan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46120"/>
            <a:ext cx="1097280" cy="73152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178308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4000" b="1">
                <a:solidFill>
                  <a:srgbClr val="123C69"/>
                </a:solidFill>
                <a:latin typeface="Calibri"/>
              </a:rPr>
              <a:t>Regional &amp; product performance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68580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23C69"/>
                </a:solidFill>
                <a:latin typeface="Calibri"/>
              </a:rPr>
              <a:t>Pro is gaining share everywhere, fastest in the West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103628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6C757D"/>
                </a:solidFill>
                <a:latin typeface="Calibri"/>
              </a:rPr>
              <a:t>Source: sales_by_region.csv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4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417320"/>
          <a:ext cx="3576218" cy="369417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307738" y="1417320"/>
          <a:ext cx="3576218" cy="369417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158276" y="1417320"/>
          <a:ext cx="3576218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4054"/>
                <a:gridCol w="894054"/>
                <a:gridCol w="894054"/>
                <a:gridCol w="894056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1F4F8"/>
                          </a:solidFill>
                          <a:latin typeface="Calibri"/>
                        </a:rPr>
                        <a:t>Region</a:t>
                      </a:r>
                    </a:p>
                  </a:txBody>
                  <a:tcPr anchor="ctr" marL="91440" marR="91440">
                    <a:solidFill>
                      <a:srgbClr val="123C6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1F4F8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 anchor="ctr" marL="91440" marR="91440">
                    <a:solidFill>
                      <a:srgbClr val="123C6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1F4F8"/>
                          </a:solidFill>
                          <a:latin typeface="Calibri"/>
                        </a:rPr>
                        <a:t>Revenue</a:t>
                      </a:r>
                    </a:p>
                  </a:txBody>
                  <a:tcPr anchor="ctr" marL="91440" marR="91440">
                    <a:solidFill>
                      <a:srgbClr val="123C6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1F4F8"/>
                          </a:solidFill>
                          <a:latin typeface="Calibri"/>
                        </a:rPr>
                        <a:t>Units</a:t>
                      </a:r>
                    </a:p>
                  </a:txBody>
                  <a:tcPr anchor="ctr" marL="91440" marR="91440">
                    <a:solidFill>
                      <a:srgbClr val="123C6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B2D42"/>
                          </a:solidFill>
                          <a:latin typeface="Calibri"/>
                        </a:rPr>
                        <a:t>West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B2D42"/>
                          </a:solidFill>
                          <a:latin typeface="Calibri"/>
                        </a:rPr>
                        <a:t>Core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2B2D42"/>
                          </a:solidFill>
                          <a:latin typeface="Calibri"/>
                        </a:rPr>
                        <a:t>$142,000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2B2D42"/>
                          </a:solidFill>
                          <a:latin typeface="Calibri"/>
                        </a:rPr>
                        <a:t>915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B2D42"/>
                          </a:solidFill>
                          <a:latin typeface="Calibri"/>
                        </a:rPr>
                        <a:t>North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B2D42"/>
                          </a:solidFill>
                          <a:latin typeface="Calibri"/>
                        </a:rPr>
                        <a:t>Core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2B2D42"/>
                          </a:solidFill>
                          <a:latin typeface="Calibri"/>
                        </a:rPr>
                        <a:t>$121,000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2B2D42"/>
                          </a:solidFill>
                          <a:latin typeface="Calibri"/>
                        </a:rPr>
                        <a:t>770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West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Pro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$104,000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349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South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Core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$86,000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560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North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Pro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$84,000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281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South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Pro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$52,000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176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5385816"/>
            <a:ext cx="11277295" cy="923544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5385816"/>
            <a:ext cx="73152" cy="923544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568696"/>
            <a:ext cx="10820095" cy="557784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marL="256032" indent="-256032">
              <a:spcAft>
                <a:spcPts val="1000"/>
              </a:spcAft>
              <a:buClr>
                <a:srgbClr val="F4A261"/>
              </a:buClr>
              <a:buChar char="•"/>
            </a:pPr>
            <a:r>
              <a:rPr sz="1500" b="1">
                <a:solidFill>
                  <a:srgbClr val="F4A261"/>
                </a:solidFill>
                <a:latin typeface="Calibri"/>
              </a:rPr>
              <a:t>Q4 snapshot:</a:t>
            </a:r>
            <a:r>
              <a:rPr sz="1500">
                <a:solidFill>
                  <a:srgbClr val="2B2D42"/>
                </a:solidFill>
                <a:latin typeface="Calibri"/>
              </a:rPr>
              <a:t> West Core alone outsold South's entire product line.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68580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23C69"/>
                </a:solidFill>
                <a:latin typeface="Calibri"/>
              </a:rPr>
              <a:t>West overtook North on the strength of Q3 and Q4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103628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6C757D"/>
                </a:solidFill>
                <a:latin typeface="Calibri"/>
              </a:rPr>
              <a:t>Source: sales_by_region.csv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5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417320"/>
          <a:ext cx="6771061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502581" y="1417320"/>
            <a:ext cx="4231913" cy="4892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marL="256032" indent="-256032">
              <a:spcAft>
                <a:spcPts val="1000"/>
              </a:spcAft>
              <a:buClr>
                <a:srgbClr val="F4A261"/>
              </a:buClr>
              <a:buAutoNum type="arabicPeriod"/>
            </a:pPr>
            <a:r>
              <a:rPr sz="1500">
                <a:solidFill>
                  <a:srgbClr val="2B2D42"/>
                </a:solidFill>
                <a:latin typeface="Calibri"/>
              </a:rPr>
              <a:t>West and North traded the lead through Q1 and Q2</a:t>
            </a:r>
          </a:p>
          <a:p>
            <a:pPr marL="256032" indent="-256032">
              <a:spcAft>
                <a:spcPts val="1000"/>
              </a:spcAft>
              <a:buClr>
                <a:srgbClr val="F4A261"/>
              </a:buClr>
              <a:buAutoNum type="arabicPeriod"/>
            </a:pPr>
            <a:r>
              <a:rPr sz="1500">
                <a:solidFill>
                  <a:srgbClr val="2B2D42"/>
                </a:solidFill>
                <a:latin typeface="Calibri"/>
              </a:rPr>
              <a:t>West pulled ahead from </a:t>
            </a:r>
            <a:r>
              <a:rPr sz="1500" b="1">
                <a:solidFill>
                  <a:srgbClr val="F4A261"/>
                </a:solidFill>
                <a:latin typeface="Calibri"/>
              </a:rPr>
              <a:t>Q3 onward</a:t>
            </a:r>
            <a:r>
              <a:rPr sz="1500">
                <a:solidFill>
                  <a:srgbClr val="2B2D42"/>
                </a:solidFill>
                <a:latin typeface="Calibri"/>
              </a:rPr>
              <a:t> and never looked back</a:t>
            </a:r>
          </a:p>
          <a:p>
            <a:pPr marL="256032" indent="-256032">
              <a:spcAft>
                <a:spcPts val="1000"/>
              </a:spcAft>
              <a:buClr>
                <a:srgbClr val="F4A261"/>
              </a:buClr>
              <a:buAutoNum type="arabicPeriod"/>
            </a:pPr>
            <a:r>
              <a:rPr sz="1500">
                <a:solidFill>
                  <a:srgbClr val="2B2D42"/>
                </a:solidFill>
                <a:latin typeface="Calibri"/>
              </a:rPr>
              <a:t>The gap widened to over </a:t>
            </a:r>
            <a:r>
              <a:rPr sz="1500" b="1">
                <a:solidFill>
                  <a:srgbClr val="F4A261"/>
                </a:solidFill>
                <a:latin typeface="Calibri"/>
              </a:rPr>
              <a:t>$70K</a:t>
            </a:r>
            <a:r>
              <a:rPr sz="1500">
                <a:solidFill>
                  <a:srgbClr val="2B2D42"/>
                </a:solidFill>
                <a:latin typeface="Calibri"/>
              </a:rPr>
              <a:t> by Q4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46120"/>
            <a:ext cx="1097280" cy="73152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178308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4000" b="1">
                <a:solidFill>
                  <a:srgbClr val="123C69"/>
                </a:solidFill>
                <a:latin typeface="Calibri"/>
              </a:rPr>
              <a:t>Campaign &amp; channel efficiency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68580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23C69"/>
                </a:solidFill>
                <a:latin typeface="Calibri"/>
              </a:rPr>
              <a:t>Direct still funds the campaign mix, but online is catching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103628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6C757D"/>
                </a:solidFill>
                <a:latin typeface="Calibri"/>
              </a:rPr>
              <a:t>Source: channel_mix.csv, campaigns.csv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7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417320"/>
          <a:ext cx="5501487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233007" y="1417320"/>
            <a:ext cx="2636443" cy="156972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15887" y="1508760"/>
            <a:ext cx="2270683" cy="1386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Total ad spend</a:t>
            </a:r>
          </a:p>
          <a:p>
            <a:r>
              <a:rPr sz="3000" b="1">
                <a:solidFill>
                  <a:srgbClr val="123C69"/>
                </a:solidFill>
                <a:latin typeface="Calibri"/>
              </a:rPr>
              <a:t>$342,000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98051" y="1417320"/>
            <a:ext cx="2636443" cy="156972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80931" y="1508760"/>
            <a:ext cx="2270683" cy="1386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Total conversions</a:t>
            </a:r>
          </a:p>
          <a:p>
            <a:r>
              <a:rPr sz="3000" b="1">
                <a:solidFill>
                  <a:srgbClr val="123C69"/>
                </a:solidFill>
                <a:latin typeface="Calibri"/>
              </a:rPr>
              <a:t>5,132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3169920"/>
            <a:ext cx="5501487" cy="3139440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33007" y="3169920"/>
            <a:ext cx="73152" cy="313944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07327" y="3352800"/>
            <a:ext cx="5044287" cy="2773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marL="256032" indent="-256032">
              <a:spcAft>
                <a:spcPts val="1000"/>
              </a:spcAft>
              <a:buClr>
                <a:srgbClr val="F4A261"/>
              </a:buClr>
              <a:buChar char="•"/>
            </a:pPr>
            <a:r>
              <a:rPr sz="1500">
                <a:solidFill>
                  <a:srgbClr val="2B2D42"/>
                </a:solidFill>
                <a:latin typeface="Calibri"/>
              </a:rPr>
              <a:t>Partner spend converts at a </a:t>
            </a:r>
            <a:r>
              <a:rPr sz="1500" b="1">
                <a:solidFill>
                  <a:srgbClr val="F4A261"/>
                </a:solidFill>
                <a:latin typeface="Calibri"/>
              </a:rPr>
              <a:t>premium price</a:t>
            </a:r>
            <a:r>
              <a:rPr sz="1500">
                <a:solidFill>
                  <a:srgbClr val="2B2D42"/>
                </a:solidFill>
                <a:latin typeface="Calibri"/>
              </a:rPr>
              <a:t>, but online is catching up on volume</a:t>
            </a:r>
          </a:p>
          <a:p>
            <a:pPr marL="256032" indent="-256032">
              <a:spcAft>
                <a:spcPts val="1000"/>
              </a:spcAft>
              <a:buClr>
                <a:srgbClr val="F4A261"/>
              </a:buClr>
              <a:buChar char="•"/>
            </a:pPr>
            <a:r>
              <a:rPr sz="1500">
                <a:solidFill>
                  <a:srgbClr val="2B2D42"/>
                </a:solidFill>
                <a:latin typeface="Calibri"/>
              </a:rPr>
              <a:t>Marketplace remains the smallest and least efficient channel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68580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23C69"/>
                </a:solidFill>
                <a:latin typeface="Calibri"/>
              </a:rPr>
              <a:t>Online campaigns deliver the best return on spend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103628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6C757D"/>
                </a:solidFill>
                <a:latin typeface="Calibri"/>
              </a:rPr>
              <a:t>Source: campaigns.csv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8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417320"/>
          <a:ext cx="5501487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33007" y="1417320"/>
          <a:ext cx="5501487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0297"/>
                <a:gridCol w="1100297"/>
                <a:gridCol w="1100297"/>
                <a:gridCol w="1100297"/>
                <a:gridCol w="1100299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1F4F8"/>
                          </a:solidFill>
                          <a:latin typeface="Calibri"/>
                        </a:rPr>
                        <a:t>Campaign</a:t>
                      </a:r>
                    </a:p>
                  </a:txBody>
                  <a:tcPr anchor="ctr" marL="91440" marR="91440">
                    <a:solidFill>
                      <a:srgbClr val="123C6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1F4F8"/>
                          </a:solidFill>
                          <a:latin typeface="Calibri"/>
                        </a:rPr>
                        <a:t>Channel</a:t>
                      </a:r>
                    </a:p>
                  </a:txBody>
                  <a:tcPr anchor="ctr" marL="91440" marR="91440">
                    <a:solidFill>
                      <a:srgbClr val="123C6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1F4F8"/>
                          </a:solidFill>
                          <a:latin typeface="Calibri"/>
                        </a:rPr>
                        <a:t>Spend</a:t>
                      </a:r>
                    </a:p>
                  </a:txBody>
                  <a:tcPr anchor="ctr" marL="91440" marR="91440">
                    <a:solidFill>
                      <a:srgbClr val="123C6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1F4F8"/>
                          </a:solidFill>
                          <a:latin typeface="Calibri"/>
                        </a:rPr>
                        <a:t>Revenue</a:t>
                      </a:r>
                    </a:p>
                  </a:txBody>
                  <a:tcPr anchor="ctr" marL="91440" marR="91440">
                    <a:solidFill>
                      <a:srgbClr val="123C6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1F4F8"/>
                          </a:solidFill>
                          <a:latin typeface="Calibri"/>
                        </a:rPr>
                        <a:t>Conversions</a:t>
                      </a:r>
                    </a:p>
                  </a:txBody>
                  <a:tcPr anchor="ctr" marL="91440" marR="91440">
                    <a:solidFill>
                      <a:srgbClr val="123C6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B2D42"/>
                          </a:solidFill>
                          <a:latin typeface="Calibri"/>
                        </a:rPr>
                        <a:t>Holiday Blitz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B2D42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2B2D42"/>
                          </a:solidFill>
                          <a:latin typeface="Calibri"/>
                        </a:rPr>
                        <a:t>$88,000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2B2D42"/>
                          </a:solidFill>
                          <a:latin typeface="Calibri"/>
                        </a:rPr>
                        <a:t>$352,000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2B2D42"/>
                          </a:solidFill>
                          <a:latin typeface="Calibri"/>
                        </a:rPr>
                        <a:t>1,540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Partner Push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Partners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$65,000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$201,000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640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Spring Promo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$42,000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$168,000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812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Retargeting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$23,000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$131,000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690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Trade Show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$54,000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$121,000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210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Loyalty Upsell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$15,000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$112,000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420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46120"/>
            <a:ext cx="1097280" cy="73152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178308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4000" b="1">
                <a:solidFill>
                  <a:srgbClr val="123C69"/>
                </a:solidFill>
                <a:latin typeface="Calibri"/>
              </a:rPr>
              <a:t>Customer experience operations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68580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23C69"/>
                </a:solidFill>
                <a:latin typeface="Calibri"/>
              </a:rPr>
              <a:t>Support got faster and happier customers noticed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>
                <a:solidFill>
                  <a:srgbClr val="6C757D"/>
                </a:solidFill>
                <a:latin typeface="Calibri"/>
              </a:rPr>
              <a:t>Six months across North, South and West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3628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6C757D"/>
                </a:solidFill>
                <a:latin typeface="Calibri"/>
              </a:rPr>
              <a:t>Source: support_metrics.csv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10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2892247"/>
          <a:ext cx="6771061" cy="341711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7502581" y="2892247"/>
            <a:ext cx="4231913" cy="3417112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02581" y="2892247"/>
            <a:ext cx="73152" cy="3417112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6901" y="3075127"/>
            <a:ext cx="3774713" cy="3051352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123C69"/>
                </a:solidFill>
                <a:latin typeface="Calibri"/>
              </a:rPr>
              <a:t>Why it matters</a:t>
            </a:r>
          </a:p>
          <a:p>
            <a:pPr marL="256032" indent="-256032">
              <a:spcAft>
                <a:spcPts val="1000"/>
              </a:spcAft>
              <a:buClr>
                <a:srgbClr val="F4A261"/>
              </a:buClr>
              <a:buChar char="•"/>
            </a:pPr>
            <a:r>
              <a:rPr sz="1500">
                <a:solidFill>
                  <a:srgbClr val="2B2D42"/>
                </a:solidFill>
                <a:latin typeface="Calibri"/>
              </a:rPr>
              <a:t>Every region's CSAT </a:t>
            </a:r>
            <a:r>
              <a:rPr sz="1500" b="1">
                <a:solidFill>
                  <a:srgbClr val="F4A261"/>
                </a:solidFill>
                <a:latin typeface="Calibri"/>
              </a:rPr>
              <a:t>climbed</a:t>
            </a:r>
            <a:r>
              <a:rPr sz="1500">
                <a:solidFill>
                  <a:srgbClr val="2B2D42"/>
                </a:solidFill>
                <a:latin typeface="Calibri"/>
              </a:rPr>
              <a:t> each month, no exceptions</a:t>
            </a:r>
          </a:p>
          <a:p>
            <a:pPr marL="256032" indent="-256032">
              <a:spcAft>
                <a:spcPts val="1000"/>
              </a:spcAft>
              <a:buClr>
                <a:srgbClr val="F4A261"/>
              </a:buClr>
              <a:buChar char="•"/>
            </a:pPr>
            <a:r>
              <a:rPr sz="1500">
                <a:solidFill>
                  <a:srgbClr val="2B2D42"/>
                </a:solidFill>
                <a:latin typeface="Calibri"/>
              </a:rPr>
              <a:t>West started fastest and is now the </a:t>
            </a:r>
            <a:r>
              <a:rPr sz="1500" b="1">
                <a:solidFill>
                  <a:srgbClr val="F4A261"/>
                </a:solidFill>
                <a:latin typeface="Calibri"/>
              </a:rPr>
              <a:t>CSAT leader</a:t>
            </a:r>
          </a:p>
          <a:p>
            <a:pPr marL="256032" indent="-256032">
              <a:spcAft>
                <a:spcPts val="1000"/>
              </a:spcAft>
              <a:buClr>
                <a:srgbClr val="F4A261"/>
              </a:buClr>
              <a:buChar char="•"/>
            </a:pPr>
            <a:r>
              <a:rPr sz="1500">
                <a:solidFill>
                  <a:srgbClr val="2B2D42"/>
                </a:solidFill>
                <a:latin typeface="Calibri"/>
              </a:rPr>
              <a:t>Faster responses tracked directly with happier customers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417320"/>
            <a:ext cx="2647873" cy="1200607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08760"/>
            <a:ext cx="2282113" cy="1017727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Avg. CSAT</a:t>
            </a:r>
          </a:p>
          <a:p>
            <a:r>
              <a:rPr sz="3000" b="1">
                <a:solidFill>
                  <a:srgbClr val="123C69"/>
                </a:solidFill>
                <a:latin typeface="Calibri"/>
              </a:rPr>
              <a:t>91%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3673" y="1417320"/>
            <a:ext cx="2647873" cy="1200607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6553" y="1508760"/>
            <a:ext cx="2282113" cy="1017727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Tickets handled</a:t>
            </a:r>
          </a:p>
          <a:p>
            <a:r>
              <a:rPr sz="3000" b="1">
                <a:solidFill>
                  <a:srgbClr val="123C69"/>
                </a:solidFill>
                <a:latin typeface="Calibri"/>
              </a:rPr>
              <a:t>7,720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147" y="1417320"/>
            <a:ext cx="2647873" cy="1200607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3027" y="1508760"/>
            <a:ext cx="2282113" cy="1017727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Peak monthly volume</a:t>
            </a:r>
          </a:p>
          <a:p>
            <a:r>
              <a:rPr sz="3000" b="1">
                <a:solidFill>
                  <a:srgbClr val="123C69"/>
                </a:solidFill>
                <a:latin typeface="Calibri"/>
              </a:rPr>
              <a:t>520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86621" y="1417320"/>
            <a:ext cx="2647873" cy="1200607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69501" y="1508760"/>
            <a:ext cx="2282113" cy="1017727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Avg. first response</a:t>
            </a:r>
          </a:p>
          <a:p>
            <a:r>
              <a:rPr sz="3000" b="1">
                <a:solidFill>
                  <a:srgbClr val="123C69"/>
                </a:solidFill>
                <a:latin typeface="Calibri"/>
              </a:rPr>
              <a:t>3.2h</a:t>
            </a:r>
          </a:p>
          <a:p>
            <a:r>
              <a:rPr sz="1200">
                <a:solidFill>
                  <a:srgbClr val="2A9D8F"/>
                </a:solidFill>
                <a:latin typeface="Calibri"/>
              </a:rPr>
              <a:t>▼ 34%  West, Jan → Jun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68580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23C69"/>
                </a:solidFill>
                <a:latin typeface="Calibri"/>
              </a:rPr>
              <a:t>West's playbook is the one worth copying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>
                <a:solidFill>
                  <a:srgbClr val="6C757D"/>
                </a:solidFill>
                <a:latin typeface="Calibri"/>
              </a:rPr>
              <a:t>The left region stacks three different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11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3667658" cy="150876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3301898" cy="13258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Fastest to respond</a:t>
            </a:r>
          </a:p>
          <a:p>
            <a:r>
              <a:rPr sz="2200" b="1">
                <a:solidFill>
                  <a:srgbClr val="123C69"/>
                </a:solidFill>
                <a:latin typeface="Calibri"/>
              </a:rPr>
              <a:t>West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0"/>
            <a:ext cx="3667658" cy="1508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>
                <a:solidFill>
                  <a:srgbClr val="2B2D42"/>
                </a:solidFill>
                <a:latin typeface="Calibri"/>
              </a:rPr>
              <a:t>West cross-trained agents on billing tickets in Q1, which is when its lead over North and South opened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00600"/>
            <a:ext cx="3667658" cy="1508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marL="256032" indent="-256032">
              <a:spcAft>
                <a:spcPts val="1000"/>
              </a:spcAft>
              <a:buClr>
                <a:srgbClr val="F4A261"/>
              </a:buClr>
              <a:buChar char="•"/>
            </a:pPr>
            <a:r>
              <a:rPr sz="1500">
                <a:solidFill>
                  <a:srgbClr val="2B2D42"/>
                </a:solidFill>
                <a:latin typeface="Calibri"/>
              </a:rPr>
              <a:t>Escalations fell fastest in West, down </a:t>
            </a:r>
            <a:r>
              <a:rPr sz="1500" b="1">
                <a:solidFill>
                  <a:srgbClr val="F4A261"/>
                </a:solidFill>
                <a:latin typeface="Calibri"/>
              </a:rPr>
              <a:t>45%</a:t>
            </a:r>
            <a:r>
              <a:rPr sz="1500">
                <a:solidFill>
                  <a:srgbClr val="2B2D42"/>
                </a:solidFill>
                <a:latin typeface="Calibri"/>
              </a:rPr>
              <a:t> since January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4399178" y="1417320"/>
          <a:ext cx="7335316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68580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23C69"/>
                </a:solidFill>
                <a:latin typeface="Calibri"/>
              </a:rPr>
              <a:t>Inline data works too — a breakdown that never touched a CSV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12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17320"/>
          <a:ext cx="5501487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233007" y="1417320"/>
          <a:ext cx="5501487" cy="48920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68580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23C69"/>
                </a:solidFill>
                <a:latin typeface="Calibri"/>
              </a:rPr>
              <a:t>The story in one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277295" cy="48920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800" b="1">
                <a:solidFill>
                  <a:srgbClr val="123C69"/>
                </a:solidFill>
                <a:latin typeface="Calibri"/>
              </a:rPr>
              <a:t>CSAT is up </a:t>
            </a:r>
            <a:r>
              <a:rPr sz="2800" b="1">
                <a:solidFill>
                  <a:srgbClr val="F4A261"/>
                </a:solidFill>
                <a:latin typeface="Calibri"/>
              </a:rPr>
              <a:t>across every region</a:t>
            </a:r>
            <a:r>
              <a:rPr sz="2800" b="1">
                <a:solidFill>
                  <a:srgbClr val="123C69"/>
                </a:solidFill>
                <a:latin typeface="Calibri"/>
              </a:rPr>
              <a:t> while response times </a:t>
            </a:r>
            <a:r>
              <a:rPr sz="2800" b="1">
                <a:solidFill>
                  <a:srgbClr val="F4A261"/>
                </a:solidFill>
                <a:latin typeface="Calibri"/>
              </a:rPr>
              <a:t>fell</a:t>
            </a:r>
            <a:r>
              <a:rPr sz="2800" b="1">
                <a:solidFill>
                  <a:srgbClr val="123C69"/>
                </a:solidFill>
                <a:latin typeface="Calibri"/>
              </a:rPr>
              <a:t> — the operating model is working.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68580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23C69"/>
                </a:solidFill>
                <a:latin typeface="Calibri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14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17320"/>
            <a:ext cx="11277295" cy="4892040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73152" cy="489204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820095" cy="4526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123C69"/>
                </a:solidFill>
                <a:latin typeface="Calibri"/>
              </a:rPr>
              <a:t>Recommendations</a:t>
            </a:r>
          </a:p>
          <a:p>
            <a:pPr marL="256032" indent="-256032">
              <a:spcAft>
                <a:spcPts val="1000"/>
              </a:spcAft>
              <a:buClr>
                <a:srgbClr val="F4A261"/>
              </a:buClr>
              <a:buChar char="•"/>
            </a:pPr>
            <a:r>
              <a:rPr sz="2200">
                <a:solidFill>
                  <a:srgbClr val="2B2D42"/>
                </a:solidFill>
                <a:latin typeface="Calibri"/>
              </a:rPr>
              <a:t>Shift </a:t>
            </a:r>
            <a:r>
              <a:rPr sz="2200" b="1">
                <a:solidFill>
                  <a:srgbClr val="F4A261"/>
                </a:solidFill>
                <a:latin typeface="Calibri"/>
              </a:rPr>
              <a:t>15%</a:t>
            </a:r>
            <a:r>
              <a:rPr sz="2200">
                <a:solidFill>
                  <a:srgbClr val="2B2D42"/>
                </a:solidFill>
                <a:latin typeface="Calibri"/>
              </a:rPr>
              <a:t> of trade-show budget into online retargeting</a:t>
            </a:r>
          </a:p>
          <a:p>
            <a:pPr marL="256032" indent="-256032">
              <a:spcAft>
                <a:spcPts val="1000"/>
              </a:spcAft>
              <a:buClr>
                <a:srgbClr val="F4A261"/>
              </a:buClr>
              <a:buChar char="•"/>
            </a:pPr>
            <a:r>
              <a:rPr sz="2200">
                <a:solidFill>
                  <a:srgbClr val="2B2D42"/>
                </a:solidFill>
                <a:latin typeface="Calibri"/>
              </a:rPr>
              <a:t>Roll West's response-time playbook out to North and South</a:t>
            </a:r>
          </a:p>
          <a:p>
            <a:pPr marL="256032" indent="-256032">
              <a:spcAft>
                <a:spcPts val="1000"/>
              </a:spcAft>
              <a:buClr>
                <a:srgbClr val="F4A261"/>
              </a:buClr>
              <a:buChar char="•"/>
            </a:pPr>
            <a:r>
              <a:rPr sz="2200">
                <a:solidFill>
                  <a:srgbClr val="2B2D42"/>
                </a:solidFill>
                <a:latin typeface="Calibri"/>
              </a:rPr>
              <a:t>Re-baseline FY27 targets off the Q4 revenue run-rate and the improving CSAT trend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FY2026 Growth &amp; Customer Experience Review</dc:title>
  <dc:subject/>
  <dc:creator>Analytics Team</dc:creator>
  <cp:keywords/>
  <dc:description/>
  <cp:lastModifiedBy>Analytics Team</cp:lastModifiedBy>
  <cp:revision>1</cp:revision>
  <dcterms:created xsi:type="dcterms:W3CDTF">2026-09-29T22:42:52Z</dcterms:created>
  <dcterms:modified xsi:type="dcterms:W3CDTF">2026-09-29T22:42:52Z</dcterms:modified>
  <cp:category/>
</cp:coreProperties>
</file>