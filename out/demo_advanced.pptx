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$#,##0</c:formatCode>
                <c:ptCount val="12"/>
                <c:pt idx="0">
                  <c:v>182000</c:v>
                </c:pt>
                <c:pt idx="1">
                  <c:v>176500</c:v>
                </c:pt>
                <c:pt idx="2">
                  <c:v>198200</c:v>
                </c:pt>
                <c:pt idx="3">
                  <c:v>205400</c:v>
                </c:pt>
                <c:pt idx="4">
                  <c:v>214900</c:v>
                </c:pt>
                <c:pt idx="5">
                  <c:v>209800</c:v>
                </c:pt>
                <c:pt idx="6">
                  <c:v>221300</c:v>
                </c:pt>
                <c:pt idx="7">
                  <c:v>232700</c:v>
                </c:pt>
                <c:pt idx="8">
                  <c:v>228100</c:v>
                </c:pt>
                <c:pt idx="9">
                  <c:v>241900</c:v>
                </c:pt>
                <c:pt idx="10">
                  <c:v>259600</c:v>
                </c:pt>
                <c:pt idx="11">
                  <c:v>276400</c:v>
                </c:pt>
              </c:numCache>
            </c:numRef>
          </c:val>
        </c:ser>
        <c:gapWidth val="35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>
              <a:solidFill>
                <a:srgbClr val="FF6B35"/>
              </a:solidFill>
            </a:ln>
          </c:spPr>
          <c:marker>
            <c:spPr>
              <a:solidFill>
                <a:srgbClr val="FF6B35"/>
              </a:solidFill>
              <a:ln>
                <a:solidFill>
                  <a:srgbClr val="FF6B3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$#,##0</c:formatCode>
                <c:ptCount val="12"/>
                <c:pt idx="0">
                  <c:v>175000</c:v>
                </c:pt>
                <c:pt idx="1">
                  <c:v>180000</c:v>
                </c:pt>
                <c:pt idx="2">
                  <c:v>185000</c:v>
                </c:pt>
                <c:pt idx="3">
                  <c:v>190000</c:v>
                </c:pt>
                <c:pt idx="4">
                  <c:v>195000</c:v>
                </c:pt>
                <c:pt idx="5">
                  <c:v>200000</c:v>
                </c:pt>
                <c:pt idx="6">
                  <c:v>205000</c:v>
                </c:pt>
                <c:pt idx="7">
                  <c:v>210000</c:v>
                </c:pt>
                <c:pt idx="8">
                  <c:v>215000</c:v>
                </c:pt>
                <c:pt idx="9">
                  <c:v>220000</c:v>
                </c:pt>
                <c:pt idx="10">
                  <c:v>225000</c:v>
                </c:pt>
                <c:pt idx="11">
                  <c:v>230000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B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2545"/>
            </a:solidFill>
          </c:spPr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FF6B35"/>
              </a:solidFill>
            </c:spPr>
          </c:dPt>
          <c:dPt>
            <c:idx val="2"/>
            <c:spPr>
              <a:solidFill>
                <a:srgbClr val="FF6B35"/>
              </a:solidFill>
            </c:spPr>
          </c:dPt>
          <c:dPt>
            <c:idx val="3"/>
            <c:spPr>
              <a:solidFill>
                <a:srgbClr val="C9D3DE"/>
              </a:solidFill>
            </c:spPr>
          </c:dPt>
          <c:dPt>
            <c:idx val="4"/>
            <c:spPr>
              <a:solidFill>
                <a:srgbClr val="C9D3DE"/>
              </a:solidFill>
            </c:spPr>
          </c:dPt>
          <c:dPt>
            <c:idx val="5"/>
            <c:spPr>
              <a:solidFill>
                <a:srgbClr val="C9D3DE"/>
              </a:solidFill>
            </c:spPr>
          </c:dPt>
          <c:dPt>
            <c:idx val="6"/>
            <c:spPr>
              <a:solidFill>
                <a:srgbClr val="C9D3DE"/>
              </a:solidFill>
            </c:spPr>
          </c:dPt>
          <c:dPt>
            <c:idx val="7"/>
            <c:spPr>
              <a:solidFill>
                <a:srgbClr val="FF6B35"/>
              </a:solidFill>
            </c:spPr>
          </c:dPt>
          <c:dPt>
            <c:idx val="8"/>
            <c:spPr>
              <a:solidFill>
                <a:srgbClr val="C9D3DE"/>
              </a:solidFill>
            </c:spPr>
          </c:dPt>
          <c:dPt>
            <c:idx val="9"/>
            <c:spPr>
              <a:solidFill>
                <a:srgbClr val="C9D3DE"/>
              </a:solidFill>
            </c:spPr>
          </c:dPt>
          <c:dPt>
            <c:idx val="10"/>
            <c:spPr>
              <a:solidFill>
                <a:srgbClr val="FF6B35"/>
              </a:solidFill>
            </c:spPr>
          </c:dPt>
          <c:dPt>
            <c:idx val="11"/>
            <c:spPr>
              <a:solidFill>
                <a:srgbClr val="FF6B35"/>
              </a:solidFill>
            </c:spPr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$#,##0,"K"</c:formatCode>
                <c:ptCount val="12"/>
                <c:pt idx="0">
                  <c:v>182000</c:v>
                </c:pt>
                <c:pt idx="1">
                  <c:v>176500</c:v>
                </c:pt>
                <c:pt idx="2">
                  <c:v>198200</c:v>
                </c:pt>
                <c:pt idx="3">
                  <c:v>205400</c:v>
                </c:pt>
                <c:pt idx="4">
                  <c:v>214900</c:v>
                </c:pt>
                <c:pt idx="5">
                  <c:v>209800</c:v>
                </c:pt>
                <c:pt idx="6">
                  <c:v>221300</c:v>
                </c:pt>
                <c:pt idx="7">
                  <c:v>232700</c:v>
                </c:pt>
                <c:pt idx="8">
                  <c:v>228100</c:v>
                </c:pt>
                <c:pt idx="9">
                  <c:v>241900</c:v>
                </c:pt>
                <c:pt idx="10">
                  <c:v>259600</c:v>
                </c:pt>
                <c:pt idx="11">
                  <c:v>276400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Quarterly revenue, Q1 → Q4, by region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Q1 revenue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  <c:pt idx="4">
                  <c:v>Q4 revenue</c:v>
                </c:pt>
              </c:strCache>
            </c:strRef>
          </c:cat>
          <c:val>
            <c:numRef>
              <c:f>Sheet1!$B$2:$B$6</c:f>
              <c:numCache>
                <c:formatCode>$#,##0,"K"</c:formatCode>
                <c:ptCount val="5"/>
                <c:pt idx="0">
                  <c:v>0</c:v>
                </c:pt>
                <c:pt idx="1">
                  <c:v>467000</c:v>
                </c:pt>
                <c:pt idx="2">
                  <c:v>513000</c:v>
                </c:pt>
                <c:pt idx="3">
                  <c:v>541000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$#,##0,&quot;K&quot;;$#,##0,&quot;K&quot;;;" sourceLinked="0"/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Q1 revenue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  <c:pt idx="4">
                  <c:v>Q4 revenue</c:v>
                </c:pt>
              </c:strCache>
            </c:strRef>
          </c:cat>
          <c:val>
            <c:numRef>
              <c:f>Sheet1!$C$2:$C$6</c:f>
              <c:numCache>
                <c:formatCode>$#,##0,"K"</c:formatCode>
                <c:ptCount val="5"/>
                <c:pt idx="0">
                  <c:v>467000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589000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13A89E"/>
            </a:solidFill>
          </c:spPr>
          <c:dLbls>
            <c:numFmt formatCode="+$#,##0,&quot;K&quot;;+$#,##0,&quot;K&quot;;;" sourceLinked="0"/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Q1 revenue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  <c:pt idx="4">
                  <c:v>Q4 revenue</c:v>
                </c:pt>
              </c:strCache>
            </c:strRef>
          </c:cat>
          <c:val>
            <c:numRef>
              <c:f>Sheet1!$D$2:$D$6</c:f>
              <c:numCache>
                <c:formatCode>$#,##0,"K"</c:formatCode>
                <c:ptCount val="5"/>
                <c:pt idx="0">
                  <c:v>0</c:v>
                </c:pt>
                <c:pt idx="1">
                  <c:v>46000</c:v>
                </c:pt>
                <c:pt idx="2">
                  <c:v>28000</c:v>
                </c:pt>
                <c:pt idx="3">
                  <c:v>48000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E63946"/>
            </a:solidFill>
          </c:spPr>
          <c:dLbls>
            <c:numFmt formatCode="-$#,##0,&quot;K&quot;;-$#,##0,&quot;K&quot;;;" sourceLinked="0"/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Q1 revenue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  <c:pt idx="4">
                  <c:v>Q4 revenue</c:v>
                </c:pt>
              </c:strCache>
            </c:strRef>
          </c:cat>
          <c:val>
            <c:numRef>
              <c:f>Sheet1!$E$2:$E$6</c:f>
              <c:numCache>
                <c:formatCode>$#,##0,"K"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400000.0"/>
        </c:scaling>
        <c:delete val="0"/>
        <c:axPos val="l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Core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$#,##0,"K"</c:formatCode>
                <c:ptCount val="4"/>
                <c:pt idx="0">
                  <c:v>98000</c:v>
                </c:pt>
                <c:pt idx="1">
                  <c:v>104000</c:v>
                </c:pt>
                <c:pt idx="2">
                  <c:v>109000</c:v>
                </c:pt>
                <c:pt idx="3">
                  <c:v>121000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$#,##0,"K"</c:formatCode>
                <c:ptCount val="4"/>
                <c:pt idx="0">
                  <c:v>61000</c:v>
                </c:pt>
                <c:pt idx="1">
                  <c:v>66000</c:v>
                </c:pt>
                <c:pt idx="2">
                  <c:v>72000</c:v>
                </c:pt>
                <c:pt idx="3">
                  <c:v>84000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000.0"/>
        </c:scaling>
        <c:delete val="0"/>
        <c:axPos val="l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Core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$#,##0,"K"</c:formatCode>
                <c:ptCount val="4"/>
                <c:pt idx="0">
                  <c:v>72000</c:v>
                </c:pt>
                <c:pt idx="1">
                  <c:v>75000</c:v>
                </c:pt>
                <c:pt idx="2">
                  <c:v>79000</c:v>
                </c:pt>
                <c:pt idx="3">
                  <c:v>86000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$#,##0,"K"</c:formatCode>
                <c:ptCount val="4"/>
                <c:pt idx="0">
                  <c:v>38000</c:v>
                </c:pt>
                <c:pt idx="1">
                  <c:v>41000</c:v>
                </c:pt>
                <c:pt idx="2">
                  <c:v>45000</c:v>
                </c:pt>
                <c:pt idx="3">
                  <c:v>52000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000.0"/>
        </c:scaling>
        <c:delete val="0"/>
        <c:axPos val="l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Core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$#,##0,"K"</c:formatCode>
                <c:ptCount val="4"/>
                <c:pt idx="0">
                  <c:v>121000</c:v>
                </c:pt>
                <c:pt idx="1">
                  <c:v>126000</c:v>
                </c:pt>
                <c:pt idx="2">
                  <c:v>131000</c:v>
                </c:pt>
                <c:pt idx="3">
                  <c:v>142000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$#,##0,"K"</c:formatCode>
                <c:ptCount val="4"/>
                <c:pt idx="0">
                  <c:v>77000</c:v>
                </c:pt>
                <c:pt idx="1">
                  <c:v>84000</c:v>
                </c:pt>
                <c:pt idx="2">
                  <c:v>90000</c:v>
                </c:pt>
                <c:pt idx="3">
                  <c:v>104000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000.0"/>
        </c:scaling>
        <c:delete val="0"/>
        <c:axPos val="l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Share of revenue by product, all regions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Core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$#,##0,"K"</c:formatCode>
                <c:ptCount val="4"/>
                <c:pt idx="0">
                  <c:v>291000</c:v>
                </c:pt>
                <c:pt idx="1">
                  <c:v>305000</c:v>
                </c:pt>
                <c:pt idx="2">
                  <c:v>319000</c:v>
                </c:pt>
                <c:pt idx="3">
                  <c:v>349000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$#,##0,"K"</c:formatCode>
                <c:ptCount val="4"/>
                <c:pt idx="0">
                  <c:v>176000</c:v>
                </c:pt>
                <c:pt idx="1">
                  <c:v>191000</c:v>
                </c:pt>
                <c:pt idx="2">
                  <c:v>207000</c:v>
                </c:pt>
                <c:pt idx="3">
                  <c:v>240000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B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Return on ad spend (ROAS)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0B2545"/>
            </a:solidFill>
          </c:spPr>
          <c:dPt>
            <c:idx val="0"/>
            <c:spPr>
              <a:solidFill>
                <a:srgbClr val="FF6B35"/>
              </a:solidFill>
            </c:spPr>
          </c:dPt>
          <c:dPt>
            <c:idx val="1"/>
            <c:spPr>
              <a:solidFill>
                <a:srgbClr val="FF6B35"/>
              </a:solidFill>
            </c:spPr>
          </c:dPt>
          <c:dPt>
            <c:idx val="2"/>
            <c:spPr>
              <a:solidFill>
                <a:srgbClr val="FF6B35"/>
              </a:solidFill>
            </c:spPr>
          </c:dPt>
          <c:dPt>
            <c:idx val="3"/>
            <c:spPr>
              <a:solidFill>
                <a:srgbClr val="C9D3DE"/>
              </a:solidFill>
            </c:spPr>
          </c:dPt>
          <c:dPt>
            <c:idx val="4"/>
            <c:spPr>
              <a:solidFill>
                <a:srgbClr val="C9D3DE"/>
              </a:solidFill>
            </c:spPr>
          </c:dPt>
          <c:dPt>
            <c:idx val="5"/>
            <c:spPr>
              <a:solidFill>
                <a:srgbClr val="C9D3DE"/>
              </a:solidFill>
            </c:spPr>
          </c:dPt>
          <c:dPt>
            <c:idx val="6"/>
            <c:spPr>
              <a:solidFill>
                <a:srgbClr val="C9D3DE"/>
              </a:solidFill>
            </c:spPr>
          </c:dPt>
          <c:dPt>
            <c:idx val="7"/>
            <c:spPr>
              <a:solidFill>
                <a:srgbClr val="C9D3DE"/>
              </a:solidFill>
            </c:spPr>
          </c:dPt>
          <c:cat>
            <c:strRef>
              <c:f>Sheet1!$A$2:$A$9</c:f>
              <c:strCache>
                <c:ptCount val="8"/>
                <c:pt idx="0">
                  <c:v>Loyalty Upsell</c:v>
                </c:pt>
                <c:pt idx="1">
                  <c:v>Retargeting</c:v>
                </c:pt>
                <c:pt idx="2">
                  <c:v>Webinar Series</c:v>
                </c:pt>
                <c:pt idx="3">
                  <c:v>Spring Promo</c:v>
                </c:pt>
                <c:pt idx="4">
                  <c:v>Holiday Blitz</c:v>
                </c:pt>
                <c:pt idx="5">
                  <c:v>Partner Push</c:v>
                </c:pt>
                <c:pt idx="6">
                  <c:v>Marketplace Ads</c:v>
                </c:pt>
                <c:pt idx="7">
                  <c:v>Trade Show</c:v>
                </c:pt>
              </c:strCache>
            </c:strRef>
          </c:cat>
          <c:val>
            <c:numRef>
              <c:f>Sheet1!$B$2:$B$9</c:f>
              <c:numCache>
                <c:formatCode>0.0"x"</c:formatCode>
                <c:ptCount val="8"/>
                <c:pt idx="0">
                  <c:v>7.47</c:v>
                </c:pt>
                <c:pt idx="1">
                  <c:v>5.7</c:v>
                </c:pt>
                <c:pt idx="2">
                  <c:v>5.39</c:v>
                </c:pt>
                <c:pt idx="3">
                  <c:v>4.0</c:v>
                </c:pt>
                <c:pt idx="4">
                  <c:v>4.0</c:v>
                </c:pt>
                <c:pt idx="5">
                  <c:v>3.09</c:v>
                </c:pt>
                <c:pt idx="6">
                  <c:v>2.54</c:v>
                </c:pt>
                <c:pt idx="7">
                  <c:v>2.24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0.0&quot;x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Spend vs. revenue, by channel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0B2545"/>
              </a:solidFill>
              <a:ln>
                <a:solidFill>
                  <a:srgbClr val="0B2545"/>
                </a:solidFill>
              </a:ln>
            </c:spPr>
          </c:marker>
          <c:xVal>
            <c:numRef>
              <c:f>Sheet1!$A$2:$A$4</c:f>
              <c:numCache>
                <c:formatCode>$#,##0,"K"</c:formatCode>
                <c:ptCount val="3"/>
                <c:pt idx="0">
                  <c:v>42000</c:v>
                </c:pt>
                <c:pt idx="1">
                  <c:v>88000</c:v>
                </c:pt>
                <c:pt idx="2">
                  <c:v>23000</c:v>
                </c:pt>
              </c:numCache>
            </c:numRef>
          </c:xVal>
          <c:yVal>
            <c:numRef>
              <c:f>Sheet1!$B$2:$B$4</c:f>
              <c:numCache>
                <c:formatCode>$#,##0,"K"</c:formatCode>
                <c:ptCount val="3"/>
                <c:pt idx="0">
                  <c:v>168000</c:v>
                </c:pt>
                <c:pt idx="1">
                  <c:v>352000</c:v>
                </c:pt>
                <c:pt idx="2">
                  <c:v>131000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</c:f>
              <c:strCache>
                <c:ptCount val="1"/>
                <c:pt idx="0">
                  <c:v>Partners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FF6B35"/>
              </a:solidFill>
              <a:ln>
                <a:solidFill>
                  <a:srgbClr val="FF6B35"/>
                </a:solidFill>
              </a:ln>
            </c:spPr>
          </c:marker>
          <c:xVal>
            <c:numRef>
              <c:f>Sheet1!$A$7:$A$7</c:f>
              <c:numCache>
                <c:formatCode>$#,##0,"K"</c:formatCode>
                <c:ptCount val="1"/>
                <c:pt idx="0">
                  <c:v>65000</c:v>
                </c:pt>
              </c:numCache>
            </c:numRef>
          </c:xVal>
          <c:yVal>
            <c:numRef>
              <c:f>Sheet1!$B$7:$B$7</c:f>
              <c:numCache>
                <c:formatCode>$#,##0,"K"</c:formatCode>
                <c:ptCount val="1"/>
                <c:pt idx="0">
                  <c:v>201000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Direct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13A89E"/>
              </a:solidFill>
              <a:ln>
                <a:solidFill>
                  <a:srgbClr val="13A89E"/>
                </a:solidFill>
              </a:ln>
            </c:spPr>
          </c:marker>
          <c:xVal>
            <c:numRef>
              <c:f>Sheet1!$A$10:$A$12</c:f>
              <c:numCache>
                <c:formatCode>$#,##0,"K"</c:formatCode>
                <c:ptCount val="3"/>
                <c:pt idx="0">
                  <c:v>18000</c:v>
                </c:pt>
                <c:pt idx="1">
                  <c:v>54000</c:v>
                </c:pt>
                <c:pt idx="2">
                  <c:v>15000</c:v>
                </c:pt>
              </c:numCache>
            </c:numRef>
          </c:xVal>
          <c:yVal>
            <c:numRef>
              <c:f>Sheet1!$B$10:$B$12</c:f>
              <c:numCache>
                <c:formatCode>$#,##0,"K"</c:formatCode>
                <c:ptCount val="3"/>
                <c:pt idx="0">
                  <c:v>97000</c:v>
                </c:pt>
                <c:pt idx="1">
                  <c:v>121000</c:v>
                </c:pt>
                <c:pt idx="2">
                  <c:v>112000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Sheet1!$B$14</c:f>
              <c:strCache>
                <c:ptCount val="1"/>
                <c:pt idx="0">
                  <c:v>Marketplace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8DA9C4"/>
              </a:solidFill>
              <a:ln>
                <a:solidFill>
                  <a:srgbClr val="8DA9C4"/>
                </a:solidFill>
              </a:ln>
            </c:spPr>
          </c:marker>
          <c:xVal>
            <c:numRef>
              <c:f>Sheet1!$A$15:$A$15</c:f>
              <c:numCache>
                <c:formatCode>$#,##0,"K"</c:formatCode>
                <c:ptCount val="1"/>
                <c:pt idx="0">
                  <c:v>37000</c:v>
                </c:pt>
              </c:numCache>
            </c:numRef>
          </c:xVal>
          <c:yVal>
            <c:numRef>
              <c:f>Sheet1!$B$15:$B$15</c:f>
              <c:numCache>
                <c:formatCode>$#,##0,"K"</c:formatCode>
                <c:ptCount val="1"/>
                <c:pt idx="0">
                  <c:v>94000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CE3EB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Share of all sales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C9D3DE"/>
              </a:solidFill>
            </c:spPr>
          </c:dPt>
          <c:dPt>
            <c:idx val="1"/>
            <c:spPr>
              <a:solidFill>
                <a:srgbClr val="C9D3DE"/>
              </a:solidFill>
            </c:spPr>
          </c:dPt>
          <c:dPt>
            <c:idx val="2"/>
            <c:spPr>
              <a:solidFill>
                <a:srgbClr val="FF6B35"/>
              </a:solidFill>
            </c:spPr>
          </c:dPt>
          <c:dPt>
            <c:idx val="3"/>
            <c:spPr>
              <a:solidFill>
                <a:srgbClr val="C9D3DE"/>
              </a:solidFill>
            </c:spPr>
          </c:dPt>
          <c:cat>
            <c:strRef>
              <c:f>Sheet1!$A$2:$A$5</c:f>
              <c:strCache>
                <c:ptCount val="4"/>
                <c:pt idx="0">
                  <c:v>Direct</c:v>
                </c:pt>
                <c:pt idx="1">
                  <c:v>Partners</c:v>
                </c:pt>
                <c:pt idx="2">
                  <c:v>Online</c:v>
                </c:pt>
                <c:pt idx="3">
                  <c:v>Marketplace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0.42</c:v>
                </c:pt>
                <c:pt idx="1">
                  <c:v>0.27</c:v>
                </c:pt>
                <c:pt idx="2">
                  <c:v>0.21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Campaign spend vs.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Sheet1!$A$2:$A$5</c:f>
              <c:strCache>
                <c:ptCount val="4"/>
                <c:pt idx="0">
                  <c:v>Online</c:v>
                </c:pt>
                <c:pt idx="1">
                  <c:v>Direct</c:v>
                </c:pt>
                <c:pt idx="2">
                  <c:v>Partners</c:v>
                </c:pt>
                <c:pt idx="3">
                  <c:v>Marketplace</c:v>
                </c:pt>
              </c:strCache>
            </c:strRef>
          </c:cat>
          <c:val>
            <c:numRef>
              <c:f>Sheet1!$B$2:$B$5</c:f>
              <c:numCache>
                <c:formatCode>$#,##0,"K"</c:formatCode>
                <c:ptCount val="4"/>
                <c:pt idx="0">
                  <c:v>153000</c:v>
                </c:pt>
                <c:pt idx="1">
                  <c:v>87000</c:v>
                </c:pt>
                <c:pt idx="2">
                  <c:v>65000</c:v>
                </c:pt>
                <c:pt idx="3">
                  <c:v>37000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Sheet1!$A$2:$A$5</c:f>
              <c:strCache>
                <c:ptCount val="4"/>
                <c:pt idx="0">
                  <c:v>Online</c:v>
                </c:pt>
                <c:pt idx="1">
                  <c:v>Direct</c:v>
                </c:pt>
                <c:pt idx="2">
                  <c:v>Partners</c:v>
                </c:pt>
                <c:pt idx="3">
                  <c:v>Marketplace</c:v>
                </c:pt>
              </c:strCache>
            </c:strRef>
          </c:cat>
          <c:val>
            <c:numRef>
              <c:f>Sheet1!$C$2:$C$5</c:f>
              <c:numCache>
                <c:formatCode>$#,##0,"K"</c:formatCode>
                <c:ptCount val="4"/>
                <c:pt idx="0">
                  <c:v>651000</c:v>
                </c:pt>
                <c:pt idx="1">
                  <c:v>330000</c:v>
                </c:pt>
                <c:pt idx="2">
                  <c:v>201000</c:v>
                </c:pt>
                <c:pt idx="3">
                  <c:v>94000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B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People at each stage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B2545"/>
            </a:solidFill>
          </c:spPr>
          <c:dPt>
            <c:idx val="0"/>
            <c:spPr>
              <a:solidFill>
                <a:srgbClr val="C9D3DE"/>
              </a:solidFill>
            </c:spPr>
          </c:dPt>
          <c:dPt>
            <c:idx val="1"/>
            <c:spPr>
              <a:solidFill>
                <a:srgbClr val="FF6B35"/>
              </a:solidFill>
            </c:spPr>
          </c:dPt>
          <c:dPt>
            <c:idx val="2"/>
            <c:spPr>
              <a:solidFill>
                <a:srgbClr val="C9D3DE"/>
              </a:solidFill>
            </c:spPr>
          </c:dPt>
          <c:dPt>
            <c:idx val="3"/>
            <c:spPr>
              <a:solidFill>
                <a:srgbClr val="C9D3DE"/>
              </a:solidFill>
            </c:spPr>
          </c:dPt>
          <c:cat>
            <c:strRef>
              <c:f>Sheet1!$A$2:$A$5</c:f>
              <c:strCache>
                <c:ptCount val="4"/>
                <c:pt idx="0">
                  <c:v>Leads</c:v>
                </c:pt>
                <c:pt idx="1">
                  <c:v>Trials started</c:v>
                </c:pt>
                <c:pt idx="2">
                  <c:v>Opportunities</c:v>
                </c:pt>
                <c:pt idx="3">
                  <c:v>Customers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38600</c:v>
                </c:pt>
                <c:pt idx="1">
                  <c:v>14900</c:v>
                </c:pt>
                <c:pt idx="2">
                  <c:v>8300</c:v>
                </c:pt>
                <c:pt idx="3">
                  <c:v>5132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Hours to first response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ln w="28575">
              <a:solidFill>
                <a:srgbClr val="C9D3DE"/>
              </a:solidFill>
            </a:ln>
          </c:spPr>
          <c:marker>
            <c:spPr>
              <a:solidFill>
                <a:srgbClr val="C9D3DE"/>
              </a:solidFill>
              <a:ln>
                <a:solidFill>
                  <a:srgbClr val="C9D3DE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C9D3DE"/>
                        </a:solidFill>
                      </a:rPr>
                      <a:t>North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0.0"h"</c:formatCode>
                <c:ptCount val="6"/>
                <c:pt idx="0">
                  <c:v>4.2</c:v>
                </c:pt>
                <c:pt idx="1">
                  <c:v>4.0</c:v>
                </c:pt>
                <c:pt idx="2">
                  <c:v>3.7</c:v>
                </c:pt>
                <c:pt idx="3">
                  <c:v>3.4</c:v>
                </c:pt>
                <c:pt idx="4">
                  <c:v>3.1</c:v>
                </c:pt>
                <c:pt idx="5">
                  <c:v>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ln w="28575">
              <a:solidFill>
                <a:srgbClr val="C9D3DE"/>
              </a:solidFill>
            </a:ln>
          </c:spPr>
          <c:marker>
            <c:spPr>
              <a:solidFill>
                <a:srgbClr val="C9D3DE"/>
              </a:solidFill>
              <a:ln>
                <a:solidFill>
                  <a:srgbClr val="C9D3DE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C9D3DE"/>
                        </a:solidFill>
                      </a:rPr>
                      <a:t>South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0.0"h"</c:formatCode>
                <c:ptCount val="6"/>
                <c:pt idx="0">
                  <c:v>3.8</c:v>
                </c:pt>
                <c:pt idx="1">
                  <c:v>3.6</c:v>
                </c:pt>
                <c:pt idx="2">
                  <c:v>3.3</c:v>
                </c:pt>
                <c:pt idx="3">
                  <c:v>3.0</c:v>
                </c:pt>
                <c:pt idx="4">
                  <c:v>2.8</c:v>
                </c:pt>
                <c:pt idx="5">
                  <c:v>2.6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ln w="38100">
              <a:solidFill>
                <a:srgbClr val="FF6B35"/>
              </a:solidFill>
            </a:ln>
          </c:spPr>
          <c:marker>
            <c:spPr>
              <a:solidFill>
                <a:srgbClr val="FF6B35"/>
              </a:solidFill>
              <a:ln>
                <a:solidFill>
                  <a:srgbClr val="FF6B35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6B35"/>
                        </a:solidFill>
                      </a:rPr>
                      <a:t>West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0.0"h"</c:formatCode>
                <c:ptCount val="6"/>
                <c:pt idx="0">
                  <c:v>3.5</c:v>
                </c:pt>
                <c:pt idx="1">
                  <c:v>3.2</c:v>
                </c:pt>
                <c:pt idx="2">
                  <c:v>2.9</c:v>
                </c:pt>
                <c:pt idx="3">
                  <c:v>2.7</c:v>
                </c:pt>
                <c:pt idx="4">
                  <c:v>2.5</c:v>
                </c:pt>
                <c:pt idx="5">
                  <c:v>2.3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B"/>
              </a:solidFill>
            </a:ln>
          </c:spPr>
        </c:majorGridlines>
        <c:numFmt formatCode="0.0&quot;h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2545"/>
                </a:solidFill>
              </a:rPr>
              <a:t>Escalations per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13A89E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0</c:formatCode>
                <c:ptCount val="6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C6B7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B243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in this deck is computed from the source data at build time. Nothing on these slides was typed in by hand except the commentary.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8138160" y="822960"/>
            <a:ext cx="6583680" cy="6583680"/>
          </a:xfrm>
          <a:prstGeom prst="donut">
            <a:avLst>
              <a:gd name="adj" fmla="val 16000"/>
            </a:avLst>
          </a:prstGeom>
          <a:solidFill>
            <a:srgbClr val="1C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-1188720"/>
            <a:ext cx="3657600" cy="3657600"/>
          </a:xfrm>
          <a:prstGeom prst="donut">
            <a:avLst>
              <a:gd name="adj" fmla="val 35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ANNUAL BUSINESS REVIEW  ·  FY2026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The year growth started to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7558851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>
                <a:solidFill>
                  <a:srgbClr val="B6BEC7"/>
                </a:solidFill>
                <a:latin typeface="Calibri"/>
              </a:rPr>
              <a:t>Revenue, product, go-to-market and customer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Analytics Team</a:t>
            </a:r>
            <a:r>
              <a:rPr sz="1400">
                <a:solidFill>
                  <a:srgbClr val="B6BEC7"/>
                </a:solidFill>
                <a:latin typeface="Calibri"/>
              </a:rPr>
              <a:t>   ·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Four chapters, one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5C6B7A"/>
                </a:solidFill>
                <a:latin typeface="Calibri"/>
              </a:rPr>
              <a:t>Every number in this deck is calculated from the data when the deck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10833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01468"/>
            <a:ext cx="6688082" cy="13716"/>
          </a:xfrm>
          <a:prstGeom prst="rect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97280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FF6B3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5133602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545"/>
                </a:solidFill>
                <a:latin typeface="Calibri"/>
              </a:rPr>
              <a:t>Growth</a:t>
            </a:r>
          </a:p>
          <a:p>
            <a:pPr algn="l">
              <a:spcAft>
                <a:spcPts val="420"/>
              </a:spcAft>
            </a:pPr>
            <a:r>
              <a:rPr sz="1400">
                <a:solidFill>
                  <a:srgbClr val="5C6B7A"/>
                </a:solidFill>
                <a:latin typeface="Calibri"/>
              </a:rPr>
              <a:t>Revenue, targets and the shape of the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58768"/>
            <a:ext cx="6688082" cy="13716"/>
          </a:xfrm>
          <a:prstGeom prst="rect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4620"/>
            <a:ext cx="1097280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FF6B3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74620"/>
            <a:ext cx="5133602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545"/>
                </a:solidFill>
                <a:latin typeface="Calibri"/>
              </a:rPr>
              <a:t>Product &amp; regions</a:t>
            </a:r>
          </a:p>
          <a:p>
            <a:pPr algn="l">
              <a:spcAft>
                <a:spcPts val="420"/>
              </a:spcAft>
            </a:pPr>
            <a:r>
              <a:rPr sz="1400">
                <a:solidFill>
                  <a:srgbClr val="5C6B7A"/>
                </a:solidFill>
                <a:latin typeface="Calibri"/>
              </a:rPr>
              <a:t>Where the growth came from, and what it's made 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16068"/>
            <a:ext cx="6688082" cy="13716"/>
          </a:xfrm>
          <a:prstGeom prst="rect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97280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FF6B3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5133602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545"/>
                </a:solidFill>
                <a:latin typeface="Calibri"/>
              </a:rPr>
              <a:t>Go-to-market</a:t>
            </a:r>
          </a:p>
          <a:p>
            <a:pPr algn="l">
              <a:spcAft>
                <a:spcPts val="420"/>
              </a:spcAft>
            </a:pPr>
            <a:r>
              <a:rPr sz="1400">
                <a:solidFill>
                  <a:srgbClr val="5C6B7A"/>
                </a:solidFill>
                <a:latin typeface="Calibri"/>
              </a:rPr>
              <a:t>What we spent on campaigns and what came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89220"/>
            <a:ext cx="1097280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FF6B35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89220"/>
            <a:ext cx="5133602" cy="11201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545"/>
                </a:solidFill>
                <a:latin typeface="Calibri"/>
              </a:rPr>
              <a:t>Customer experience</a:t>
            </a:r>
          </a:p>
          <a:p>
            <a:pPr algn="l">
              <a:spcAft>
                <a:spcPts val="420"/>
              </a:spcAft>
            </a:pPr>
            <a:r>
              <a:rPr sz="1400">
                <a:solidFill>
                  <a:srgbClr val="5C6B7A"/>
                </a:solidFill>
                <a:latin typeface="Calibri"/>
              </a:rPr>
              <a:t>Faster support, happier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9602" y="1417320"/>
            <a:ext cx="4314892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6983" y="158191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82" b="1">
                <a:solidFill>
                  <a:srgbClr val="FFFFFF"/>
                </a:solidFill>
                <a:latin typeface="Segoe UI Symbol"/>
              </a:rPr>
              <a:t>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2482" y="1508760"/>
            <a:ext cx="340049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Revenue, Jan → Dec</a:t>
            </a:r>
          </a:p>
          <a:p>
            <a:r>
              <a:rPr sz="3600" b="1">
                <a:solidFill>
                  <a:srgbClr val="FFFFFF"/>
                </a:solidFill>
                <a:latin typeface="Calibri"/>
              </a:rPr>
              <a:t>+52%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9602" y="3108960"/>
            <a:ext cx="4314892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66983" y="327355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82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2482" y="3200400"/>
            <a:ext cx="340049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Best return on ad spend</a:t>
            </a:r>
          </a:p>
          <a:p>
            <a:r>
              <a:rPr sz="3600" b="1">
                <a:solidFill>
                  <a:srgbClr val="FFFFFF"/>
                </a:solidFill>
                <a:latin typeface="Calibri"/>
              </a:rPr>
              <a:t>7.5x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9602" y="4800600"/>
            <a:ext cx="4314892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66983" y="496519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82" b="1">
                <a:solidFill>
                  <a:srgbClr val="FFFFFF"/>
                </a:solidFill>
                <a:latin typeface="Segoe UI Symbol"/>
              </a:rPr>
              <a:t>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2482" y="4892040"/>
            <a:ext cx="340049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Time to first response</a:t>
            </a:r>
          </a:p>
          <a:p>
            <a:r>
              <a:rPr sz="3600" b="1">
                <a:solidFill>
                  <a:srgbClr val="FFFFFF"/>
                </a:solidFill>
                <a:latin typeface="Calibri"/>
              </a:rPr>
              <a:t>-32%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7" y="182880"/>
            <a:ext cx="5821527" cy="6492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30000" b="1">
                <a:solidFill>
                  <a:srgbClr val="DEE5EB"/>
                </a:solidFill>
                <a:latin typeface="Calibr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CHAPTER 01</a:t>
            </a:r>
          </a:p>
          <a:p>
            <a:r>
              <a:rPr sz="4000" b="1">
                <a:solidFill>
                  <a:srgbClr val="0B2545"/>
                </a:solidFill>
                <a:latin typeface="Calibri"/>
              </a:rP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7558851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>
                <a:solidFill>
                  <a:srgbClr val="5C6B7A"/>
                </a:solidFill>
                <a:latin typeface="Calibri"/>
              </a:rPr>
              <a:t>Revenue, targets and the shape of the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420"/>
              </a:spcAft>
            </a:pPr>
            <a:r>
              <a:rPr sz="1200" b="1">
                <a:solidFill>
                  <a:srgbClr val="FF6B35"/>
                </a:solidFill>
                <a:latin typeface="Calibri"/>
              </a:rPr>
              <a:t>THE HEADLINE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Monthly revenue is up 52% since January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B6BEC7"/>
                </a:solidFill>
                <a:latin typeface="Calibri"/>
              </a:rPr>
              <a:t>Source: monthly_sales.csv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B6BEC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2216671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6601785" cy="4892040"/>
          </a:xfrm>
          <a:prstGeom prst="roundRect">
            <a:avLst>
              <a:gd name="adj" fmla="val 2616"/>
            </a:avLst>
          </a:prstGeom>
          <a:solidFill>
            <a:srgbClr val="23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6236025" cy="4709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December revenue vs. January</a:t>
            </a:r>
          </a:p>
          <a:p>
            <a:r>
              <a:rPr sz="15000" b="1">
                <a:solidFill>
                  <a:srgbClr val="FFFFFF"/>
                </a:solidFill>
                <a:latin typeface="Calibri"/>
              </a:rPr>
              <a:t>+52%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$94,400  added to the monthly run-rate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305" y="1417320"/>
            <a:ext cx="4401190" cy="1508760"/>
          </a:xfrm>
          <a:prstGeom prst="roundRect">
            <a:avLst>
              <a:gd name="adj" fmla="val 8484"/>
            </a:avLst>
          </a:prstGeom>
          <a:solidFill>
            <a:srgbClr val="23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185" y="1508760"/>
            <a:ext cx="403543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FY26 revenue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$2,646,800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8.9%  vs. annual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305" y="3108960"/>
            <a:ext cx="4401190" cy="1508760"/>
          </a:xfrm>
          <a:prstGeom prst="roundRect">
            <a:avLst>
              <a:gd name="adj" fmla="val 8484"/>
            </a:avLst>
          </a:prstGeom>
          <a:solidFill>
            <a:srgbClr val="23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185" y="3200400"/>
            <a:ext cx="403543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Orders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17,030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41%  Jan → Dec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305" y="4800600"/>
            <a:ext cx="4401190" cy="1508760"/>
          </a:xfrm>
          <a:prstGeom prst="roundRect">
            <a:avLst>
              <a:gd name="adj" fmla="val 8484"/>
            </a:avLst>
          </a:prstGeom>
          <a:solidFill>
            <a:srgbClr val="23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185" y="4892040"/>
            <a:ext cx="403543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Weakest month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$176,500</a:t>
            </a:r>
          </a:p>
          <a:p>
            <a:r>
              <a:rPr sz="1200">
                <a:solidFill>
                  <a:srgbClr val="E63946"/>
                </a:solidFill>
                <a:latin typeface="Calibri"/>
              </a:rPr>
              <a:t>▼ 1.9%  Feb: the only miss vs.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Revenue beat target in 11 of 12 months, and sped up into Q4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monthly_sales.csv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2770839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7453628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185148" y="1417320"/>
            <a:ext cx="3549346" cy="4892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5148" y="1417320"/>
            <a:ext cx="73152" cy="48920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9468" y="1600200"/>
            <a:ext cx="3092146" cy="4526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What changed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600">
                <a:solidFill>
                  <a:srgbClr val="1B2432"/>
                </a:solidFill>
                <a:latin typeface="Calibri"/>
              </a:rPr>
              <a:t>Each quarter beat the last: </a:t>
            </a:r>
            <a:r>
              <a:rPr sz="1600" b="1">
                <a:solidFill>
                  <a:srgbClr val="FF6B35"/>
                </a:solidFill>
                <a:latin typeface="Calibri"/>
              </a:rPr>
              <a:t>$557K → $630K → $682K → $778K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600">
                <a:solidFill>
                  <a:srgbClr val="1B2432"/>
                </a:solidFill>
                <a:latin typeface="Calibri"/>
              </a:rPr>
              <a:t>Q4 grew </a:t>
            </a:r>
            <a:r>
              <a:rPr sz="1600" b="1">
                <a:solidFill>
                  <a:srgbClr val="FF6B35"/>
                </a:solidFill>
                <a:latin typeface="Calibri"/>
              </a:rPr>
              <a:t>14%</a:t>
            </a:r>
            <a:r>
              <a:rPr sz="1600">
                <a:solidFill>
                  <a:srgbClr val="1B2432"/>
                </a:solidFill>
                <a:latin typeface="Calibri"/>
              </a:rPr>
              <a:t> on Q3, almost double Q3's </a:t>
            </a:r>
            <a:r>
              <a:rPr sz="1600" b="1">
                <a:solidFill>
                  <a:srgbClr val="FF6B35"/>
                </a:solidFill>
                <a:latin typeface="Calibri"/>
              </a:rPr>
              <a:t>8%</a:t>
            </a:r>
            <a:r>
              <a:rPr sz="1600">
                <a:solidFill>
                  <a:srgbClr val="1B2432"/>
                </a:solidFill>
                <a:latin typeface="Calibri"/>
              </a:rPr>
              <a:t> gain on Q2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600">
                <a:solidFill>
                  <a:srgbClr val="1B2432"/>
                </a:solidFill>
                <a:latin typeface="Calibri"/>
              </a:rPr>
              <a:t>Second-half revenue was </a:t>
            </a:r>
            <a:r>
              <a:rPr sz="1600" b="1">
                <a:solidFill>
                  <a:srgbClr val="FF6B35"/>
                </a:solidFill>
                <a:latin typeface="Calibri"/>
              </a:rPr>
              <a:t>23% higher</a:t>
            </a:r>
            <a:r>
              <a:rPr sz="1600">
                <a:solidFill>
                  <a:srgbClr val="1B2432"/>
                </a:solidFill>
                <a:latin typeface="Calibri"/>
              </a:rPr>
              <a:t> than the first half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600">
                <a:solidFill>
                  <a:srgbClr val="1B2432"/>
                </a:solidFill>
                <a:latin typeface="Calibri"/>
              </a:rPr>
              <a:t>February was the only miss, </a:t>
            </a:r>
            <a:r>
              <a:rPr sz="1600" b="1">
                <a:solidFill>
                  <a:srgbClr val="FF6B35"/>
                </a:solidFill>
                <a:latin typeface="Calibri"/>
              </a:rPr>
              <a:t>$3.5K</a:t>
            </a:r>
            <a:r>
              <a:rPr sz="1600">
                <a:solidFill>
                  <a:srgbClr val="1B2432"/>
                </a:solidFill>
                <a:latin typeface="Calibri"/>
              </a:rPr>
              <a:t> short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The year in six moments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5C6B7A"/>
                </a:solidFill>
                <a:latin typeface="Calibri"/>
              </a:rPr>
              <a:t>Monthly revenue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monthly_sales.csv, campaigns.csv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3325007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20774" y="2084831"/>
            <a:ext cx="9550146" cy="36576"/>
          </a:xfrm>
          <a:prstGeom prst="rect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3614" y="1965960"/>
            <a:ext cx="274320" cy="2743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727149" cy="4114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390"/>
              </a:spcAft>
            </a:pPr>
            <a:r>
              <a:rPr sz="1300" b="1">
                <a:solidFill>
                  <a:srgbClr val="5C6B7A"/>
                </a:solidFill>
                <a:latin typeface="Calibri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79"/>
            <a:ext cx="1727149" cy="956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$182K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The year opens just above target</a:t>
            </a:r>
          </a:p>
        </p:txBody>
      </p:sp>
      <p:sp>
        <p:nvSpPr>
          <p:cNvPr id="13" name="Oval 12"/>
          <p:cNvSpPr/>
          <p:nvPr/>
        </p:nvSpPr>
        <p:spPr>
          <a:xfrm>
            <a:off x="3093643" y="1965960"/>
            <a:ext cx="274320" cy="2743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67229" y="1417320"/>
            <a:ext cx="1727149" cy="4114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390"/>
              </a:spcAft>
            </a:pPr>
            <a:r>
              <a:rPr sz="1300" b="1">
                <a:solidFill>
                  <a:srgbClr val="5C6B7A"/>
                </a:solidFill>
                <a:latin typeface="Calibri"/>
              </a:rPr>
              <a:t>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7229" y="2468879"/>
            <a:ext cx="1727149" cy="956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only miss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$3.5K short of a $180K target</a:t>
            </a:r>
          </a:p>
        </p:txBody>
      </p:sp>
      <p:sp>
        <p:nvSpPr>
          <p:cNvPr id="16" name="Oval 15"/>
          <p:cNvSpPr/>
          <p:nvPr/>
        </p:nvSpPr>
        <p:spPr>
          <a:xfrm>
            <a:off x="5003673" y="1965960"/>
            <a:ext cx="274320" cy="2743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7258" y="1417320"/>
            <a:ext cx="1727149" cy="4114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390"/>
              </a:spcAft>
            </a:pPr>
            <a:r>
              <a:rPr sz="1300" b="1">
                <a:solidFill>
                  <a:srgbClr val="5C6B7A"/>
                </a:solidFill>
                <a:latin typeface="Calibri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468879"/>
            <a:ext cx="1727149" cy="956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+12% in a month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Revenue jumps to $198K</a:t>
            </a:r>
          </a:p>
        </p:txBody>
      </p:sp>
      <p:sp>
        <p:nvSpPr>
          <p:cNvPr id="19" name="Oval 18"/>
          <p:cNvSpPr/>
          <p:nvPr/>
        </p:nvSpPr>
        <p:spPr>
          <a:xfrm>
            <a:off x="6913702" y="1965960"/>
            <a:ext cx="274320" cy="2743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1417320"/>
            <a:ext cx="1727149" cy="4114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390"/>
              </a:spcAft>
            </a:pPr>
            <a:r>
              <a:rPr sz="1300" b="1">
                <a:solidFill>
                  <a:srgbClr val="5C6B7A"/>
                </a:solidFill>
                <a:latin typeface="Calibri"/>
              </a:rPr>
              <a:t>AUG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2468879"/>
            <a:ext cx="1727149" cy="956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$233K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Summer high before a flat September</a:t>
            </a:r>
          </a:p>
        </p:txBody>
      </p:sp>
      <p:sp>
        <p:nvSpPr>
          <p:cNvPr id="22" name="Oval 21"/>
          <p:cNvSpPr/>
          <p:nvPr/>
        </p:nvSpPr>
        <p:spPr>
          <a:xfrm>
            <a:off x="8823731" y="1965960"/>
            <a:ext cx="274320" cy="27432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7316" y="1417320"/>
            <a:ext cx="1727149" cy="4114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390"/>
              </a:spcAft>
            </a:pPr>
            <a:r>
              <a:rPr sz="1300" b="1">
                <a:solidFill>
                  <a:srgbClr val="5C6B7A"/>
                </a:solidFill>
                <a:latin typeface="Calibri"/>
              </a:rPr>
              <a:t>NOV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7316" y="2468879"/>
            <a:ext cx="1727149" cy="956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Holiday Blitz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The year's biggest campaign returns 4.0x</a:t>
            </a:r>
          </a:p>
        </p:txBody>
      </p:sp>
      <p:sp>
        <p:nvSpPr>
          <p:cNvPr id="25" name="Oval 24"/>
          <p:cNvSpPr/>
          <p:nvPr/>
        </p:nvSpPr>
        <p:spPr>
          <a:xfrm>
            <a:off x="10569168" y="1801367"/>
            <a:ext cx="603504" cy="603504"/>
          </a:xfrm>
          <a:prstGeom prst="ellipse">
            <a:avLst/>
          </a:prstGeom>
          <a:solidFill>
            <a:srgbClr val="FF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78896" y="1911095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7346" y="1417320"/>
            <a:ext cx="1727149" cy="4114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39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DEC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7346" y="2468879"/>
            <a:ext cx="1727149" cy="956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$276K record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52% above January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457200" y="3699344"/>
          <a:ext cx="11277295" cy="26100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7" y="182880"/>
            <a:ext cx="5821527" cy="6492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30000" b="1">
                <a:solidFill>
                  <a:srgbClr val="DEE5EB"/>
                </a:solidFill>
                <a:latin typeface="Calibr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CHAPTER 02</a:t>
            </a:r>
          </a:p>
          <a:p>
            <a:r>
              <a:rPr sz="4000" b="1">
                <a:solidFill>
                  <a:srgbClr val="0B2545"/>
                </a:solidFill>
                <a:latin typeface="Calibri"/>
              </a:rPr>
              <a:t>Product &amp;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7558851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>
                <a:solidFill>
                  <a:srgbClr val="5C6B7A"/>
                </a:solidFill>
                <a:latin typeface="Calibri"/>
              </a:rPr>
              <a:t>Where the growth came from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Q4 brought in $122K more than Q1, mostly from North and West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sales_by_region.csv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Product &amp; regions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4433343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7208845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940365" y="1417320"/>
            <a:ext cx="3794129" cy="18112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40365" y="1417320"/>
            <a:ext cx="73152" cy="1811215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4685" y="1508760"/>
            <a:ext cx="3336929" cy="162833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Added per quarter, Q1 → Q4</a:t>
            </a:r>
          </a:p>
          <a:p>
            <a:r>
              <a:rPr sz="3400" b="1">
                <a:solidFill>
                  <a:srgbClr val="0B2545"/>
                </a:solidFill>
                <a:latin typeface="Calibri"/>
              </a:rPr>
              <a:t>+$122,000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26%  quarterly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0365" y="3411415"/>
            <a:ext cx="3794129" cy="28979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40365" y="3411415"/>
            <a:ext cx="73152" cy="289794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685" y="3594295"/>
            <a:ext cx="3336929" cy="2532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600">
                <a:solidFill>
                  <a:srgbClr val="1B2432"/>
                </a:solidFill>
                <a:latin typeface="Calibri"/>
              </a:rPr>
              <a:t>North and West added </a:t>
            </a:r>
            <a:r>
              <a:rPr sz="1600" b="1">
                <a:solidFill>
                  <a:srgbClr val="FF6B35"/>
                </a:solidFill>
                <a:latin typeface="Calibri"/>
              </a:rPr>
              <a:t>$94K</a:t>
            </a:r>
            <a:r>
              <a:rPr sz="1600">
                <a:solidFill>
                  <a:srgbClr val="1B2432"/>
                </a:solidFill>
                <a:latin typeface="Calibri"/>
              </a:rPr>
              <a:t> between them, </a:t>
            </a:r>
            <a:r>
              <a:rPr sz="1600" b="1">
                <a:solidFill>
                  <a:srgbClr val="FF6B35"/>
                </a:solidFill>
                <a:latin typeface="Calibri"/>
              </a:rPr>
              <a:t>77%</a:t>
            </a:r>
            <a:r>
              <a:rPr sz="1600">
                <a:solidFill>
                  <a:srgbClr val="1B2432"/>
                </a:solidFill>
                <a:latin typeface="Calibri"/>
              </a:rPr>
              <a:t> of the gain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600">
                <a:solidFill>
                  <a:srgbClr val="1B2432"/>
                </a:solidFill>
                <a:latin typeface="Calibri"/>
              </a:rPr>
              <a:t>South grew </a:t>
            </a:r>
            <a:r>
              <a:rPr sz="1600" b="1">
                <a:solidFill>
                  <a:srgbClr val="FF6B35"/>
                </a:solidFill>
                <a:latin typeface="Calibri"/>
              </a:rPr>
              <a:t>25%</a:t>
            </a:r>
            <a:r>
              <a:rPr sz="1600">
                <a:solidFill>
                  <a:srgbClr val="1B2432"/>
                </a:solidFill>
                <a:latin typeface="Calibri"/>
              </a:rPr>
              <a:t>, but from the smallest 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West is the biggest region, but North is growing fastest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5C6B7A"/>
                </a:solidFill>
                <a:latin typeface="Calibri"/>
              </a:rPr>
              <a:t>Quarterly revenue by product; growth figures are Q1 →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sales_by_region.csv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Product &amp; regions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4987511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515258" cy="138504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73152" cy="1385047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04946" y="158191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82" b="1">
                <a:solidFill>
                  <a:srgbClr val="FFFFFF"/>
                </a:solidFill>
                <a:latin typeface="Segoe UI Symbol"/>
              </a:rP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08760"/>
            <a:ext cx="2509418" cy="120216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North</a:t>
            </a:r>
          </a:p>
          <a:p>
            <a:r>
              <a:rPr sz="3400" b="1">
                <a:solidFill>
                  <a:srgbClr val="0B2545"/>
                </a:solidFill>
                <a:latin typeface="Calibri"/>
              </a:rPr>
              <a:t>$715,000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29%  fastest growth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7200" y="2985247"/>
          <a:ext cx="3515258" cy="33241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4338218" y="1417320"/>
            <a:ext cx="3515258" cy="138504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8218" y="1417320"/>
            <a:ext cx="73152" cy="1385047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538" y="1508760"/>
            <a:ext cx="3058058" cy="120216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South</a:t>
            </a:r>
          </a:p>
          <a:p>
            <a:r>
              <a:rPr sz="3400" b="1">
                <a:solidFill>
                  <a:srgbClr val="0B2545"/>
                </a:solidFill>
                <a:latin typeface="Calibri"/>
              </a:rPr>
              <a:t>$488,000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25%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38218" y="2985247"/>
          <a:ext cx="3515258" cy="3324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Rectangle 17"/>
          <p:cNvSpPr/>
          <p:nvPr/>
        </p:nvSpPr>
        <p:spPr>
          <a:xfrm>
            <a:off x="8219236" y="1417320"/>
            <a:ext cx="3515258" cy="138504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9236" y="1417320"/>
            <a:ext cx="73152" cy="1385047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6983" y="158191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82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1508760"/>
            <a:ext cx="2509418" cy="120216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West</a:t>
            </a:r>
          </a:p>
          <a:p>
            <a:r>
              <a:rPr sz="3400" b="1">
                <a:solidFill>
                  <a:srgbClr val="0B2545"/>
                </a:solidFill>
                <a:latin typeface="Calibri"/>
              </a:rPr>
              <a:t>$875,000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24%  largest region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219236" y="2985247"/>
          <a:ext cx="3515258" cy="33241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Pro rose from 38% to 41% of revenue, one quarter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sales_by_region.csv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Product &amp; regions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5541679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6771061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02581" y="1417320"/>
            <a:ext cx="4231913" cy="1331258"/>
          </a:xfrm>
          <a:prstGeom prst="roundRect">
            <a:avLst>
              <a:gd name="adj" fmla="val 9616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5461" y="1508760"/>
            <a:ext cx="3866153" cy="114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Pro revenue</a:t>
            </a:r>
          </a:p>
          <a:p>
            <a:r>
              <a:rPr sz="3000" b="1">
                <a:solidFill>
                  <a:srgbClr val="0B2545"/>
                </a:solidFill>
                <a:latin typeface="Calibri"/>
              </a:rPr>
              <a:t>$814,000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36%  Q1 → Q4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2581" y="2931458"/>
            <a:ext cx="4231913" cy="1331258"/>
          </a:xfrm>
          <a:prstGeom prst="roundRect">
            <a:avLst>
              <a:gd name="adj" fmla="val 9616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5461" y="3022898"/>
            <a:ext cx="3866153" cy="114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Core revenue</a:t>
            </a:r>
          </a:p>
          <a:p>
            <a:r>
              <a:rPr sz="3000" b="1">
                <a:solidFill>
                  <a:srgbClr val="0B2545"/>
                </a:solidFill>
                <a:latin typeface="Calibri"/>
              </a:rPr>
              <a:t>$1,264,000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20%  Q1 → Q4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2581" y="4445597"/>
            <a:ext cx="4231913" cy="1863762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02581" y="4445597"/>
            <a:ext cx="73152" cy="186376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6901" y="4628477"/>
            <a:ext cx="3774713" cy="149800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500">
                <a:solidFill>
                  <a:srgbClr val="1B2432"/>
                </a:solidFill>
                <a:latin typeface="Calibri"/>
              </a:rPr>
              <a:t>Pro earns </a:t>
            </a:r>
            <a:r>
              <a:rPr sz="1500" b="1">
                <a:solidFill>
                  <a:srgbClr val="FF6B35"/>
                </a:solidFill>
                <a:latin typeface="Calibri"/>
              </a:rPr>
              <a:t>~$295 a unit</a:t>
            </a:r>
            <a:r>
              <a:rPr sz="1500">
                <a:solidFill>
                  <a:srgbClr val="1B2432"/>
                </a:solidFill>
                <a:latin typeface="Calibri"/>
              </a:rPr>
              <a:t>, almost double Core's </a:t>
            </a:r>
            <a:r>
              <a:rPr sz="1500" b="1">
                <a:solidFill>
                  <a:srgbClr val="FF6B35"/>
                </a:solidFill>
                <a:latin typeface="Calibri"/>
              </a:rPr>
              <a:t>~$154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500">
                <a:solidFill>
                  <a:srgbClr val="1B2432"/>
                </a:solidFill>
                <a:latin typeface="Calibri"/>
              </a:rPr>
              <a:t>Pro revenue grew </a:t>
            </a:r>
            <a:r>
              <a:rPr sz="1500" b="1">
                <a:solidFill>
                  <a:srgbClr val="FF6B35"/>
                </a:solidFill>
                <a:latin typeface="Calibri"/>
              </a:rPr>
              <a:t>36%</a:t>
            </a:r>
            <a:r>
              <a:rPr sz="1500">
                <a:solidFill>
                  <a:srgbClr val="1B2432"/>
                </a:solidFill>
                <a:latin typeface="Calibri"/>
              </a:rPr>
              <a:t> in the year; Core grew </a:t>
            </a:r>
            <a:r>
              <a:rPr sz="1500" b="1">
                <a:solidFill>
                  <a:srgbClr val="FF6B35"/>
                </a:solidFill>
                <a:latin typeface="Calibri"/>
              </a:rPr>
              <a:t>20%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7" y="182880"/>
            <a:ext cx="5821527" cy="6492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30000" b="1">
                <a:solidFill>
                  <a:srgbClr val="DEE5EB"/>
                </a:solidFill>
                <a:latin typeface="Calibr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CHAPTER 03</a:t>
            </a:r>
          </a:p>
          <a:p>
            <a:r>
              <a:rPr sz="4000" b="1">
                <a:solidFill>
                  <a:srgbClr val="0B2545"/>
                </a:solidFill>
                <a:latin typeface="Calibr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7558851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>
                <a:solidFill>
                  <a:srgbClr val="5C6B7A"/>
                </a:solidFill>
                <a:latin typeface="Calibri"/>
              </a:rPr>
              <a:t>What we spent, and what it returned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Our three smallest campaigns returned the most per dollar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campaigns.csv  ·  ROAS = revenue ÷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Go-to-market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665001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6001622" cy="36018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733142" y="1417320"/>
          <a:ext cx="5001352" cy="36018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293461"/>
            <a:ext cx="11277295" cy="101589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293461"/>
            <a:ext cx="73152" cy="101589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76341"/>
            <a:ext cx="10820095" cy="65013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500">
                <a:solidFill>
                  <a:srgbClr val="1B2432"/>
                </a:solidFill>
                <a:latin typeface="Calibri"/>
              </a:rPr>
              <a:t>Loyalty Upsell, Retargeting and Webinar Series cost the least (</a:t>
            </a:r>
            <a:r>
              <a:rPr sz="1500" b="1">
                <a:solidFill>
                  <a:srgbClr val="FF6B35"/>
                </a:solidFill>
                <a:latin typeface="Calibri"/>
              </a:rPr>
              <a:t>$15–23K</a:t>
            </a:r>
            <a:r>
              <a:rPr sz="1500">
                <a:solidFill>
                  <a:srgbClr val="1B2432"/>
                </a:solidFill>
                <a:latin typeface="Calibri"/>
              </a:rPr>
              <a:t>) and returned </a:t>
            </a:r>
            <a:r>
              <a:rPr sz="1500" b="1">
                <a:solidFill>
                  <a:srgbClr val="FF6B35"/>
                </a:solidFill>
                <a:latin typeface="Calibri"/>
              </a:rPr>
              <a:t>5.4–7.5x</a:t>
            </a:r>
            <a:r>
              <a:rPr sz="1500">
                <a:solidFill>
                  <a:srgbClr val="1B2432"/>
                </a:solidFill>
                <a:latin typeface="Calibri"/>
              </a:rPr>
              <a:t>. Trade Show returned </a:t>
            </a:r>
            <a:r>
              <a:rPr sz="1500" b="1">
                <a:solidFill>
                  <a:srgbClr val="FF6B35"/>
                </a:solidFill>
                <a:latin typeface="Calibri"/>
              </a:rPr>
              <a:t>2.2x</a:t>
            </a:r>
            <a:r>
              <a:rPr sz="1500">
                <a:solidFill>
                  <a:srgbClr val="1B2432"/>
                </a:solidFill>
                <a:latin typeface="Calibri"/>
              </a:rPr>
              <a:t> on $54K.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Online brought in half of campaign revenue on 45% of the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campaigns.csv, channel_mix.csv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Go-to-market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7204183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734056"/>
            <a:ext cx="3017434" cy="2475738"/>
          </a:xfrm>
          <a:prstGeom prst="roundRect">
            <a:avLst>
              <a:gd name="adj" fmla="val 44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2916936"/>
          <a:ext cx="2651674" cy="21099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748954" y="2734056"/>
            <a:ext cx="3687975" cy="2475738"/>
          </a:xfrm>
          <a:prstGeom prst="roundRect">
            <a:avLst>
              <a:gd name="adj" fmla="val 44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31834" y="2916936"/>
          <a:ext cx="3322215" cy="210997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11249" y="2734056"/>
            <a:ext cx="4023245" cy="2475738"/>
          </a:xfrm>
          <a:prstGeom prst="roundRect">
            <a:avLst>
              <a:gd name="adj" fmla="val 44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894129" y="2916936"/>
          <a:ext cx="365748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71"/>
                <a:gridCol w="914371"/>
                <a:gridCol w="914371"/>
                <a:gridCol w="91437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anchor="ctr" marL="91440" marR="9144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anchor="ctr" marL="91440" marR="9144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 marL="91440" marR="9144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Conv.</a:t>
                      </a:r>
                    </a:p>
                  </a:txBody>
                  <a:tcPr anchor="ctr" marL="91440" marR="91440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432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432"/>
                          </a:solidFill>
                          <a:latin typeface="Calibri"/>
                        </a:rPr>
                        <a:t>$153,000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432"/>
                          </a:solidFill>
                          <a:latin typeface="Calibri"/>
                        </a:rPr>
                        <a:t>$651,000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432"/>
                          </a:solidFill>
                          <a:latin typeface="Calibri"/>
                        </a:rPr>
                        <a:t>3,042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$87,000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$330,000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935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Partners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$65,000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$201,000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$37,000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$94,000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B2432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 anchor="ctr" marL="91440" marR="9144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1417320"/>
            <a:ext cx="2072579" cy="1042416"/>
          </a:xfrm>
          <a:prstGeom prst="roundRect">
            <a:avLst>
              <a:gd name="adj" fmla="val 12280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08760"/>
            <a:ext cx="1706819" cy="85953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Campaigns</a:t>
            </a:r>
          </a:p>
          <a:p>
            <a:r>
              <a:rPr sz="2600" b="1">
                <a:solidFill>
                  <a:srgbClr val="0B2545"/>
                </a:solidFill>
                <a:latin typeface="Calibri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8379" y="1417320"/>
            <a:ext cx="2072579" cy="1042416"/>
          </a:xfrm>
          <a:prstGeom prst="roundRect">
            <a:avLst>
              <a:gd name="adj" fmla="val 12280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1259" y="1508760"/>
            <a:ext cx="1706819" cy="85953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Ad spend</a:t>
            </a:r>
          </a:p>
          <a:p>
            <a:r>
              <a:rPr sz="2600" b="1">
                <a:solidFill>
                  <a:srgbClr val="0B2545"/>
                </a:solidFill>
                <a:latin typeface="Calibri"/>
              </a:rPr>
              <a:t>$342,000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9558" y="1417320"/>
            <a:ext cx="2072579" cy="1042416"/>
          </a:xfrm>
          <a:prstGeom prst="roundRect">
            <a:avLst>
              <a:gd name="adj" fmla="val 12280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2438" y="1508760"/>
            <a:ext cx="1706819" cy="85953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Campaign revenue</a:t>
            </a:r>
          </a:p>
          <a:p>
            <a:r>
              <a:rPr sz="2600" b="1">
                <a:solidFill>
                  <a:srgbClr val="0B2545"/>
                </a:solidFill>
                <a:latin typeface="Calibri"/>
              </a:rPr>
              <a:t>$1,276,000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737" y="1417320"/>
            <a:ext cx="2072579" cy="1042416"/>
          </a:xfrm>
          <a:prstGeom prst="roundRect">
            <a:avLst>
              <a:gd name="adj" fmla="val 12280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617" y="1508760"/>
            <a:ext cx="1706819" cy="85953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Conversions</a:t>
            </a:r>
          </a:p>
          <a:p>
            <a:r>
              <a:rPr sz="2600" b="1">
                <a:solidFill>
                  <a:srgbClr val="0B2545"/>
                </a:solidFill>
                <a:latin typeface="Calibri"/>
              </a:rPr>
              <a:t>5,132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1916" y="1417320"/>
            <a:ext cx="2072579" cy="1042416"/>
          </a:xfrm>
          <a:prstGeom prst="roundRect">
            <a:avLst>
              <a:gd name="adj" fmla="val 12280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4796" y="1508760"/>
            <a:ext cx="1706819" cy="85953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Avg. ROAS</a:t>
            </a:r>
          </a:p>
          <a:p>
            <a:r>
              <a:rPr sz="2600" b="1">
                <a:solidFill>
                  <a:srgbClr val="0B2545"/>
                </a:solidFill>
                <a:latin typeface="Calibri"/>
              </a:rPr>
              <a:t>4.3x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4114"/>
            <a:ext cx="11277295" cy="82524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484114"/>
            <a:ext cx="73152" cy="82524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6994"/>
            <a:ext cx="10820095" cy="45948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400">
                <a:solidFill>
                  <a:srgbClr val="1B2432"/>
                </a:solidFill>
                <a:latin typeface="Calibri"/>
              </a:rPr>
              <a:t>Online returned </a:t>
            </a:r>
            <a:r>
              <a:rPr sz="1400" b="1">
                <a:solidFill>
                  <a:srgbClr val="FF6B35"/>
                </a:solidFill>
                <a:latin typeface="Calibri"/>
              </a:rPr>
              <a:t>$4.25</a:t>
            </a:r>
            <a:r>
              <a:rPr sz="1400">
                <a:solidFill>
                  <a:srgbClr val="1B2432"/>
                </a:solidFill>
                <a:latin typeface="Calibri"/>
              </a:rPr>
              <a:t> for every dollar, the best of any channel. Marketplace returned </a:t>
            </a:r>
            <a:r>
              <a:rPr sz="1400" b="1">
                <a:solidFill>
                  <a:srgbClr val="FF6B35"/>
                </a:solidFill>
                <a:latin typeface="Calibri"/>
              </a:rPr>
              <a:t>$2.54</a:t>
            </a:r>
            <a:r>
              <a:rPr sz="1400">
                <a:solidFill>
                  <a:srgbClr val="1B243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Only 4 in 10 leads start a trial, the biggest fixable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5C6B7A"/>
                </a:solidFill>
                <a:latin typeface="Calibri"/>
              </a:rPr>
              <a:t>FY26 acquisition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web analytics and CRM (inline data in this YAML)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Go-to-market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7758351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17320"/>
          <a:ext cx="6219072" cy="41559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50592" y="1417320"/>
            <a:ext cx="4783902" cy="4155948"/>
          </a:xfrm>
          <a:prstGeom prst="roundRect">
            <a:avLst>
              <a:gd name="adj" fmla="val 264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0632" y="1737360"/>
            <a:ext cx="18647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1B2432"/>
                </a:solidFill>
                <a:latin typeface="Calibri"/>
              </a:rPr>
              <a:t>Visitor → lead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2512" y="2005393"/>
            <a:ext cx="1273262" cy="274320"/>
          </a:xfrm>
          <a:prstGeom prst="roundRect">
            <a:avLst>
              <a:gd name="adj" fmla="val 50000"/>
            </a:avLst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72512" y="200539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81551" y="1913953"/>
            <a:ext cx="36576" cy="4572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2935" y="1737360"/>
            <a:ext cx="7315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0632" y="2639187"/>
            <a:ext cx="18647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1B2432"/>
                </a:solidFill>
                <a:latin typeface="Calibri"/>
              </a:rPr>
              <a:t>Lead → trial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512" y="2907220"/>
            <a:ext cx="1273262" cy="274320"/>
          </a:xfrm>
          <a:prstGeom prst="roundRect">
            <a:avLst>
              <a:gd name="adj" fmla="val 50000"/>
            </a:avLst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72512" y="2907220"/>
            <a:ext cx="491479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54519" y="2815780"/>
            <a:ext cx="36576" cy="4572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82935" y="2639187"/>
            <a:ext cx="7315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39%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0632" y="3541014"/>
            <a:ext cx="18647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1B2432"/>
                </a:solidFill>
                <a:latin typeface="Calibri"/>
              </a:rPr>
              <a:t>Trial → opportunity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2512" y="3809047"/>
            <a:ext cx="1273262" cy="274320"/>
          </a:xfrm>
          <a:prstGeom prst="roundRect">
            <a:avLst>
              <a:gd name="adj" fmla="val 50000"/>
            </a:avLst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72512" y="3809047"/>
            <a:ext cx="709207" cy="2743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54519" y="3717607"/>
            <a:ext cx="36576" cy="4572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2935" y="3541014"/>
            <a:ext cx="7315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56%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0632" y="4442841"/>
            <a:ext cx="18647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0"/>
              </a:spcAft>
            </a:pPr>
            <a:r>
              <a:rPr sz="1500">
                <a:solidFill>
                  <a:srgbClr val="1B2432"/>
                </a:solidFill>
                <a:latin typeface="Calibri"/>
              </a:rPr>
              <a:t>Opportunity → customer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512" y="4710874"/>
            <a:ext cx="1273262" cy="274320"/>
          </a:xfrm>
          <a:prstGeom prst="roundRect">
            <a:avLst>
              <a:gd name="adj" fmla="val 50000"/>
            </a:avLst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72512" y="4710874"/>
            <a:ext cx="786876" cy="2743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18182" y="4619434"/>
            <a:ext cx="36576" cy="4572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82935" y="4442841"/>
            <a:ext cx="731520" cy="81038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9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62%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47588"/>
            <a:ext cx="11277295" cy="4617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5C6B7A"/>
                </a:solidFill>
                <a:latin typeface="Calibri"/>
              </a:rPr>
              <a:t>Bars show FY26 conversion; black markers are the FY26 plan. </a:t>
            </a:r>
            <a:r>
              <a:rPr sz="1400" b="1">
                <a:solidFill>
                  <a:srgbClr val="FF6B35"/>
                </a:solidFill>
                <a:latin typeface="Calibri"/>
              </a:rPr>
              <a:t>Lead → trial is 16 points short.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7" y="182880"/>
            <a:ext cx="5821527" cy="6492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30000" b="1">
                <a:solidFill>
                  <a:srgbClr val="DEE5EB"/>
                </a:solidFill>
                <a:latin typeface="Calibri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CHAPTER 04</a:t>
            </a:r>
          </a:p>
          <a:p>
            <a:r>
              <a:rPr sz="4000" b="1">
                <a:solidFill>
                  <a:srgbClr val="0B2545"/>
                </a:solidFill>
                <a:latin typeface="Calibri"/>
              </a:rPr>
              <a:t>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7558851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>
                <a:solidFill>
                  <a:srgbClr val="5C6B7A"/>
                </a:solidFill>
                <a:latin typeface="Calibri"/>
              </a:rPr>
              <a:t>Faster answers, happier customers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Where FY26 moved the customer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5C6B7A"/>
                </a:solidFill>
                <a:latin typeface="Calibri"/>
              </a:rPr>
              <a:t>Support is where this chapter's gains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Customer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8866687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2658241" y="2720340"/>
            <a:ext cx="2286000" cy="2286000"/>
          </a:xfrm>
          <a:prstGeom prst="donut">
            <a:avLst>
              <a:gd name="adj" fmla="val 2799"/>
            </a:avLst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7200000">
            <a:off x="4263013" y="2782032"/>
            <a:ext cx="219456" cy="182880"/>
          </a:xfrm>
          <a:prstGeom prst="triangle">
            <a:avLst/>
          </a:prstGeom>
          <a:solidFill>
            <a:srgbClr val="CD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4834513" y="3771900"/>
            <a:ext cx="219456" cy="182880"/>
          </a:xfrm>
          <a:prstGeom prst="triangle">
            <a:avLst/>
          </a:prstGeom>
          <a:solidFill>
            <a:srgbClr val="CD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4400000">
            <a:off x="4263013" y="4761767"/>
            <a:ext cx="219456" cy="182880"/>
          </a:xfrm>
          <a:prstGeom prst="triangle">
            <a:avLst/>
          </a:prstGeom>
          <a:solidFill>
            <a:srgbClr val="CD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8000000">
            <a:off x="3120013" y="4761767"/>
            <a:ext cx="219456" cy="182880"/>
          </a:xfrm>
          <a:prstGeom prst="triangle">
            <a:avLst/>
          </a:prstGeom>
          <a:solidFill>
            <a:srgbClr val="CD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0">
            <a:off x="2548513" y="3771900"/>
            <a:ext cx="219456" cy="182880"/>
          </a:xfrm>
          <a:prstGeom prst="triangle">
            <a:avLst/>
          </a:prstGeom>
          <a:solidFill>
            <a:srgbClr val="CD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3600000">
            <a:off x="3120013" y="2782032"/>
            <a:ext cx="219456" cy="182880"/>
          </a:xfrm>
          <a:prstGeom prst="triangle">
            <a:avLst/>
          </a:prstGeom>
          <a:solidFill>
            <a:srgbClr val="CD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66901" y="2286000"/>
            <a:ext cx="868680" cy="8686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Segoe UI Symbol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90" y="1417320"/>
            <a:ext cx="1538101" cy="7315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Discover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412K site visitors</a:t>
            </a:r>
          </a:p>
        </p:txBody>
      </p:sp>
      <p:sp>
        <p:nvSpPr>
          <p:cNvPr id="17" name="Oval 16"/>
          <p:cNvSpPr/>
          <p:nvPr/>
        </p:nvSpPr>
        <p:spPr>
          <a:xfrm>
            <a:off x="4356768" y="2857500"/>
            <a:ext cx="868680" cy="8686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Segoe UI Symbol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6042" y="2503170"/>
            <a:ext cx="1538101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Trial</a:t>
            </a:r>
          </a:p>
          <a:p>
            <a:pPr algn="l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39% of leads start one</a:t>
            </a:r>
          </a:p>
        </p:txBody>
      </p:sp>
      <p:sp>
        <p:nvSpPr>
          <p:cNvPr id="19" name="Oval 18"/>
          <p:cNvSpPr/>
          <p:nvPr/>
        </p:nvSpPr>
        <p:spPr>
          <a:xfrm>
            <a:off x="4356768" y="4000500"/>
            <a:ext cx="868680" cy="8686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Segoe UI Symbol"/>
              </a:rPr>
              <a:t>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6042" y="4217670"/>
            <a:ext cx="1538101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Buy</a:t>
            </a:r>
          </a:p>
          <a:p>
            <a:pPr algn="l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5,132 new customers</a:t>
            </a:r>
          </a:p>
        </p:txBody>
      </p:sp>
      <p:sp>
        <p:nvSpPr>
          <p:cNvPr id="21" name="Oval 20"/>
          <p:cNvSpPr/>
          <p:nvPr/>
        </p:nvSpPr>
        <p:spPr>
          <a:xfrm>
            <a:off x="3366901" y="4572000"/>
            <a:ext cx="868680" cy="8686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Segoe UI Symbol"/>
              </a:rP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2190" y="5577840"/>
            <a:ext cx="1538101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Onboard</a:t>
            </a:r>
          </a:p>
          <a:p>
            <a:pPr algn="ct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Next: a Pro trial</a:t>
            </a:r>
          </a:p>
        </p:txBody>
      </p:sp>
      <p:sp>
        <p:nvSpPr>
          <p:cNvPr id="23" name="Oval 22"/>
          <p:cNvSpPr/>
          <p:nvPr/>
        </p:nvSpPr>
        <p:spPr>
          <a:xfrm>
            <a:off x="2377034" y="4000500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Segoe UI Symbol"/>
              </a:rPr>
              <a:t>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339" y="4217670"/>
            <a:ext cx="1538101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48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Support</a:t>
            </a:r>
          </a:p>
          <a:p>
            <a:pPr algn="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First response down 32%</a:t>
            </a:r>
          </a:p>
        </p:txBody>
      </p:sp>
      <p:sp>
        <p:nvSpPr>
          <p:cNvPr id="25" name="Oval 24"/>
          <p:cNvSpPr/>
          <p:nvPr/>
        </p:nvSpPr>
        <p:spPr>
          <a:xfrm>
            <a:off x="2377034" y="2857500"/>
            <a:ext cx="868680" cy="8686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77" b="1">
                <a:solidFill>
                  <a:srgbClr val="FFFFFF"/>
                </a:solidFill>
                <a:latin typeface="Segoe UI Symbol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339" y="2503170"/>
            <a:ext cx="1538101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Expand</a:t>
            </a:r>
          </a:p>
          <a:p>
            <a:pPr algn="r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Pro now 41% of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4021" y="3246120"/>
            <a:ext cx="12344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2545"/>
                </a:solidFill>
                <a:latin typeface="Calibri"/>
              </a:rPr>
              <a:t>Customer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2545"/>
                </a:solidFill>
                <a:latin typeface="Calibri"/>
              </a:rPr>
              <a:t>lifecycle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19602" y="1417320"/>
            <a:ext cx="4314892" cy="4892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19602" y="1417320"/>
            <a:ext cx="73152" cy="48920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3922" y="1600200"/>
            <a:ext cx="3857692" cy="4526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Read it clockwise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500" b="1">
                <a:solidFill>
                  <a:srgbClr val="FF6B35"/>
                </a:solidFill>
                <a:latin typeface="Calibri"/>
              </a:rPr>
              <a:t>Support</a:t>
            </a:r>
            <a:r>
              <a:rPr sz="1500">
                <a:solidFill>
                  <a:srgbClr val="1B2432"/>
                </a:solidFill>
                <a:latin typeface="Calibri"/>
              </a:rPr>
              <a:t> improved most: faster answers, fewer escalations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500" b="1">
                <a:solidFill>
                  <a:srgbClr val="FF6B35"/>
                </a:solidFill>
                <a:latin typeface="Calibri"/>
              </a:rPr>
              <a:t>Trial</a:t>
            </a:r>
            <a:r>
              <a:rPr sz="1500">
                <a:solidFill>
                  <a:srgbClr val="1B2432"/>
                </a:solidFill>
                <a:latin typeface="Calibri"/>
              </a:rPr>
              <a:t> is the weakest link, and the top FY27 fix</a:t>
            </a:r>
          </a:p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500" b="1">
                <a:solidFill>
                  <a:srgbClr val="FF6B35"/>
                </a:solidFill>
                <a:latin typeface="Calibri"/>
              </a:rPr>
              <a:t>Expand</a:t>
            </a:r>
            <a:r>
              <a:rPr sz="1500">
                <a:solidFill>
                  <a:srgbClr val="1B2432"/>
                </a:solidFill>
                <a:latin typeface="Calibri"/>
              </a:rPr>
              <a:t> is working: customers keep moving up to Pro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In six months, support got faster and customers noticed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5C6B7A"/>
                </a:solidFill>
                <a:latin typeface="Calibri"/>
              </a:rPr>
              <a:t>All regions combined, January vs. June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support_metrics.csv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Customer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42085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4664632" cy="1124864"/>
          </a:xfrm>
          <a:prstGeom prst="roundRect">
            <a:avLst>
              <a:gd name="adj" fmla="val 1138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4298872" cy="941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January  ·  CSAT</a:t>
            </a:r>
          </a:p>
          <a:p>
            <a:r>
              <a:rPr sz="3200" b="1">
                <a:solidFill>
                  <a:srgbClr val="0B2545"/>
                </a:solidFill>
                <a:latin typeface="Calibri"/>
              </a:rPr>
              <a:t>88%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25064"/>
            <a:ext cx="4664632" cy="1124864"/>
          </a:xfrm>
          <a:prstGeom prst="roundRect">
            <a:avLst>
              <a:gd name="adj" fmla="val 1138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504"/>
            <a:ext cx="4298872" cy="941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January  ·  hours to first response</a:t>
            </a:r>
          </a:p>
          <a:p>
            <a:r>
              <a:rPr sz="3200" b="1">
                <a:solidFill>
                  <a:srgbClr val="0B2545"/>
                </a:solidFill>
                <a:latin typeface="Calibri"/>
              </a:rPr>
              <a:t>3.8h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32808"/>
            <a:ext cx="4664632" cy="1124864"/>
          </a:xfrm>
          <a:prstGeom prst="roundRect">
            <a:avLst>
              <a:gd name="adj" fmla="val 1138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24248"/>
            <a:ext cx="4298872" cy="941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January  ·  escalations</a:t>
            </a:r>
          </a:p>
          <a:p>
            <a:r>
              <a:rPr sz="3200" b="1">
                <a:solidFill>
                  <a:srgbClr val="0B2545"/>
                </a:solidFill>
                <a:latin typeface="Calibri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6152" y="1417320"/>
            <a:ext cx="1399389" cy="374035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9600" b="1">
                <a:solidFill>
                  <a:srgbClr val="FF6B3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9862" y="1417320"/>
            <a:ext cx="4664632" cy="112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69862" y="1417320"/>
            <a:ext cx="73152" cy="112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42454" y="1581912"/>
            <a:ext cx="427448" cy="4274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14" b="1">
                <a:solidFill>
                  <a:srgbClr val="FFFFFF"/>
                </a:solidFill>
                <a:latin typeface="Segoe UI Symbol"/>
              </a:rPr>
              <a:t>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4182" y="1508760"/>
            <a:ext cx="3734264" cy="941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June  ·  CSAT</a:t>
            </a:r>
          </a:p>
          <a:p>
            <a:r>
              <a:rPr sz="3200" b="1">
                <a:solidFill>
                  <a:srgbClr val="0B2545"/>
                </a:solidFill>
                <a:latin typeface="Calibri"/>
              </a:rPr>
              <a:t>93%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▲ 5 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69862" y="2725064"/>
            <a:ext cx="4664632" cy="112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69862" y="2725064"/>
            <a:ext cx="73152" cy="112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42454" y="2889656"/>
            <a:ext cx="427448" cy="4274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14" b="1">
                <a:solidFill>
                  <a:srgbClr val="FFFFFF"/>
                </a:solidFill>
                <a:latin typeface="Segoe UI Symbol"/>
              </a:rPr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4182" y="2816504"/>
            <a:ext cx="3734264" cy="941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June  ·  hours to first response</a:t>
            </a:r>
          </a:p>
          <a:p>
            <a:r>
              <a:rPr sz="3200" b="1">
                <a:solidFill>
                  <a:srgbClr val="0B2545"/>
                </a:solidFill>
                <a:latin typeface="Calibri"/>
              </a:rPr>
              <a:t>2.6h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32%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69862" y="4032808"/>
            <a:ext cx="4664632" cy="112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69862" y="4032808"/>
            <a:ext cx="73152" cy="112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42454" y="4197400"/>
            <a:ext cx="427448" cy="4274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14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4182" y="4124248"/>
            <a:ext cx="3734264" cy="941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June  ·  escalations</a:t>
            </a:r>
          </a:p>
          <a:p>
            <a:r>
              <a:rPr sz="3200" b="1">
                <a:solidFill>
                  <a:srgbClr val="0B2545"/>
                </a:solidFill>
                <a:latin typeface="Calibri"/>
              </a:rPr>
              <a:t>20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47%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31993"/>
            <a:ext cx="11277295" cy="87736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431993"/>
            <a:ext cx="73152" cy="87736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14873"/>
            <a:ext cx="10820095" cy="51160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FF6B35"/>
              </a:buClr>
              <a:buChar char="•"/>
            </a:pPr>
            <a:r>
              <a:rPr sz="1600">
                <a:solidFill>
                  <a:srgbClr val="1B2432"/>
                </a:solidFill>
                <a:latin typeface="Calibri"/>
              </a:rPr>
              <a:t>Ticket volume </a:t>
            </a:r>
            <a:r>
              <a:rPr sz="1600" b="1">
                <a:solidFill>
                  <a:srgbClr val="FF6B35"/>
                </a:solidFill>
                <a:latin typeface="Calibri"/>
              </a:rPr>
              <a:t>rose 3%</a:t>
            </a:r>
            <a:r>
              <a:rPr sz="1600">
                <a:solidFill>
                  <a:srgbClr val="1B2432"/>
                </a:solidFill>
                <a:latin typeface="Calibri"/>
              </a:rPr>
              <a:t> over the same months: the team got better, not less busy.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West got fastest, and escalations nearly halved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support_metrics.csv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Customer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975023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5501487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33007" y="1417320"/>
          <a:ext cx="5501487" cy="4892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Calibri"/>
              </a:rPr>
              <a:t>Regional scorecard: West leads on satisfaction and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5C6B7A"/>
                </a:solidFill>
                <a:latin typeface="Calibri"/>
              </a:rPr>
              <a:t>January–June averages and totals; changes are January → June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5C6B7A"/>
                </a:solidFill>
                <a:latin typeface="Calibri"/>
              </a:rPr>
              <a:t>Source: support_metrics.csv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Customer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0529191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Region</a:t>
            </a:r>
          </a:p>
          <a:p>
            <a:r>
              <a:rPr sz="2400" b="1">
                <a:solidFill>
                  <a:srgbClr val="0B2545"/>
                </a:solidFill>
                <a:latin typeface="Calibri"/>
              </a:rPr>
              <a:t>North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8379" y="141732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1259" y="150876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Avg. CSAT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89.0%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9558" y="141732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2438" y="150876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Avg. first response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3.6h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31%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737" y="141732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617" y="150876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Escalations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79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50%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61916" y="141732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4796" y="150876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Tickets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3,025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Region</a:t>
            </a:r>
          </a:p>
          <a:p>
            <a:r>
              <a:rPr sz="2400" b="1">
                <a:solidFill>
                  <a:srgbClr val="0B2545"/>
                </a:solidFill>
                <a:latin typeface="Calibri"/>
              </a:rPr>
              <a:t>South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58379" y="310896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1259" y="320040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Avg. CSAT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90.5%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9558" y="310896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2438" y="320040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Avg. first response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3.2h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32%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737" y="310896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617" y="320040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Escalations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40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44%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1916" y="310896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4796" y="320040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Tickets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2,085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0060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62267" y="4965192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82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115817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Region</a:t>
            </a:r>
          </a:p>
          <a:p>
            <a:r>
              <a:rPr sz="2400" b="1">
                <a:solidFill>
                  <a:srgbClr val="FFFFFF"/>
                </a:solidFill>
                <a:latin typeface="Calibri"/>
              </a:rPr>
              <a:t>West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58379" y="480060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41259" y="489204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Avg. CSAT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92.5%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59558" y="480060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42438" y="489204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Avg. first response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2.9h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34%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737" y="480060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617" y="489204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Escalations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51</a:t>
            </a:r>
          </a:p>
          <a:p>
            <a:r>
              <a:rPr sz="1200">
                <a:solidFill>
                  <a:srgbClr val="13A89E"/>
                </a:solidFill>
                <a:latin typeface="Calibri"/>
              </a:rPr>
              <a:t>▼ 45%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61916" y="4800600"/>
            <a:ext cx="2072579" cy="1508760"/>
          </a:xfrm>
          <a:prstGeom prst="roundRect">
            <a:avLst>
              <a:gd name="adj" fmla="val 8484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44796" y="4892040"/>
            <a:ext cx="1706819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B6BEC7"/>
                </a:solidFill>
                <a:latin typeface="Calibri"/>
              </a:rPr>
              <a:t>Tickets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2,610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420"/>
              </a:spcAft>
            </a:pPr>
            <a:r>
              <a:rPr sz="1200" b="1">
                <a:solidFill>
                  <a:srgbClr val="FF6B35"/>
                </a:solidFill>
                <a:latin typeface="Calibri"/>
              </a:rPr>
              <a:t>IN THEIR WORDS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What customers told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7052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B6BEC7"/>
                </a:solidFill>
                <a:latin typeface="Calibri"/>
              </a:rPr>
              <a:t>Source: June CSAT survey (illustrative comment)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B6BEC7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Customer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3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1083359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60220"/>
            <a:ext cx="12801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0" b="1">
                <a:solidFill>
                  <a:srgbClr val="FF6B35"/>
                </a:solidFill>
                <a:latin typeface="Georgi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17320"/>
            <a:ext cx="10180015" cy="4892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1800"/>
              </a:spcAft>
            </a:pPr>
            <a:r>
              <a:rPr sz="3400" i="1">
                <a:solidFill>
                  <a:srgbClr val="FFFFFF"/>
                </a:solidFill>
                <a:latin typeface="Calibri"/>
              </a:rPr>
              <a:t>We used to wait half a day for a first answer. Now we hear back before lunch, and it's usually the right answer.</a:t>
            </a:r>
          </a:p>
          <a:p>
            <a:r>
              <a:rPr sz="1800" b="1">
                <a:solidFill>
                  <a:srgbClr val="FFFFFF"/>
                </a:solidFill>
                <a:latin typeface="Calibri"/>
              </a:rPr>
              <a:t>Operations lead, retail customer</a:t>
            </a:r>
          </a:p>
          <a:p>
            <a:r>
              <a:rPr sz="1400">
                <a:solidFill>
                  <a:srgbClr val="B6BEC7"/>
                </a:solidFill>
                <a:latin typeface="Calibri"/>
              </a:rPr>
              <a:t>West region  ·  CSAT 5/5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420"/>
              </a:spcAft>
            </a:pPr>
            <a:r>
              <a:rPr sz="1200" b="1">
                <a:solidFill>
                  <a:srgbClr val="FF6B35"/>
                </a:solidFill>
                <a:latin typeface="Calibri"/>
              </a:rPr>
              <a:t>WHAT'S NEXT</a:t>
            </a:r>
          </a:p>
          <a:p>
            <a:r>
              <a:rPr sz="2800" b="1">
                <a:solidFill>
                  <a:srgbClr val="0B2545"/>
                </a:solidFill>
                <a:latin typeface="Calibri"/>
              </a:rPr>
              <a:t>FY27: four moves, one per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C6B7A"/>
                </a:solidFill>
                <a:latin typeface="Calibr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6815" y="6446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1">
                <a:solidFill>
                  <a:srgbClr val="FF6B35"/>
                </a:solidFill>
                <a:latin typeface="Calibr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1637527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entagon 6"/>
          <p:cNvSpPr/>
          <p:nvPr/>
        </p:nvSpPr>
        <p:spPr>
          <a:xfrm>
            <a:off x="457200" y="1417320"/>
            <a:ext cx="3052495" cy="731520"/>
          </a:xfrm>
          <a:prstGeom prst="homePlat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19456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Q1 FY27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641015" cy="16043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Fund what works</a:t>
            </a:r>
          </a:p>
          <a:p>
            <a:pPr algn="l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Move trade-show budget into retargeting</a:t>
            </a:r>
          </a:p>
        </p:txBody>
      </p:sp>
      <p:sp>
        <p:nvSpPr>
          <p:cNvPr id="9" name="Chevron 8"/>
          <p:cNvSpPr/>
          <p:nvPr/>
        </p:nvSpPr>
        <p:spPr>
          <a:xfrm>
            <a:off x="3198799" y="1417320"/>
            <a:ext cx="3052495" cy="731520"/>
          </a:xfrm>
          <a:prstGeom prst="chevron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19456" wrap="square"/>
          <a:lstStyle/>
          <a:p>
            <a:pPr algn="ctr"/>
            <a:r>
              <a:rPr sz="1500" b="1">
                <a:solidFill>
                  <a:srgbClr val="0B2545"/>
                </a:solidFill>
                <a:latin typeface="Calibri"/>
              </a:rPr>
              <a:t>Q2 FY27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1679" y="2331720"/>
            <a:ext cx="2641015" cy="16043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Fix the trial step</a:t>
            </a:r>
          </a:p>
          <a:p>
            <a:pPr algn="l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Launch a Pro trial for Core customers</a:t>
            </a:r>
          </a:p>
        </p:txBody>
      </p:sp>
      <p:sp>
        <p:nvSpPr>
          <p:cNvPr id="11" name="Chevron 10"/>
          <p:cNvSpPr/>
          <p:nvPr/>
        </p:nvSpPr>
        <p:spPr>
          <a:xfrm>
            <a:off x="5940399" y="1417320"/>
            <a:ext cx="3052495" cy="731520"/>
          </a:xfrm>
          <a:prstGeom prst="chevron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19456" wrap="square"/>
          <a:lstStyle/>
          <a:p>
            <a:pPr algn="ctr"/>
            <a:r>
              <a:rPr sz="1500" b="1">
                <a:solidFill>
                  <a:srgbClr val="0B2545"/>
                </a:solidFill>
                <a:latin typeface="Calibri"/>
              </a:rPr>
              <a:t>Q3 FY27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3279" y="2331720"/>
            <a:ext cx="2641015" cy="16043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Serve like West</a:t>
            </a:r>
          </a:p>
          <a:p>
            <a:pPr algn="l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Roll West's support model out to North</a:t>
            </a:r>
          </a:p>
        </p:txBody>
      </p:sp>
      <p:sp>
        <p:nvSpPr>
          <p:cNvPr id="13" name="Chevron 12"/>
          <p:cNvSpPr/>
          <p:nvPr/>
        </p:nvSpPr>
        <p:spPr>
          <a:xfrm>
            <a:off x="8681999" y="1417320"/>
            <a:ext cx="3052495" cy="731520"/>
          </a:xfrm>
          <a:prstGeom prst="chevron">
            <a:avLst/>
          </a:prstGeom>
          <a:solidFill>
            <a:srgbClr val="C9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19456" wrap="square"/>
          <a:lstStyle/>
          <a:p>
            <a:pPr algn="ctr"/>
            <a:r>
              <a:rPr sz="1500" b="1">
                <a:solidFill>
                  <a:srgbClr val="0B2545"/>
                </a:solidFill>
                <a:latin typeface="Calibri"/>
              </a:rPr>
              <a:t>Q4 FY27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4879" y="2331720"/>
            <a:ext cx="2641015" cy="16043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Reset targets</a:t>
            </a:r>
          </a:p>
          <a:p>
            <a:pPr algn="l">
              <a:spcAft>
                <a:spcPts val="390"/>
              </a:spcAft>
            </a:pPr>
            <a:r>
              <a:rPr sz="1300">
                <a:solidFill>
                  <a:srgbClr val="5C6B7A"/>
                </a:solidFill>
                <a:latin typeface="Calibri"/>
              </a:rPr>
              <a:t>Set FY28 targets from the Q4 run-rate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10396"/>
            <a:ext cx="2647873" cy="2098963"/>
          </a:xfrm>
          <a:prstGeom prst="roundRect">
            <a:avLst>
              <a:gd name="adj" fmla="val 6099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01836"/>
            <a:ext cx="2282113" cy="191608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Why: Retargeting ROAS</a:t>
            </a:r>
          </a:p>
          <a:p>
            <a:r>
              <a:rPr sz="3000" b="1">
                <a:solidFill>
                  <a:srgbClr val="0B2545"/>
                </a:solidFill>
                <a:latin typeface="Calibri"/>
              </a:rPr>
              <a:t>5.7x</a:t>
            </a:r>
          </a:p>
          <a:p>
            <a:r>
              <a:rPr sz="1200">
                <a:solidFill>
                  <a:srgbClr val="5C6B7A"/>
                </a:solidFill>
                <a:latin typeface="Calibri"/>
              </a:rPr>
              <a:t>vs. 2.2x for Trade Show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3673" y="4210396"/>
            <a:ext cx="2647873" cy="2098963"/>
          </a:xfrm>
          <a:prstGeom prst="roundRect">
            <a:avLst>
              <a:gd name="adj" fmla="val 6099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6553" y="4301836"/>
            <a:ext cx="2282113" cy="191608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Why: lead → trial today</a:t>
            </a:r>
          </a:p>
          <a:p>
            <a:r>
              <a:rPr sz="3000" b="1">
                <a:solidFill>
                  <a:srgbClr val="0B2545"/>
                </a:solidFill>
                <a:latin typeface="Calibri"/>
              </a:rPr>
              <a:t>39%</a:t>
            </a:r>
          </a:p>
          <a:p>
            <a:r>
              <a:rPr sz="1200">
                <a:solidFill>
                  <a:srgbClr val="5C6B7A"/>
                </a:solidFill>
                <a:latin typeface="Calibri"/>
              </a:rPr>
              <a:t>16 points below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4210396"/>
            <a:ext cx="2647873" cy="2098963"/>
          </a:xfrm>
          <a:prstGeom prst="roundRect">
            <a:avLst>
              <a:gd name="adj" fmla="val 6099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3027" y="4301836"/>
            <a:ext cx="2282113" cy="191608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Why: West's average CSAT</a:t>
            </a:r>
          </a:p>
          <a:p>
            <a:r>
              <a:rPr sz="3000" b="1">
                <a:solidFill>
                  <a:srgbClr val="0B2545"/>
                </a:solidFill>
                <a:latin typeface="Calibri"/>
              </a:rPr>
              <a:t>92.5%</a:t>
            </a:r>
          </a:p>
          <a:p>
            <a:r>
              <a:rPr sz="1200">
                <a:solidFill>
                  <a:srgbClr val="5C6B7A"/>
                </a:solidFill>
                <a:latin typeface="Calibri"/>
              </a:rPr>
              <a:t>the best of the three regions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6621" y="4210396"/>
            <a:ext cx="2647873" cy="2098963"/>
          </a:xfrm>
          <a:prstGeom prst="roundRect">
            <a:avLst>
              <a:gd name="adj" fmla="val 6099"/>
            </a:avLst>
          </a:prstGeom>
          <a:solidFill>
            <a:srgbClr val="FAFBFD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9501" y="4301836"/>
            <a:ext cx="2282113" cy="191608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5C6B7A"/>
                </a:solidFill>
                <a:latin typeface="Calibri"/>
              </a:rPr>
              <a:t>Why: Q4 revenue</a:t>
            </a:r>
          </a:p>
          <a:p>
            <a:r>
              <a:rPr sz="3000" b="1">
                <a:solidFill>
                  <a:srgbClr val="0B2545"/>
                </a:solidFill>
                <a:latin typeface="Calibri"/>
              </a:rPr>
              <a:t>$777,900</a:t>
            </a:r>
          </a:p>
          <a:p>
            <a:r>
              <a:rPr sz="1200">
                <a:solidFill>
                  <a:srgbClr val="5C6B7A"/>
                </a:solidFill>
                <a:latin typeface="Calibri"/>
              </a:rPr>
              <a:t>the new quarterly baseline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8138160" y="822960"/>
            <a:ext cx="6583680" cy="6583680"/>
          </a:xfrm>
          <a:prstGeom prst="donut">
            <a:avLst>
              <a:gd name="adj" fmla="val 16000"/>
            </a:avLst>
          </a:prstGeom>
          <a:solidFill>
            <a:srgbClr val="1C3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9692640" y="-1188720"/>
            <a:ext cx="3657600" cy="3657600"/>
          </a:xfrm>
          <a:prstGeom prst="donut">
            <a:avLst>
              <a:gd name="adj" fmla="val 35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558851" cy="2423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THANK YOU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Growth that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7558851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>
                <a:solidFill>
                  <a:srgbClr val="B6BEC7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FY2026 Annual Business Review</dc:title>
  <dc:subject/>
  <dc:creator>Analytics Team</dc:creator>
  <cp:keywords/>
  <dc:description/>
  <cp:lastModifiedBy>Analytics Team</cp:lastModifiedBy>
  <cp:revision>1</cp:revision>
  <dcterms:created xsi:type="dcterms:W3CDTF">2026-09-29T23:35:51Z</dcterms:created>
  <dcterms:modified xsi:type="dcterms:W3CDTF">2026-09-29T23:35:51Z</dcterms:modified>
  <cp:category/>
</cp:coreProperties>
</file>