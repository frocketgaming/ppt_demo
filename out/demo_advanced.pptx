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$#,##0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</c:ser>
        <c:gapWidth val="35"/>
        <c:axId val="-2068027336"/>
        <c:axId val="-2113994440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28575">
              <a:solidFill>
                <a:srgbClr val="FF6B35"/>
              </a:solidFill>
            </a:ln>
          </c:spPr>
          <c:marker>
            <c:spPr>
              <a:solidFill>
                <a:srgbClr val="FF6B35"/>
              </a:solidFill>
              <a:ln>
                <a:solidFill>
                  <a:srgbClr val="FF6B35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$#,##0</c:formatCode>
                <c:ptCount val="12"/>
                <c:pt idx="0">
                  <c:v>175000</c:v>
                </c:pt>
                <c:pt idx="1">
                  <c:v>180000</c:v>
                </c:pt>
                <c:pt idx="2">
                  <c:v>185000</c:v>
                </c:pt>
                <c:pt idx="3">
                  <c:v>190000</c:v>
                </c:pt>
                <c:pt idx="4">
                  <c:v>195000</c:v>
                </c:pt>
                <c:pt idx="5">
                  <c:v>200000</c:v>
                </c:pt>
                <c:pt idx="6">
                  <c:v>205000</c:v>
                </c:pt>
                <c:pt idx="7">
                  <c:v>210000</c:v>
                </c:pt>
                <c:pt idx="8">
                  <c:v>215000</c:v>
                </c:pt>
                <c:pt idx="9">
                  <c:v>220000</c:v>
                </c:pt>
                <c:pt idx="10">
                  <c:v>225000</c:v>
                </c:pt>
                <c:pt idx="11">
                  <c:v>230000</c:v>
                </c:pt>
              </c:numCache>
            </c:numRef>
          </c:val>
          <c:smooth val="0"/>
        </c:ser>
        <c:marker val="1"/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CE3EB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0B2545"/>
            </a:solidFill>
          </c:spPr>
          <c:dPt>
            <c:idx val="0"/>
            <c:spPr>
              <a:solidFill>
                <a:srgbClr val="FF6B35"/>
              </a:solidFill>
            </c:spPr>
          </c:dPt>
          <c:dPt>
            <c:idx val="1"/>
            <c:spPr>
              <a:solidFill>
                <a:srgbClr val="FF6B35"/>
              </a:solidFill>
            </c:spPr>
          </c:dPt>
          <c:dPt>
            <c:idx val="2"/>
            <c:spPr>
              <a:solidFill>
                <a:srgbClr val="FF6B35"/>
              </a:solidFill>
            </c:spPr>
          </c:dPt>
          <c:dPt>
            <c:idx val="3"/>
            <c:spPr>
              <a:solidFill>
                <a:srgbClr val="C9D3DE"/>
              </a:solidFill>
            </c:spPr>
          </c:dPt>
          <c:dPt>
            <c:idx val="4"/>
            <c:spPr>
              <a:solidFill>
                <a:srgbClr val="C9D3DE"/>
              </a:solidFill>
            </c:spPr>
          </c:dPt>
          <c:dPt>
            <c:idx val="5"/>
            <c:spPr>
              <a:solidFill>
                <a:srgbClr val="C9D3DE"/>
              </a:solidFill>
            </c:spPr>
          </c:dPt>
          <c:dPt>
            <c:idx val="6"/>
            <c:spPr>
              <a:solidFill>
                <a:srgbClr val="C9D3DE"/>
              </a:solidFill>
            </c:spPr>
          </c:dPt>
          <c:dPt>
            <c:idx val="7"/>
            <c:spPr>
              <a:solidFill>
                <a:srgbClr val="FF6B35"/>
              </a:solidFill>
            </c:spPr>
          </c:dPt>
          <c:dPt>
            <c:idx val="8"/>
            <c:spPr>
              <a:solidFill>
                <a:srgbClr val="C9D3DE"/>
              </a:solidFill>
            </c:spPr>
          </c:dPt>
          <c:dPt>
            <c:idx val="9"/>
            <c:spPr>
              <a:solidFill>
                <a:srgbClr val="C9D3DE"/>
              </a:solidFill>
            </c:spPr>
          </c:dPt>
          <c:dPt>
            <c:idx val="10"/>
            <c:spPr>
              <a:solidFill>
                <a:srgbClr val="FF6B35"/>
              </a:solidFill>
            </c:spPr>
          </c:dPt>
          <c:dPt>
            <c:idx val="11"/>
            <c:spPr>
              <a:solidFill>
                <a:srgbClr val="FF6B35"/>
              </a:solidFill>
            </c:spPr>
          </c:dPt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$#,##0,"K"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Quarterly revenue, Q1 → Q4, by region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Q1 revenue</c:v>
                </c:pt>
                <c:pt idx="1">
                  <c:v>North</c:v>
                </c:pt>
                <c:pt idx="2">
                  <c:v>South</c:v>
                </c:pt>
                <c:pt idx="3">
                  <c:v>West</c:v>
                </c:pt>
                <c:pt idx="4">
                  <c:v>Q4 revenue</c:v>
                </c:pt>
              </c:strCache>
            </c:strRef>
          </c:cat>
          <c:val>
            <c:numRef>
              <c:f>Sheet1!$B$2:$B$6</c:f>
              <c:numCache>
                <c:formatCode>$#,##0,"K"</c:formatCode>
                <c:ptCount val="5"/>
                <c:pt idx="0">
                  <c:v>0</c:v>
                </c:pt>
                <c:pt idx="1">
                  <c:v>467000</c:v>
                </c:pt>
                <c:pt idx="2">
                  <c:v>513000</c:v>
                </c:pt>
                <c:pt idx="3">
                  <c:v>541000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$#,##0,&quot;K&quot;;$#,##0,&quot;K&quot;;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Q1 revenue</c:v>
                </c:pt>
                <c:pt idx="1">
                  <c:v>North</c:v>
                </c:pt>
                <c:pt idx="2">
                  <c:v>South</c:v>
                </c:pt>
                <c:pt idx="3">
                  <c:v>West</c:v>
                </c:pt>
                <c:pt idx="4">
                  <c:v>Q4 revenue</c:v>
                </c:pt>
              </c:strCache>
            </c:strRef>
          </c:cat>
          <c:val>
            <c:numRef>
              <c:f>Sheet1!$C$2:$C$6</c:f>
              <c:numCache>
                <c:formatCode>$#,##0,"K"</c:formatCode>
                <c:ptCount val="5"/>
                <c:pt idx="0">
                  <c:v>467000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589000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13A89E"/>
            </a:solidFill>
          </c:spPr>
          <c:dLbls>
            <c:numFmt formatCode="+$#,##0,&quot;K&quot;;+$#,##0,&quot;K&quot;;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Q1 revenue</c:v>
                </c:pt>
                <c:pt idx="1">
                  <c:v>North</c:v>
                </c:pt>
                <c:pt idx="2">
                  <c:v>South</c:v>
                </c:pt>
                <c:pt idx="3">
                  <c:v>West</c:v>
                </c:pt>
                <c:pt idx="4">
                  <c:v>Q4 revenue</c:v>
                </c:pt>
              </c:strCache>
            </c:strRef>
          </c:cat>
          <c:val>
            <c:numRef>
              <c:f>Sheet1!$D$2:$D$6</c:f>
              <c:numCache>
                <c:formatCode>$#,##0,"K"</c:formatCode>
                <c:ptCount val="5"/>
                <c:pt idx="0">
                  <c:v>0</c:v>
                </c:pt>
                <c:pt idx="1">
                  <c:v>46000</c:v>
                </c:pt>
                <c:pt idx="2">
                  <c:v>28000</c:v>
                </c:pt>
                <c:pt idx="3">
                  <c:v>48000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E63946"/>
            </a:solidFill>
          </c:spPr>
          <c:dLbls>
            <c:numFmt formatCode="-$#,##0,&quot;K&quot;;-$#,##0,&quot;K&quot;;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Q1 revenue</c:v>
                </c:pt>
                <c:pt idx="1">
                  <c:v>North</c:v>
                </c:pt>
                <c:pt idx="2">
                  <c:v>South</c:v>
                </c:pt>
                <c:pt idx="3">
                  <c:v>West</c:v>
                </c:pt>
                <c:pt idx="4">
                  <c:v>Q4 revenue</c:v>
                </c:pt>
              </c:strCache>
            </c:strRef>
          </c:cat>
          <c:val>
            <c:numRef>
              <c:f>Sheet1!$E$2:$E$6</c:f>
              <c:numCache>
                <c:formatCode>$#,##0,"K"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400000.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98000</c:v>
                </c:pt>
                <c:pt idx="1">
                  <c:v>104000</c:v>
                </c:pt>
                <c:pt idx="2">
                  <c:v>109000</c:v>
                </c:pt>
                <c:pt idx="3">
                  <c:v>121000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F6B3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1B243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61000</c:v>
                </c:pt>
                <c:pt idx="1">
                  <c:v>66000</c:v>
                </c:pt>
                <c:pt idx="2">
                  <c:v>72000</c:v>
                </c:pt>
                <c:pt idx="3">
                  <c:v>84000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000.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72000</c:v>
                </c:pt>
                <c:pt idx="1">
                  <c:v>75000</c:v>
                </c:pt>
                <c:pt idx="2">
                  <c:v>79000</c:v>
                </c:pt>
                <c:pt idx="3">
                  <c:v>86000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F6B3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1B243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38000</c:v>
                </c:pt>
                <c:pt idx="1">
                  <c:v>41000</c:v>
                </c:pt>
                <c:pt idx="2">
                  <c:v>45000</c:v>
                </c:pt>
                <c:pt idx="3">
                  <c:v>52000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000.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121000</c:v>
                </c:pt>
                <c:pt idx="1">
                  <c:v>126000</c:v>
                </c:pt>
                <c:pt idx="2">
                  <c:v>131000</c:v>
                </c:pt>
                <c:pt idx="3">
                  <c:v>142000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F6B3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1B243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77000</c:v>
                </c:pt>
                <c:pt idx="1">
                  <c:v>84000</c:v>
                </c:pt>
                <c:pt idx="2">
                  <c:v>90000</c:v>
                </c:pt>
                <c:pt idx="3">
                  <c:v>104000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50000.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Share of revenue by product, all regions</a:t>
            </a:r>
          </a:p>
        </c:rich>
      </c:tx>
      <c:layout/>
      <c:overlay val="0"/>
    </c:title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291000</c:v>
                </c:pt>
                <c:pt idx="1">
                  <c:v>305000</c:v>
                </c:pt>
                <c:pt idx="2">
                  <c:v>319000</c:v>
                </c:pt>
                <c:pt idx="3">
                  <c:v>349000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F6B35"/>
            </a:solidFill>
          </c:spPr>
          <c:dLbls>
            <c:numFmt formatCode="$#,##0,&quot;K&quot;" sourceLinked="0"/>
            <c:txPr>
              <a:bodyPr/>
              <a:lstStyle/>
              <a:p>
                <a:pPr>
                  <a:defRPr sz="1000">
                    <a:solidFill>
                      <a:srgbClr val="1B243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176000</c:v>
                </c:pt>
                <c:pt idx="1">
                  <c:v>191000</c:v>
                </c:pt>
                <c:pt idx="2">
                  <c:v>207000</c:v>
                </c:pt>
                <c:pt idx="3">
                  <c:v>240000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CE3EB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Return on ad spend (ROAS)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Roas</c:v>
                </c:pt>
              </c:strCache>
            </c:strRef>
          </c:tx>
          <c:spPr>
            <a:solidFill>
              <a:srgbClr val="0B2545"/>
            </a:solidFill>
          </c:spPr>
          <c:dPt>
            <c:idx val="0"/>
            <c:spPr>
              <a:solidFill>
                <a:srgbClr val="FF6B35"/>
              </a:solidFill>
            </c:spPr>
          </c:dPt>
          <c:dPt>
            <c:idx val="1"/>
            <c:spPr>
              <a:solidFill>
                <a:srgbClr val="FF6B35"/>
              </a:solidFill>
            </c:spPr>
          </c:dPt>
          <c:dPt>
            <c:idx val="2"/>
            <c:spPr>
              <a:solidFill>
                <a:srgbClr val="FF6B35"/>
              </a:solidFill>
            </c:spPr>
          </c:dPt>
          <c:dPt>
            <c:idx val="3"/>
            <c:spPr>
              <a:solidFill>
                <a:srgbClr val="C9D3DE"/>
              </a:solidFill>
            </c:spPr>
          </c:dPt>
          <c:dPt>
            <c:idx val="4"/>
            <c:spPr>
              <a:solidFill>
                <a:srgbClr val="C9D3DE"/>
              </a:solidFill>
            </c:spPr>
          </c:dPt>
          <c:dPt>
            <c:idx val="5"/>
            <c:spPr>
              <a:solidFill>
                <a:srgbClr val="C9D3DE"/>
              </a:solidFill>
            </c:spPr>
          </c:dPt>
          <c:dPt>
            <c:idx val="6"/>
            <c:spPr>
              <a:solidFill>
                <a:srgbClr val="C9D3DE"/>
              </a:solidFill>
            </c:spPr>
          </c:dPt>
          <c:dPt>
            <c:idx val="7"/>
            <c:spPr>
              <a:solidFill>
                <a:srgbClr val="C9D3DE"/>
              </a:solidFill>
            </c:spPr>
          </c:dPt>
          <c:cat>
            <c:strRef>
              <c:f>Sheet1!$A$2:$A$9</c:f>
              <c:strCache>
                <c:ptCount val="8"/>
                <c:pt idx="0">
                  <c:v>Loyalty Upsell</c:v>
                </c:pt>
                <c:pt idx="1">
                  <c:v>Retargeting</c:v>
                </c:pt>
                <c:pt idx="2">
                  <c:v>Webinar Series</c:v>
                </c:pt>
                <c:pt idx="3">
                  <c:v>Spring Promo</c:v>
                </c:pt>
                <c:pt idx="4">
                  <c:v>Holiday Blitz</c:v>
                </c:pt>
                <c:pt idx="5">
                  <c:v>Partner Push</c:v>
                </c:pt>
                <c:pt idx="6">
                  <c:v>Marketplace Ads</c:v>
                </c:pt>
                <c:pt idx="7">
                  <c:v>Trade Show</c:v>
                </c:pt>
              </c:strCache>
            </c:strRef>
          </c:cat>
          <c:val>
            <c:numRef>
              <c:f>Sheet1!$B$2:$B$9</c:f>
              <c:numCache>
                <c:formatCode>0.0"x"</c:formatCode>
                <c:ptCount val="8"/>
                <c:pt idx="0">
                  <c:v>7.47</c:v>
                </c:pt>
                <c:pt idx="1">
                  <c:v>5.7</c:v>
                </c:pt>
                <c:pt idx="2">
                  <c:v>5.39</c:v>
                </c:pt>
                <c:pt idx="3">
                  <c:v>4.0</c:v>
                </c:pt>
                <c:pt idx="4">
                  <c:v>4.0</c:v>
                </c:pt>
                <c:pt idx="5">
                  <c:v>3.09</c:v>
                </c:pt>
                <c:pt idx="6">
                  <c:v>2.54</c:v>
                </c:pt>
                <c:pt idx="7">
                  <c:v>2.24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0.0&quot;x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max"/>
      </c:valAx>
    </c:plotArea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Spend vs. revenue, by channel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0B2545"/>
              </a:solidFill>
              <a:ln>
                <a:solidFill>
                  <a:srgbClr val="0B2545"/>
                </a:solidFill>
              </a:ln>
            </c:spPr>
          </c:marker>
          <c:xVal>
            <c:numRef>
              <c:f>Sheet1!$A$2:$A$4</c:f>
              <c:numCache>
                <c:formatCode>$#,##0,"K"</c:formatCode>
                <c:ptCount val="3"/>
                <c:pt idx="0">
                  <c:v>42000</c:v>
                </c:pt>
                <c:pt idx="1">
                  <c:v>88000</c:v>
                </c:pt>
                <c:pt idx="2">
                  <c:v>23000</c:v>
                </c:pt>
              </c:numCache>
            </c:numRef>
          </c:xVal>
          <c:yVal>
            <c:numRef>
              <c:f>Sheet1!$B$2:$B$4</c:f>
              <c:numCache>
                <c:formatCode>$#,##0,"K"</c:formatCode>
                <c:ptCount val="3"/>
                <c:pt idx="0">
                  <c:v>168000</c:v>
                </c:pt>
                <c:pt idx="1">
                  <c:v>352000</c:v>
                </c:pt>
                <c:pt idx="2">
                  <c:v>131000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</c:f>
              <c:strCache>
                <c:ptCount val="1"/>
                <c:pt idx="0">
                  <c:v>Partners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FF6B35"/>
              </a:solidFill>
              <a:ln>
                <a:solidFill>
                  <a:srgbClr val="FF6B35"/>
                </a:solidFill>
              </a:ln>
            </c:spPr>
          </c:marker>
          <c:xVal>
            <c:numRef>
              <c:f>Sheet1!$A$7:$A$7</c:f>
              <c:numCache>
                <c:formatCode>$#,##0,"K"</c:formatCode>
                <c:ptCount val="1"/>
                <c:pt idx="0">
                  <c:v>65000</c:v>
                </c:pt>
              </c:numCache>
            </c:numRef>
          </c:xVal>
          <c:yVal>
            <c:numRef>
              <c:f>Sheet1!$B$7:$B$7</c:f>
              <c:numCache>
                <c:formatCode>$#,##0,"K"</c:formatCode>
                <c:ptCount val="1"/>
                <c:pt idx="0">
                  <c:v>201000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Sheet1!$B$9</c:f>
              <c:strCache>
                <c:ptCount val="1"/>
                <c:pt idx="0">
                  <c:v>Direct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13A89E"/>
              </a:solidFill>
              <a:ln>
                <a:solidFill>
                  <a:srgbClr val="13A89E"/>
                </a:solidFill>
              </a:ln>
            </c:spPr>
          </c:marker>
          <c:xVal>
            <c:numRef>
              <c:f>Sheet1!$A$10:$A$12</c:f>
              <c:numCache>
                <c:formatCode>$#,##0,"K"</c:formatCode>
                <c:ptCount val="3"/>
                <c:pt idx="0">
                  <c:v>18000</c:v>
                </c:pt>
                <c:pt idx="1">
                  <c:v>54000</c:v>
                </c:pt>
                <c:pt idx="2">
                  <c:v>15000</c:v>
                </c:pt>
              </c:numCache>
            </c:numRef>
          </c:xVal>
          <c:yVal>
            <c:numRef>
              <c:f>Sheet1!$B$10:$B$12</c:f>
              <c:numCache>
                <c:formatCode>$#,##0,"K"</c:formatCode>
                <c:ptCount val="3"/>
                <c:pt idx="0">
                  <c:v>97000</c:v>
                </c:pt>
                <c:pt idx="1">
                  <c:v>121000</c:v>
                </c:pt>
                <c:pt idx="2">
                  <c:v>112000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Sheet1!$B$14</c:f>
              <c:strCache>
                <c:ptCount val="1"/>
                <c:pt idx="0">
                  <c:v>Marketplace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8DA9C4"/>
              </a:solidFill>
              <a:ln>
                <a:solidFill>
                  <a:srgbClr val="8DA9C4"/>
                </a:solidFill>
              </a:ln>
            </c:spPr>
          </c:marker>
          <c:xVal>
            <c:numRef>
              <c:f>Sheet1!$A$15:$A$15</c:f>
              <c:numCache>
                <c:formatCode>$#,##0,"K"</c:formatCode>
                <c:ptCount val="1"/>
                <c:pt idx="0">
                  <c:v>37000</c:v>
                </c:pt>
              </c:numCache>
            </c:numRef>
          </c:xVal>
          <c:yVal>
            <c:numRef>
              <c:f>Sheet1!$B$15:$B$15</c:f>
              <c:numCache>
                <c:formatCode>$#,##0,"K"</c:formatCode>
                <c:ptCount val="1"/>
                <c:pt idx="0">
                  <c:v>94000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DCE3EB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Share of all sales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C9D3DE"/>
              </a:solidFill>
            </c:spPr>
          </c:dPt>
          <c:dPt>
            <c:idx val="1"/>
            <c:spPr>
              <a:solidFill>
                <a:srgbClr val="C9D3DE"/>
              </a:solidFill>
            </c:spPr>
          </c:dPt>
          <c:dPt>
            <c:idx val="2"/>
            <c:spPr>
              <a:solidFill>
                <a:srgbClr val="FF6B35"/>
              </a:solidFill>
            </c:spPr>
          </c:dPt>
          <c:dPt>
            <c:idx val="3"/>
            <c:spPr>
              <a:solidFill>
                <a:srgbClr val="C9D3DE"/>
              </a:solidFill>
            </c:spPr>
          </c:dPt>
          <c:dLbls>
            <c:dLbl>
              <c:idx val="0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1B243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1B243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1B243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pPr/>
              <c:numFmt formatCode="0%" sourceLinked="0"/>
              <c:txPr>
                <a:bodyPr/>
                <a:lstStyle/>
                <a:p>
                  <a:pPr>
                    <a:defRPr sz="1000">
                      <a:solidFill>
                        <a:srgbClr val="1B2432"/>
                      </a:solidFill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Direct</c:v>
                </c:pt>
                <c:pt idx="1">
                  <c:v>Partners</c:v>
                </c:pt>
                <c:pt idx="2">
                  <c:v>Online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0.42</c:v>
                </c:pt>
                <c:pt idx="1">
                  <c:v>0.27</c:v>
                </c:pt>
                <c:pt idx="2">
                  <c:v>0.21</c:v>
                </c:pt>
                <c:pt idx="3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Campaign spend vs.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Spend</c:v>
                </c:pt>
              </c:strCache>
            </c:strRef>
          </c:tx>
          <c:spPr>
            <a:solidFill>
              <a:srgbClr val="0B2545"/>
            </a:solidFill>
          </c:spPr>
          <c:cat>
            <c:strRef>
              <c:f>Sheet1!$A$2:$A$5</c:f>
              <c:strCache>
                <c:ptCount val="4"/>
                <c:pt idx="0">
                  <c:v>Online</c:v>
                </c:pt>
                <c:pt idx="1">
                  <c:v>Direct</c:v>
                </c:pt>
                <c:pt idx="2">
                  <c:v>Partners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153000</c:v>
                </c:pt>
                <c:pt idx="1">
                  <c:v>87000</c:v>
                </c:pt>
                <c:pt idx="2">
                  <c:v>65000</c:v>
                </c:pt>
                <c:pt idx="3">
                  <c:v>37000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FF6B35"/>
            </a:solidFill>
          </c:spPr>
          <c:cat>
            <c:strRef>
              <c:f>Sheet1!$A$2:$A$5</c:f>
              <c:strCache>
                <c:ptCount val="4"/>
                <c:pt idx="0">
                  <c:v>Online</c:v>
                </c:pt>
                <c:pt idx="1">
                  <c:v>Direct</c:v>
                </c:pt>
                <c:pt idx="2">
                  <c:v>Partners</c:v>
                </c:pt>
                <c:pt idx="3">
                  <c:v>Marketplace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651000</c:v>
                </c:pt>
                <c:pt idx="1">
                  <c:v>330000</c:v>
                </c:pt>
                <c:pt idx="2">
                  <c:v>201000</c:v>
                </c:pt>
                <c:pt idx="3">
                  <c:v>94000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CE3EB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People at each stage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0B2545"/>
            </a:solidFill>
          </c:spPr>
          <c:dPt>
            <c:idx val="0"/>
            <c:spPr>
              <a:solidFill>
                <a:srgbClr val="C9D3DE"/>
              </a:solidFill>
            </c:spPr>
          </c:dPt>
          <c:dPt>
            <c:idx val="1"/>
            <c:spPr>
              <a:solidFill>
                <a:srgbClr val="FF6B35"/>
              </a:solidFill>
            </c:spPr>
          </c:dPt>
          <c:dPt>
            <c:idx val="2"/>
            <c:spPr>
              <a:solidFill>
                <a:srgbClr val="C9D3DE"/>
              </a:solidFill>
            </c:spPr>
          </c:dPt>
          <c:dPt>
            <c:idx val="3"/>
            <c:spPr>
              <a:solidFill>
                <a:srgbClr val="C9D3DE"/>
              </a:solidFill>
            </c:spPr>
          </c:dPt>
          <c:cat>
            <c:strRef>
              <c:f>Sheet1!$A$2:$A$5</c:f>
              <c:strCache>
                <c:ptCount val="4"/>
                <c:pt idx="0">
                  <c:v>Leads</c:v>
                </c:pt>
                <c:pt idx="1">
                  <c:v>Trials started</c:v>
                </c:pt>
                <c:pt idx="2">
                  <c:v>Opportunities</c:v>
                </c:pt>
                <c:pt idx="3">
                  <c:v>Customers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38600</c:v>
                </c:pt>
                <c:pt idx="1">
                  <c:v>14900</c:v>
                </c:pt>
                <c:pt idx="2">
                  <c:v>8300</c:v>
                </c:pt>
                <c:pt idx="3">
                  <c:v>5132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2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max"/>
      </c:valAx>
    </c:plotArea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Hours to first response</a:t>
            </a:r>
          </a:p>
        </c:rich>
      </c:tx>
      <c:layout/>
      <c:overlay val="0"/>
    </c:title>
    <c:autoTitleDeleted val="0"/>
    <c:plotArea>
      <c:layout>
        <c:manualLayout>
          <c:layoutTarget val="inner"/>
          <c:xMode val="edge"/>
          <c:yMode val="edge"/>
          <c:x val="0.09"/>
          <c:y val="0.04"/>
          <c:w val="0.8019637663093161"/>
          <c:h val="0.8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ln w="28575">
              <a:solidFill>
                <a:srgbClr val="C9D3DE"/>
              </a:solidFill>
            </a:ln>
          </c:spPr>
          <c:marker>
            <c:spPr>
              <a:solidFill>
                <a:srgbClr val="C9D3DE"/>
              </a:solidFill>
              <a:ln>
                <a:solidFill>
                  <a:srgbClr val="C9D3DE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9D3DE"/>
                        </a:solidFill>
                      </a:rPr>
                      <a:t>North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0.0"h"</c:formatCode>
                <c:ptCount val="6"/>
                <c:pt idx="0">
                  <c:v>4.2</c:v>
                </c:pt>
                <c:pt idx="1">
                  <c:v>4.0</c:v>
                </c:pt>
                <c:pt idx="2">
                  <c:v>3.7</c:v>
                </c:pt>
                <c:pt idx="3">
                  <c:v>3.4</c:v>
                </c:pt>
                <c:pt idx="4">
                  <c:v>3.1</c:v>
                </c:pt>
                <c:pt idx="5">
                  <c:v>2.9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ln w="28575">
              <a:solidFill>
                <a:srgbClr val="C9D3DE"/>
              </a:solidFill>
            </a:ln>
          </c:spPr>
          <c:marker>
            <c:spPr>
              <a:solidFill>
                <a:srgbClr val="C9D3DE"/>
              </a:solidFill>
              <a:ln>
                <a:solidFill>
                  <a:srgbClr val="C9D3DE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9D3DE"/>
                        </a:solidFill>
                      </a:rPr>
                      <a:t>South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0.0"h"</c:formatCode>
                <c:ptCount val="6"/>
                <c:pt idx="0">
                  <c:v>3.8</c:v>
                </c:pt>
                <c:pt idx="1">
                  <c:v>3.6</c:v>
                </c:pt>
                <c:pt idx="2">
                  <c:v>3.3</c:v>
                </c:pt>
                <c:pt idx="3">
                  <c:v>3.0</c:v>
                </c:pt>
                <c:pt idx="4">
                  <c:v>2.8</c:v>
                </c:pt>
                <c:pt idx="5">
                  <c:v>2.6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ln w="38100">
              <a:solidFill>
                <a:srgbClr val="FF6B35"/>
              </a:solidFill>
            </a:ln>
          </c:spPr>
          <c:marker>
            <c:spPr>
              <a:solidFill>
                <a:srgbClr val="FF6B35"/>
              </a:solidFill>
              <a:ln>
                <a:solidFill>
                  <a:srgbClr val="FF6B35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FF6B35"/>
                        </a:solidFill>
                      </a:rPr>
                      <a:t>West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0.0"h"</c:formatCode>
                <c:ptCount val="6"/>
                <c:pt idx="0">
                  <c:v>3.5</c:v>
                </c:pt>
                <c:pt idx="1">
                  <c:v>3.2</c:v>
                </c:pt>
                <c:pt idx="2">
                  <c:v>2.9</c:v>
                </c:pt>
                <c:pt idx="3">
                  <c:v>2.7</c:v>
                </c:pt>
                <c:pt idx="4">
                  <c:v>2.5</c:v>
                </c:pt>
                <c:pt idx="5">
                  <c:v>2.3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DCE3EB"/>
              </a:solidFill>
            </a:ln>
          </c:spPr>
        </c:majorGridlines>
        <c:numFmt formatCode="0.0&quot;h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0B2545"/>
                </a:solidFill>
              </a:rPr>
              <a:t>Escalations per month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0B2545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0</c:formatCode>
                <c:ptCount val="6"/>
                <c:pt idx="0">
                  <c:v>18</c:v>
                </c:pt>
                <c:pt idx="1">
                  <c:v>16</c:v>
                </c:pt>
                <c:pt idx="2">
                  <c:v>14</c:v>
                </c:pt>
                <c:pt idx="3">
                  <c:v>12</c:v>
                </c:pt>
                <c:pt idx="4">
                  <c:v>10</c:v>
                </c:pt>
                <c:pt idx="5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solidFill>
              <a:srgbClr val="FF6B35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1B2432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0</c:formatCode>
                <c:ptCount val="6"/>
                <c:pt idx="0">
                  <c:v>9</c:v>
                </c:pt>
                <c:pt idx="1">
                  <c:v>8</c:v>
                </c:pt>
                <c:pt idx="2">
                  <c:v>7</c:v>
                </c:pt>
                <c:pt idx="3">
                  <c:v>6</c:v>
                </c:pt>
                <c:pt idx="4">
                  <c:v>5</c:v>
                </c:pt>
                <c:pt idx="5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solidFill>
              <a:srgbClr val="13A89E"/>
            </a:solidFill>
          </c:spPr>
          <c:dLbls>
            <c:numFmt formatCode="0" sourceLinked="0"/>
            <c:txPr>
              <a:bodyPr/>
              <a:lstStyle/>
              <a:p>
                <a:pPr>
                  <a:defRPr sz="1000">
                    <a:solidFill>
                      <a:srgbClr val="FFFFFF"/>
                    </a:solidFill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0</c:formatCode>
                <c:ptCount val="6"/>
                <c:pt idx="0">
                  <c:v>11</c:v>
                </c:pt>
                <c:pt idx="1">
                  <c:v>10</c:v>
                </c:pt>
                <c:pt idx="2">
                  <c:v>9</c:v>
                </c:pt>
                <c:pt idx="3">
                  <c:v>8</c:v>
                </c:pt>
                <c:pt idx="4">
                  <c:v>7</c:v>
                </c:pt>
                <c:pt idx="5">
                  <c:v>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5C6B7A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solidFill>
            <a:srgbClr val="1B243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number in this deck is computed from the source data at build time. Nothing on these slides was typed in by hand except the commentary.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8138160" y="822960"/>
            <a:ext cx="6583680" cy="6583680"/>
          </a:xfrm>
          <a:prstGeom prst="donut">
            <a:avLst>
              <a:gd name="adj" fmla="val 16000"/>
            </a:avLst>
          </a:prstGeom>
          <a:solidFill>
            <a:srgbClr val="1C3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9692640" y="-1188720"/>
            <a:ext cx="3657600" cy="3657600"/>
          </a:xfrm>
          <a:prstGeom prst="donut">
            <a:avLst>
              <a:gd name="adj" fmla="val 35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ANNUAL BUSINESS REVIEW  ·  FY2026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The year growth started to compound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B6BEC7"/>
                </a:solidFill>
                <a:latin typeface="Calibri"/>
              </a:rPr>
              <a:t>Revenue, product, go-to-market and customer experience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FF6B35"/>
                </a:solidFill>
                <a:latin typeface="Calibri"/>
              </a:rPr>
              <a:t>Analytics Team</a:t>
            </a:r>
            <a:r>
              <a:rPr sz="1400">
                <a:solidFill>
                  <a:srgbClr val="B6BEC7"/>
                </a:solidFill>
                <a:latin typeface="Calibri"/>
              </a:rPr>
              <a:t>   · 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Four chapters, one story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Every number in this deck is calculated from the data when the deck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108335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601468"/>
            <a:ext cx="6688082" cy="13716"/>
          </a:xfrm>
          <a:prstGeom prst="rect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97280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417320"/>
            <a:ext cx="5133602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Growth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5C6B7A"/>
                </a:solidFill>
                <a:latin typeface="Calibri"/>
              </a:rPr>
              <a:t>Revenue, targets and the shape of the year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858768"/>
            <a:ext cx="6688082" cy="13716"/>
          </a:xfrm>
          <a:prstGeom prst="rect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74620"/>
            <a:ext cx="1097280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74620"/>
            <a:ext cx="5133602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Product &amp; regions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5C6B7A"/>
                </a:solidFill>
                <a:latin typeface="Calibri"/>
              </a:rPr>
              <a:t>Where the growth came from, and what it's made of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16068"/>
            <a:ext cx="6688082" cy="13716"/>
          </a:xfrm>
          <a:prstGeom prst="rect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931920"/>
            <a:ext cx="1097280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931920"/>
            <a:ext cx="5133602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Go-to-market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5C6B7A"/>
                </a:solidFill>
                <a:latin typeface="Calibri"/>
              </a:rPr>
              <a:t>What we spent on campaigns and what came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189220"/>
            <a:ext cx="1097280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1200"/>
              </a:spcAft>
            </a:pPr>
            <a:r>
              <a:rPr sz="4000" b="1">
                <a:solidFill>
                  <a:srgbClr val="FF6B35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5189220"/>
            <a:ext cx="5133602" cy="11201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Customer experience</a:t>
            </a:r>
          </a:p>
          <a:p>
            <a:pPr algn="l">
              <a:spcAft>
                <a:spcPts val="420"/>
              </a:spcAft>
            </a:pPr>
            <a:r>
              <a:rPr sz="1400">
                <a:solidFill>
                  <a:srgbClr val="5C6B7A"/>
                </a:solidFill>
                <a:latin typeface="Calibri"/>
              </a:rPr>
              <a:t>Faster support, happier customers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9602" y="1417320"/>
            <a:ext cx="4314892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066983" y="158191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2482" y="1508760"/>
            <a:ext cx="3400492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Revenue, Jan → Dec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+52%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19602" y="3108960"/>
            <a:ext cx="4314892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66983" y="327355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02482" y="3200400"/>
            <a:ext cx="3400492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Best return on ad spend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7.5x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19602" y="4800600"/>
            <a:ext cx="4314892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066983" y="496519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02482" y="4892040"/>
            <a:ext cx="3400492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Time to first response</a:t>
            </a:r>
          </a:p>
          <a:p>
            <a:r>
              <a:rPr sz="3600" b="1">
                <a:solidFill>
                  <a:srgbClr val="FFFFFF"/>
                </a:solidFill>
                <a:latin typeface="Calibri"/>
              </a:rPr>
              <a:t>-32%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DEE5EB"/>
                </a:solidFill>
                <a:latin typeface="Calibri"/>
              </a:rPr>
              <a:t>01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CHAPTER 01</a:t>
            </a:r>
          </a:p>
          <a:p>
            <a:r>
              <a:rPr sz="4000" b="1">
                <a:solidFill>
                  <a:srgbClr val="0B2545"/>
                </a:solidFill>
                <a:latin typeface="Calibri"/>
              </a:rPr>
              <a:t>Growth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5C6B7A"/>
                </a:solidFill>
                <a:latin typeface="Calibri"/>
              </a:rPr>
              <a:t>Revenue, targets and the shape of the year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420"/>
              </a:spcAft>
            </a:pPr>
            <a:r>
              <a:rPr sz="1200" b="1">
                <a:solidFill>
                  <a:srgbClr val="FF6B35"/>
                </a:solidFill>
                <a:latin typeface="Calibri"/>
              </a:rPr>
              <a:t>THE HEADLINE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Monthly revenue is up 52% since January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B6BEC7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B6BEC7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2216671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6601785" cy="4892040"/>
          </a:xfrm>
          <a:prstGeom prst="roundRect">
            <a:avLst>
              <a:gd name="adj" fmla="val 2616"/>
            </a:avLst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6236025" cy="4709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December revenue vs. January</a:t>
            </a:r>
          </a:p>
          <a:p>
            <a:r>
              <a:rPr sz="15000" b="1">
                <a:solidFill>
                  <a:srgbClr val="FFFFFF"/>
                </a:solidFill>
                <a:latin typeface="Calibri"/>
              </a:rPr>
              <a:t>+52%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$94,400  added to the monthly run-rate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33305" y="1417320"/>
            <a:ext cx="4401190" cy="1508760"/>
          </a:xfrm>
          <a:prstGeom prst="roundRect">
            <a:avLst>
              <a:gd name="adj" fmla="val 8484"/>
            </a:avLst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16185" y="1508760"/>
            <a:ext cx="4035430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FY26 revenue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$2,646,800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8.9%  vs. annual target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33305" y="3108960"/>
            <a:ext cx="4401190" cy="1508760"/>
          </a:xfrm>
          <a:prstGeom prst="roundRect">
            <a:avLst>
              <a:gd name="adj" fmla="val 8484"/>
            </a:avLst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6185" y="3200400"/>
            <a:ext cx="4035430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Orders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17,030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41%  Jan → Dec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33305" y="4800600"/>
            <a:ext cx="4401190" cy="1508760"/>
          </a:xfrm>
          <a:prstGeom prst="roundRect">
            <a:avLst>
              <a:gd name="adj" fmla="val 8484"/>
            </a:avLst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6185" y="4892040"/>
            <a:ext cx="4035430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Weakest month</a:t>
            </a:r>
          </a:p>
          <a:p>
            <a:r>
              <a:rPr sz="3400" b="1">
                <a:solidFill>
                  <a:srgbClr val="FFFFFF"/>
                </a:solidFill>
                <a:latin typeface="Calibri"/>
              </a:rPr>
              <a:t>$176,500</a:t>
            </a:r>
          </a:p>
          <a:p>
            <a:r>
              <a:rPr sz="1200">
                <a:solidFill>
                  <a:srgbClr val="E63946"/>
                </a:solidFill>
                <a:latin typeface="Calibri"/>
              </a:rPr>
              <a:t>▼ 1.9%  Feb: the only miss vs. target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Revenue beat target in 11 of 12 months, and sped up into Q4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Growth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2770839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7453628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8185148" y="1417320"/>
            <a:ext cx="3549346" cy="48920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85148" y="1417320"/>
            <a:ext cx="73152" cy="48920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9468" y="1600200"/>
            <a:ext cx="3092146" cy="4526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0B2545"/>
                </a:solidFill>
                <a:latin typeface="Calibri"/>
              </a:rPr>
              <a:t>What changed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Each quarter beat the last: </a:t>
            </a:r>
            <a:r>
              <a:rPr sz="1600" b="1">
                <a:solidFill>
                  <a:srgbClr val="FF6B35"/>
                </a:solidFill>
                <a:latin typeface="Calibri"/>
              </a:rPr>
              <a:t>$557K → $630K → $682K → $778K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Q4 grew </a:t>
            </a:r>
            <a:r>
              <a:rPr sz="1600" b="1">
                <a:solidFill>
                  <a:srgbClr val="FF6B35"/>
                </a:solidFill>
                <a:latin typeface="Calibri"/>
              </a:rPr>
              <a:t>14%</a:t>
            </a:r>
            <a:r>
              <a:rPr sz="1600">
                <a:solidFill>
                  <a:srgbClr val="1B2432"/>
                </a:solidFill>
                <a:latin typeface="Calibri"/>
              </a:rPr>
              <a:t> on Q3, almost double Q3's </a:t>
            </a:r>
            <a:r>
              <a:rPr sz="1600" b="1">
                <a:solidFill>
                  <a:srgbClr val="FF6B35"/>
                </a:solidFill>
                <a:latin typeface="Calibri"/>
              </a:rPr>
              <a:t>8%</a:t>
            </a:r>
            <a:r>
              <a:rPr sz="1600">
                <a:solidFill>
                  <a:srgbClr val="1B2432"/>
                </a:solidFill>
                <a:latin typeface="Calibri"/>
              </a:rPr>
              <a:t> gain on Q2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Second-half revenue was </a:t>
            </a:r>
            <a:r>
              <a:rPr sz="1600" b="1">
                <a:solidFill>
                  <a:srgbClr val="FF6B35"/>
                </a:solidFill>
                <a:latin typeface="Calibri"/>
              </a:rPr>
              <a:t>23% higher</a:t>
            </a:r>
            <a:r>
              <a:rPr sz="1600">
                <a:solidFill>
                  <a:srgbClr val="1B2432"/>
                </a:solidFill>
                <a:latin typeface="Calibri"/>
              </a:rPr>
              <a:t> than the first half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February was the only miss, </a:t>
            </a:r>
            <a:r>
              <a:rPr sz="1600" b="1">
                <a:solidFill>
                  <a:srgbClr val="FF6B35"/>
                </a:solidFill>
                <a:latin typeface="Calibri"/>
              </a:rPr>
              <a:t>$3.5K</a:t>
            </a:r>
            <a:r>
              <a:rPr sz="1600">
                <a:solidFill>
                  <a:srgbClr val="1B2432"/>
                </a:solidFill>
                <a:latin typeface="Calibri"/>
              </a:rPr>
              <a:t>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The year in six moments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Monthly revenue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monthly_sales.csv, campaigns.csv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Growth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3325007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20774" y="2084831"/>
            <a:ext cx="9550146" cy="36576"/>
          </a:xfrm>
          <a:prstGeom prst="rect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83614" y="1965960"/>
            <a:ext cx="274320" cy="27432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5C6B7A"/>
                </a:solidFill>
                <a:latin typeface="Calibri"/>
              </a:rPr>
              <a:t>JAN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$182K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The year opens just above target</a:t>
            </a:r>
          </a:p>
        </p:txBody>
      </p:sp>
      <p:sp>
        <p:nvSpPr>
          <p:cNvPr id="13" name="Oval 12"/>
          <p:cNvSpPr/>
          <p:nvPr/>
        </p:nvSpPr>
        <p:spPr>
          <a:xfrm>
            <a:off x="3093643" y="1965960"/>
            <a:ext cx="274320" cy="27432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67229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5C6B7A"/>
                </a:solidFill>
                <a:latin typeface="Calibri"/>
              </a:rPr>
              <a:t>FEB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7229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The only miss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$3.5K short of a $180K target</a:t>
            </a:r>
          </a:p>
        </p:txBody>
      </p:sp>
      <p:sp>
        <p:nvSpPr>
          <p:cNvPr id="16" name="Oval 15"/>
          <p:cNvSpPr/>
          <p:nvPr/>
        </p:nvSpPr>
        <p:spPr>
          <a:xfrm>
            <a:off x="5003673" y="1965960"/>
            <a:ext cx="274320" cy="27432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77258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5C6B7A"/>
                </a:solidFill>
                <a:latin typeface="Calibri"/>
              </a:rPr>
              <a:t>MAR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+12% in a month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Revenue jumps to $198K</a:t>
            </a:r>
          </a:p>
        </p:txBody>
      </p:sp>
      <p:sp>
        <p:nvSpPr>
          <p:cNvPr id="19" name="Oval 18"/>
          <p:cNvSpPr/>
          <p:nvPr/>
        </p:nvSpPr>
        <p:spPr>
          <a:xfrm>
            <a:off x="6913702" y="1965960"/>
            <a:ext cx="274320" cy="27432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87287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5C6B7A"/>
                </a:solidFill>
                <a:latin typeface="Calibri"/>
              </a:rPr>
              <a:t>AUG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7287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$233K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Summer high before a flat September</a:t>
            </a:r>
          </a:p>
        </p:txBody>
      </p:sp>
      <p:sp>
        <p:nvSpPr>
          <p:cNvPr id="22" name="Oval 21"/>
          <p:cNvSpPr/>
          <p:nvPr/>
        </p:nvSpPr>
        <p:spPr>
          <a:xfrm>
            <a:off x="8823731" y="1965960"/>
            <a:ext cx="274320" cy="27432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7316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5C6B7A"/>
                </a:solidFill>
                <a:latin typeface="Calibri"/>
              </a:rPr>
              <a:t>NOV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97316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Holiday Blitz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The year's biggest campaign returns 4.0x</a:t>
            </a:r>
          </a:p>
        </p:txBody>
      </p:sp>
      <p:sp>
        <p:nvSpPr>
          <p:cNvPr id="25" name="Oval 24"/>
          <p:cNvSpPr/>
          <p:nvPr/>
        </p:nvSpPr>
        <p:spPr>
          <a:xfrm>
            <a:off x="10569168" y="1801367"/>
            <a:ext cx="603504" cy="603504"/>
          </a:xfrm>
          <a:prstGeom prst="ellipse">
            <a:avLst/>
          </a:prstGeom>
          <a:solidFill>
            <a:srgbClr val="FF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678896" y="1911095"/>
            <a:ext cx="384048" cy="3840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07346" y="1417320"/>
            <a:ext cx="1727149" cy="4114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390"/>
              </a:spcAft>
            </a:pPr>
            <a:r>
              <a:rPr sz="1300" b="1">
                <a:solidFill>
                  <a:srgbClr val="FF6B35"/>
                </a:solidFill>
                <a:latin typeface="Calibri"/>
              </a:rPr>
              <a:t>DEC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07346" y="2468879"/>
            <a:ext cx="1727149" cy="95614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$276K record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52% above January</a:t>
            </a:r>
          </a:p>
        </p:txBody>
      </p:sp>
      <p:graphicFrame>
        <p:nvGraphicFramePr>
          <p:cNvPr id="29" name="Chart 28"/>
          <p:cNvGraphicFramePr>
            <a:graphicFrameLocks noGrp="1"/>
          </p:cNvGraphicFramePr>
          <p:nvPr/>
        </p:nvGraphicFramePr>
        <p:xfrm>
          <a:off x="457200" y="3699344"/>
          <a:ext cx="11277295" cy="261001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DEE5EB"/>
                </a:solidFill>
                <a:latin typeface="Calibri"/>
              </a:rPr>
              <a:t>02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CHAPTER 02</a:t>
            </a:r>
          </a:p>
          <a:p>
            <a:r>
              <a:rPr sz="4000" b="1">
                <a:solidFill>
                  <a:srgbClr val="0B2545"/>
                </a:solidFill>
                <a:latin typeface="Calibri"/>
              </a:rPr>
              <a:t>Product &amp; regions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5C6B7A"/>
                </a:solidFill>
                <a:latin typeface="Calibri"/>
              </a:rPr>
              <a:t>Where the growth came from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Q4 brought in $122K more than Q1, mostly from North and West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Product &amp; regions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4433343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720884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7940365" y="1417320"/>
            <a:ext cx="3794129" cy="181121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40365" y="1417320"/>
            <a:ext cx="73152" cy="1811215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4685" y="1508760"/>
            <a:ext cx="3336929" cy="1628335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Added per quarter, Q1 → Q4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+$122,000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26%  quarterly revenue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40365" y="3411415"/>
            <a:ext cx="3794129" cy="28979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40365" y="3411415"/>
            <a:ext cx="73152" cy="289794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4685" y="3594295"/>
            <a:ext cx="3336929" cy="25321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North and West added </a:t>
            </a:r>
            <a:r>
              <a:rPr sz="1600" b="1">
                <a:solidFill>
                  <a:srgbClr val="FF6B35"/>
                </a:solidFill>
                <a:latin typeface="Calibri"/>
              </a:rPr>
              <a:t>$94K</a:t>
            </a:r>
            <a:r>
              <a:rPr sz="1600">
                <a:solidFill>
                  <a:srgbClr val="1B2432"/>
                </a:solidFill>
                <a:latin typeface="Calibri"/>
              </a:rPr>
              <a:t> between them, </a:t>
            </a:r>
            <a:r>
              <a:rPr sz="1600" b="1">
                <a:solidFill>
                  <a:srgbClr val="FF6B35"/>
                </a:solidFill>
                <a:latin typeface="Calibri"/>
              </a:rPr>
              <a:t>77%</a:t>
            </a:r>
            <a:r>
              <a:rPr sz="1600">
                <a:solidFill>
                  <a:srgbClr val="1B2432"/>
                </a:solidFill>
                <a:latin typeface="Calibri"/>
              </a:rPr>
              <a:t> of the gain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South grew </a:t>
            </a:r>
            <a:r>
              <a:rPr sz="1600" b="1">
                <a:solidFill>
                  <a:srgbClr val="FF6B35"/>
                </a:solidFill>
                <a:latin typeface="Calibri"/>
              </a:rPr>
              <a:t>25%</a:t>
            </a:r>
            <a:r>
              <a:rPr sz="1600">
                <a:solidFill>
                  <a:srgbClr val="1B2432"/>
                </a:solidFill>
                <a:latin typeface="Calibri"/>
              </a:rPr>
              <a:t>, but from the smallest base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West is the biggest region, but North is growing fastest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Quarterly revenue by product; growth figures are Q1 → Q4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Product &amp; regions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4987511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3515258" cy="138504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73152" cy="138504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304946" y="158191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508760"/>
            <a:ext cx="2509418" cy="120216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North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$715,000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29%  fastest growth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457200" y="2985247"/>
          <a:ext cx="3515258" cy="33241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Rectangle 13"/>
          <p:cNvSpPr/>
          <p:nvPr/>
        </p:nvSpPr>
        <p:spPr>
          <a:xfrm>
            <a:off x="4338218" y="1417320"/>
            <a:ext cx="3515258" cy="138504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38218" y="1417320"/>
            <a:ext cx="73152" cy="138504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2538" y="1508760"/>
            <a:ext cx="3058058" cy="120216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South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$488,000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25%</a:t>
            </a:r>
          </a:p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4338218" y="2985247"/>
          <a:ext cx="3515258" cy="33241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Rectangle 17"/>
          <p:cNvSpPr/>
          <p:nvPr/>
        </p:nvSpPr>
        <p:spPr>
          <a:xfrm>
            <a:off x="8219236" y="1417320"/>
            <a:ext cx="3515258" cy="138504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9236" y="1417320"/>
            <a:ext cx="73152" cy="1385047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066983" y="158191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3556" y="1508760"/>
            <a:ext cx="2509418" cy="120216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West</a:t>
            </a:r>
          </a:p>
          <a:p>
            <a:r>
              <a:rPr sz="3400" b="1">
                <a:solidFill>
                  <a:srgbClr val="0B2545"/>
                </a:solidFill>
                <a:latin typeface="Calibri"/>
              </a:rPr>
              <a:t>$875,000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24%  largest region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8219236" y="2985247"/>
          <a:ext cx="3515258" cy="3324112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Pro rose from 38% to 41% of revenue, one quarter at a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Product &amp; regions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5541679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6771061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502581" y="1417320"/>
            <a:ext cx="4231913" cy="1331258"/>
          </a:xfrm>
          <a:prstGeom prst="roundRect">
            <a:avLst>
              <a:gd name="adj" fmla="val 9616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5461" y="1508760"/>
            <a:ext cx="3866153" cy="114837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Pro revenue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$814,000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36%  Q1 → Q4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02581" y="2931458"/>
            <a:ext cx="4231913" cy="1331258"/>
          </a:xfrm>
          <a:prstGeom prst="roundRect">
            <a:avLst>
              <a:gd name="adj" fmla="val 9616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5461" y="3022898"/>
            <a:ext cx="3866153" cy="114837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Core revenue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$1,264,000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20%  Q1 → Q4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02581" y="4445597"/>
            <a:ext cx="4231913" cy="1863762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02581" y="4445597"/>
            <a:ext cx="73152" cy="186376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6901" y="4628477"/>
            <a:ext cx="3774713" cy="149800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Pro earns </a:t>
            </a:r>
            <a:r>
              <a:rPr sz="1500" b="1">
                <a:solidFill>
                  <a:srgbClr val="FF6B35"/>
                </a:solidFill>
                <a:latin typeface="Calibri"/>
              </a:rPr>
              <a:t>~$295 a unit</a:t>
            </a:r>
            <a:r>
              <a:rPr sz="1500">
                <a:solidFill>
                  <a:srgbClr val="1B2432"/>
                </a:solidFill>
                <a:latin typeface="Calibri"/>
              </a:rPr>
              <a:t>, almost double Core's </a:t>
            </a:r>
            <a:r>
              <a:rPr sz="1500" b="1">
                <a:solidFill>
                  <a:srgbClr val="FF6B35"/>
                </a:solidFill>
                <a:latin typeface="Calibri"/>
              </a:rPr>
              <a:t>~$154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Pro revenue grew </a:t>
            </a:r>
            <a:r>
              <a:rPr sz="1500" b="1">
                <a:solidFill>
                  <a:srgbClr val="FF6B35"/>
                </a:solidFill>
                <a:latin typeface="Calibri"/>
              </a:rPr>
              <a:t>36%</a:t>
            </a:r>
            <a:r>
              <a:rPr sz="1500">
                <a:solidFill>
                  <a:srgbClr val="1B2432"/>
                </a:solidFill>
                <a:latin typeface="Calibri"/>
              </a:rPr>
              <a:t> in the year; Core grew </a:t>
            </a:r>
            <a:r>
              <a:rPr sz="1500" b="1">
                <a:solidFill>
                  <a:srgbClr val="FF6B35"/>
                </a:solidFill>
                <a:latin typeface="Calibri"/>
              </a:rPr>
              <a:t>20%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DEE5EB"/>
                </a:solidFill>
                <a:latin typeface="Calibri"/>
              </a:rPr>
              <a:t>03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CHAPTER 03</a:t>
            </a:r>
          </a:p>
          <a:p>
            <a:r>
              <a:rPr sz="4000" b="1">
                <a:solidFill>
                  <a:srgbClr val="0B2545"/>
                </a:solidFill>
                <a:latin typeface="Calibri"/>
              </a:rPr>
              <a:t>Go-to-market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5C6B7A"/>
                </a:solidFill>
                <a:latin typeface="Calibri"/>
              </a:rPr>
              <a:t>What we spent, and what it returned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Our three smallest campaigns returned the most per dollar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campaigns.csv  ·  ROAS = revenue ÷ spend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Go-to-market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6650015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6001622" cy="360182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733142" y="1417320"/>
          <a:ext cx="5001352" cy="36018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293461"/>
            <a:ext cx="11277295" cy="101589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5293461"/>
            <a:ext cx="73152" cy="1015898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476341"/>
            <a:ext cx="10820095" cy="65013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>
                <a:solidFill>
                  <a:srgbClr val="1B2432"/>
                </a:solidFill>
                <a:latin typeface="Calibri"/>
              </a:rPr>
              <a:t>Loyalty Upsell, Retargeting and Webinar Series cost the least (</a:t>
            </a:r>
            <a:r>
              <a:rPr sz="1500" b="1">
                <a:solidFill>
                  <a:srgbClr val="FF6B35"/>
                </a:solidFill>
                <a:latin typeface="Calibri"/>
              </a:rPr>
              <a:t>$15–23K</a:t>
            </a:r>
            <a:r>
              <a:rPr sz="1500">
                <a:solidFill>
                  <a:srgbClr val="1B2432"/>
                </a:solidFill>
                <a:latin typeface="Calibri"/>
              </a:rPr>
              <a:t>) and returned </a:t>
            </a:r>
            <a:r>
              <a:rPr sz="1500" b="1">
                <a:solidFill>
                  <a:srgbClr val="FF6B35"/>
                </a:solidFill>
                <a:latin typeface="Calibri"/>
              </a:rPr>
              <a:t>5.4–7.5x</a:t>
            </a:r>
            <a:r>
              <a:rPr sz="1500">
                <a:solidFill>
                  <a:srgbClr val="1B2432"/>
                </a:solidFill>
                <a:latin typeface="Calibri"/>
              </a:rPr>
              <a:t>. Trade Show returned </a:t>
            </a:r>
            <a:r>
              <a:rPr sz="1500" b="1">
                <a:solidFill>
                  <a:srgbClr val="FF6B35"/>
                </a:solidFill>
                <a:latin typeface="Calibri"/>
              </a:rPr>
              <a:t>2.2x</a:t>
            </a:r>
            <a:r>
              <a:rPr sz="1500">
                <a:solidFill>
                  <a:srgbClr val="1B2432"/>
                </a:solidFill>
                <a:latin typeface="Calibri"/>
              </a:rPr>
              <a:t> on $54K.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Online brought in half of campaign revenue on 45% of the spend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campaigns.csv, channel_mix.csv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Go-to-market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7204183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560320"/>
            <a:ext cx="2643291" cy="2649474"/>
          </a:xfrm>
          <a:prstGeom prst="roundRect">
            <a:avLst>
              <a:gd name="adj" fmla="val 4151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2743200"/>
          <a:ext cx="2277531" cy="228371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374811" y="2560320"/>
            <a:ext cx="3576218" cy="2649474"/>
          </a:xfrm>
          <a:prstGeom prst="roundRect">
            <a:avLst>
              <a:gd name="adj" fmla="val 4141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3557691" y="2743200"/>
          <a:ext cx="3210458" cy="228371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7225350" y="2560320"/>
            <a:ext cx="4509144" cy="2649474"/>
          </a:xfrm>
          <a:prstGeom prst="roundRect">
            <a:avLst>
              <a:gd name="adj" fmla="val 4141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408230" y="2743200"/>
          <a:ext cx="414338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5846"/>
                <a:gridCol w="1035846"/>
                <a:gridCol w="1035846"/>
                <a:gridCol w="1035846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anchor="ctr" marL="91440" marR="9144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anchor="ctr" marL="91440" marR="9144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anchor="ctr" marL="91440" marR="91440"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Conv.</a:t>
                      </a:r>
                    </a:p>
                  </a:txBody>
                  <a:tcPr anchor="ctr" marL="91440" marR="91440">
                    <a:solidFill>
                      <a:srgbClr val="0B254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B243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2432"/>
                          </a:solidFill>
                          <a:latin typeface="Calibri"/>
                        </a:rPr>
                        <a:t>$153,000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2432"/>
                          </a:solidFill>
                          <a:latin typeface="Calibri"/>
                        </a:rPr>
                        <a:t>$651,000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B2432"/>
                          </a:solidFill>
                          <a:latin typeface="Calibri"/>
                        </a:rPr>
                        <a:t>3,042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$87,000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$330,000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Partners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$201,000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Marketplace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$37,000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$94,000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1B2432"/>
                          </a:solidFill>
                          <a:latin typeface="Calibri"/>
                        </a:rPr>
                        <a:t>515</a:t>
                      </a:r>
                    </a:p>
                  </a:txBody>
                  <a:tcPr anchor="ctr" marL="91440" marR="91440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457200" y="1417320"/>
            <a:ext cx="2072579" cy="868680"/>
          </a:xfrm>
          <a:prstGeom prst="roundRect">
            <a:avLst>
              <a:gd name="adj" fmla="val 14736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508760"/>
            <a:ext cx="1706819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Campaigns</a:t>
            </a:r>
          </a:p>
          <a:p>
            <a:r>
              <a:rPr sz="2600" b="1">
                <a:solidFill>
                  <a:srgbClr val="0B2545"/>
                </a:solidFill>
                <a:latin typeface="Calibri"/>
              </a:rPr>
              <a:t>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58379" y="1417320"/>
            <a:ext cx="2072579" cy="868680"/>
          </a:xfrm>
          <a:prstGeom prst="roundRect">
            <a:avLst>
              <a:gd name="adj" fmla="val 14736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41259" y="1508760"/>
            <a:ext cx="1706819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Ad spend</a:t>
            </a:r>
          </a:p>
          <a:p>
            <a:r>
              <a:rPr sz="2600" b="1">
                <a:solidFill>
                  <a:srgbClr val="0B2545"/>
                </a:solidFill>
                <a:latin typeface="Calibri"/>
              </a:rPr>
              <a:t>$342,000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59558" y="1417320"/>
            <a:ext cx="2072579" cy="868680"/>
          </a:xfrm>
          <a:prstGeom prst="roundRect">
            <a:avLst>
              <a:gd name="adj" fmla="val 14736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42438" y="1508760"/>
            <a:ext cx="1706819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Campaign revenue</a:t>
            </a:r>
          </a:p>
          <a:p>
            <a:r>
              <a:rPr sz="2600" b="1">
                <a:solidFill>
                  <a:srgbClr val="0B2545"/>
                </a:solidFill>
                <a:latin typeface="Calibri"/>
              </a:rPr>
              <a:t>$1,276,000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737" y="1417320"/>
            <a:ext cx="2072579" cy="868680"/>
          </a:xfrm>
          <a:prstGeom prst="roundRect">
            <a:avLst>
              <a:gd name="adj" fmla="val 14736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617" y="1508760"/>
            <a:ext cx="1706819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Conversions</a:t>
            </a:r>
          </a:p>
          <a:p>
            <a:r>
              <a:rPr sz="2600" b="1">
                <a:solidFill>
                  <a:srgbClr val="0B2545"/>
                </a:solidFill>
                <a:latin typeface="Calibri"/>
              </a:rPr>
              <a:t>5,132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1916" y="1417320"/>
            <a:ext cx="2072579" cy="868680"/>
          </a:xfrm>
          <a:prstGeom prst="roundRect">
            <a:avLst>
              <a:gd name="adj" fmla="val 14736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44796" y="1508760"/>
            <a:ext cx="1706819" cy="6858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ROAS</a:t>
            </a:r>
          </a:p>
          <a:p>
            <a:r>
              <a:rPr sz="2600" b="1">
                <a:solidFill>
                  <a:srgbClr val="0B2545"/>
                </a:solidFill>
                <a:latin typeface="Calibri"/>
              </a:rPr>
              <a:t>4.3x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484114"/>
            <a:ext cx="11277295" cy="82524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5484114"/>
            <a:ext cx="73152" cy="82524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5666994"/>
            <a:ext cx="10820095" cy="45948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400">
                <a:solidFill>
                  <a:srgbClr val="1B2432"/>
                </a:solidFill>
                <a:latin typeface="Calibri"/>
              </a:rPr>
              <a:t>Online returned </a:t>
            </a:r>
            <a:r>
              <a:rPr sz="1400" b="1">
                <a:solidFill>
                  <a:srgbClr val="FF6B35"/>
                </a:solidFill>
                <a:latin typeface="Calibri"/>
              </a:rPr>
              <a:t>$4.25</a:t>
            </a:r>
            <a:r>
              <a:rPr sz="1400">
                <a:solidFill>
                  <a:srgbClr val="1B2432"/>
                </a:solidFill>
                <a:latin typeface="Calibri"/>
              </a:rPr>
              <a:t> for every dollar, the best of any channel. Marketplace returned </a:t>
            </a:r>
            <a:r>
              <a:rPr sz="1400" b="1">
                <a:solidFill>
                  <a:srgbClr val="FF6B35"/>
                </a:solidFill>
                <a:latin typeface="Calibri"/>
              </a:rPr>
              <a:t>$2.54</a:t>
            </a:r>
            <a:r>
              <a:rPr sz="1400">
                <a:solidFill>
                  <a:srgbClr val="1B2432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Only 4 in 10 leads start a trial, the biggest fixable leak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FY26 acquisition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web analytics and CRM (inline data in this YAML)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Go-to-market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7758351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57200" y="1417320"/>
          <a:ext cx="6219072" cy="41559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950592" y="1417320"/>
            <a:ext cx="4783902" cy="4155948"/>
          </a:xfrm>
          <a:prstGeom prst="roundRect">
            <a:avLst>
              <a:gd name="adj" fmla="val 264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70632" y="1737360"/>
            <a:ext cx="18647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1B2432"/>
                </a:solidFill>
                <a:latin typeface="Calibri"/>
              </a:rPr>
              <a:t>Visitor → lead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72512" y="2005393"/>
            <a:ext cx="1273262" cy="274320"/>
          </a:xfrm>
          <a:prstGeom prst="roundRect">
            <a:avLst>
              <a:gd name="adj" fmla="val 50000"/>
            </a:avLst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272512" y="200539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81551" y="1913953"/>
            <a:ext cx="36576" cy="4572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82935" y="1737360"/>
            <a:ext cx="7315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70632" y="2639187"/>
            <a:ext cx="18647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1B2432"/>
                </a:solidFill>
                <a:latin typeface="Calibri"/>
              </a:rPr>
              <a:t>Lead → trial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72512" y="2907220"/>
            <a:ext cx="1273262" cy="274320"/>
          </a:xfrm>
          <a:prstGeom prst="roundRect">
            <a:avLst>
              <a:gd name="adj" fmla="val 50000"/>
            </a:avLst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72512" y="2907220"/>
            <a:ext cx="491479" cy="274320"/>
          </a:xfrm>
          <a:prstGeom prst="roundRect">
            <a:avLst>
              <a:gd name="adj" fmla="val 500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954519" y="2815780"/>
            <a:ext cx="36576" cy="4572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82935" y="2639187"/>
            <a:ext cx="7315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39%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0632" y="3541014"/>
            <a:ext cx="18647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1B2432"/>
                </a:solidFill>
                <a:latin typeface="Calibri"/>
              </a:rPr>
              <a:t>Trial → opportunity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72512" y="3809047"/>
            <a:ext cx="1273262" cy="274320"/>
          </a:xfrm>
          <a:prstGeom prst="roundRect">
            <a:avLst>
              <a:gd name="adj" fmla="val 50000"/>
            </a:avLst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72512" y="3809047"/>
            <a:ext cx="709207" cy="27432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54519" y="3717607"/>
            <a:ext cx="36576" cy="4572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82935" y="3541014"/>
            <a:ext cx="7315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56%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0632" y="4442841"/>
            <a:ext cx="18647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50"/>
              </a:spcAft>
            </a:pPr>
            <a:r>
              <a:rPr sz="1500">
                <a:solidFill>
                  <a:srgbClr val="1B2432"/>
                </a:solidFill>
                <a:latin typeface="Calibri"/>
              </a:rPr>
              <a:t>Opportunity → customer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512" y="4710874"/>
            <a:ext cx="1273262" cy="274320"/>
          </a:xfrm>
          <a:prstGeom prst="roundRect">
            <a:avLst>
              <a:gd name="adj" fmla="val 50000"/>
            </a:avLst>
          </a:prstGeom>
          <a:solidFill>
            <a:srgbClr val="DDE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272512" y="4710874"/>
            <a:ext cx="786876" cy="274320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0018182" y="4619434"/>
            <a:ext cx="36576" cy="457200"/>
          </a:xfrm>
          <a:prstGeom prst="rect">
            <a:avLst/>
          </a:prstGeom>
          <a:solidFill>
            <a:srgbClr val="1B24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82935" y="4442841"/>
            <a:ext cx="731520" cy="81038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509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62%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847588"/>
            <a:ext cx="11277295" cy="46177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5C6B7A"/>
                </a:solidFill>
                <a:latin typeface="Calibri"/>
              </a:rPr>
              <a:t>Bars show FY26 conversion; black markers are the FY26 plan. </a:t>
            </a:r>
            <a:r>
              <a:rPr sz="1400" b="1">
                <a:solidFill>
                  <a:srgbClr val="FF6B35"/>
                </a:solidFill>
                <a:latin typeface="Calibri"/>
              </a:rPr>
              <a:t>Lead → trial is 16 points short.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5847" y="182880"/>
            <a:ext cx="5821527" cy="64922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30000" b="1">
                <a:solidFill>
                  <a:srgbClr val="DEE5EB"/>
                </a:solidFill>
                <a:latin typeface="Calibri"/>
              </a:rPr>
              <a:t>04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CHAPTER 04</a:t>
            </a:r>
          </a:p>
          <a:p>
            <a:r>
              <a:rPr sz="4000" b="1">
                <a:solidFill>
                  <a:srgbClr val="0B2545"/>
                </a:solidFill>
                <a:latin typeface="Calibri"/>
              </a:rPr>
              <a:t>Customer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5C6B7A"/>
                </a:solidFill>
                <a:latin typeface="Calibri"/>
              </a:rPr>
              <a:t>Faster answers, happier customers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Where FY26 moved the customer lifecycle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Support is where this chapter's gains came from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Customer 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8866687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nut 7"/>
          <p:cNvSpPr/>
          <p:nvPr/>
        </p:nvSpPr>
        <p:spPr>
          <a:xfrm>
            <a:off x="2626237" y="2688336"/>
            <a:ext cx="2350008" cy="2350008"/>
          </a:xfrm>
          <a:prstGeom prst="donut">
            <a:avLst>
              <a:gd name="adj" fmla="val 2723"/>
            </a:avLst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7200000">
            <a:off x="4289409" y="2797272"/>
            <a:ext cx="219456" cy="182880"/>
          </a:xfrm>
          <a:prstGeom prst="triangle">
            <a:avLst/>
          </a:prstGeom>
          <a:solidFill>
            <a:srgbClr val="CDD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4834513" y="3802380"/>
            <a:ext cx="219456" cy="182880"/>
          </a:xfrm>
          <a:prstGeom prst="triangle">
            <a:avLst/>
          </a:prstGeom>
          <a:solidFill>
            <a:srgbClr val="CDD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14400000">
            <a:off x="4236617" y="4777007"/>
            <a:ext cx="219456" cy="182880"/>
          </a:xfrm>
          <a:prstGeom prst="triangle">
            <a:avLst/>
          </a:prstGeom>
          <a:solidFill>
            <a:srgbClr val="CDD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18000000">
            <a:off x="3093617" y="4746527"/>
            <a:ext cx="219456" cy="182880"/>
          </a:xfrm>
          <a:prstGeom prst="triangle">
            <a:avLst/>
          </a:prstGeom>
          <a:solidFill>
            <a:srgbClr val="CDD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sosceles Triangle 12"/>
          <p:cNvSpPr/>
          <p:nvPr/>
        </p:nvSpPr>
        <p:spPr>
          <a:xfrm rot="0">
            <a:off x="2548513" y="3741420"/>
            <a:ext cx="219456" cy="182880"/>
          </a:xfrm>
          <a:prstGeom prst="triangle">
            <a:avLst/>
          </a:prstGeom>
          <a:solidFill>
            <a:srgbClr val="CDD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sosceles Triangle 13"/>
          <p:cNvSpPr/>
          <p:nvPr/>
        </p:nvSpPr>
        <p:spPr>
          <a:xfrm rot="3600000">
            <a:off x="3146409" y="2766792"/>
            <a:ext cx="219456" cy="182880"/>
          </a:xfrm>
          <a:prstGeom prst="triangle">
            <a:avLst/>
          </a:prstGeom>
          <a:solidFill>
            <a:srgbClr val="CDD6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366901" y="2286000"/>
            <a:ext cx="868680" cy="8686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2190" y="1417320"/>
            <a:ext cx="1538101" cy="7315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Discover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412K site visitors</a:t>
            </a:r>
          </a:p>
        </p:txBody>
      </p:sp>
      <p:sp>
        <p:nvSpPr>
          <p:cNvPr id="17" name="Oval 16"/>
          <p:cNvSpPr/>
          <p:nvPr/>
        </p:nvSpPr>
        <p:spPr>
          <a:xfrm>
            <a:off x="4356768" y="2857500"/>
            <a:ext cx="868680" cy="8686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6042" y="2503170"/>
            <a:ext cx="1538101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Trial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39% of leads start one</a:t>
            </a:r>
          </a:p>
        </p:txBody>
      </p:sp>
      <p:sp>
        <p:nvSpPr>
          <p:cNvPr id="19" name="Oval 18"/>
          <p:cNvSpPr/>
          <p:nvPr/>
        </p:nvSpPr>
        <p:spPr>
          <a:xfrm>
            <a:off x="4356768" y="4000500"/>
            <a:ext cx="868680" cy="8686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$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6042" y="4217670"/>
            <a:ext cx="1538101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Buy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5,132 new customers</a:t>
            </a:r>
          </a:p>
        </p:txBody>
      </p:sp>
      <p:sp>
        <p:nvSpPr>
          <p:cNvPr id="21" name="Oval 20"/>
          <p:cNvSpPr/>
          <p:nvPr/>
        </p:nvSpPr>
        <p:spPr>
          <a:xfrm>
            <a:off x="3366901" y="4572000"/>
            <a:ext cx="868680" cy="8686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32190" y="5577840"/>
            <a:ext cx="1538101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Onboard</a:t>
            </a:r>
          </a:p>
          <a:p>
            <a:pPr algn="ct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Next: a Pro trial</a:t>
            </a:r>
          </a:p>
        </p:txBody>
      </p:sp>
      <p:sp>
        <p:nvSpPr>
          <p:cNvPr id="23" name="Oval 22"/>
          <p:cNvSpPr/>
          <p:nvPr/>
        </p:nvSpPr>
        <p:spPr>
          <a:xfrm>
            <a:off x="2377034" y="4000500"/>
            <a:ext cx="868680" cy="86868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8339" y="4217670"/>
            <a:ext cx="1538101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8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Support</a:t>
            </a:r>
          </a:p>
          <a:p>
            <a:pPr algn="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First response down 32%</a:t>
            </a:r>
          </a:p>
        </p:txBody>
      </p:sp>
      <p:sp>
        <p:nvSpPr>
          <p:cNvPr id="25" name="Oval 24"/>
          <p:cNvSpPr/>
          <p:nvPr/>
        </p:nvSpPr>
        <p:spPr>
          <a:xfrm>
            <a:off x="2377034" y="2857500"/>
            <a:ext cx="868680" cy="8686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077" b="1">
                <a:solidFill>
                  <a:srgbClr val="FFFFFF"/>
                </a:solidFill>
                <a:latin typeface="Segoe UI Symbol"/>
              </a:rPr>
              <a:t>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8339" y="2503170"/>
            <a:ext cx="1538101" cy="1005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Expand</a:t>
            </a:r>
          </a:p>
          <a:p>
            <a:pPr algn="r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Pro now 41% of revenue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84021" y="3246120"/>
            <a:ext cx="1234440" cy="12344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Customer</a:t>
            </a:r>
          </a:p>
          <a:p>
            <a:pPr algn="ctr">
              <a:spcAft>
                <a:spcPts val="600"/>
              </a:spcAft>
            </a:pPr>
            <a:r>
              <a:rPr sz="2000" b="1">
                <a:solidFill>
                  <a:srgbClr val="0B2545"/>
                </a:solidFill>
                <a:latin typeface="Calibri"/>
              </a:rPr>
              <a:t>lifecycle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19602" y="1417320"/>
            <a:ext cx="4314892" cy="489204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419602" y="1417320"/>
            <a:ext cx="73152" cy="4892040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93922" y="1600200"/>
            <a:ext cx="3857692" cy="4526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2545"/>
                </a:solidFill>
                <a:latin typeface="Calibri"/>
              </a:rPr>
              <a:t>Read it clockwise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 b="1">
                <a:solidFill>
                  <a:srgbClr val="FF6B35"/>
                </a:solidFill>
                <a:latin typeface="Calibri"/>
              </a:rPr>
              <a:t>Support</a:t>
            </a:r>
            <a:r>
              <a:rPr sz="1500">
                <a:solidFill>
                  <a:srgbClr val="1B2432"/>
                </a:solidFill>
                <a:latin typeface="Calibri"/>
              </a:rPr>
              <a:t> improved most: faster answers, fewer escalations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 b="1">
                <a:solidFill>
                  <a:srgbClr val="FF6B35"/>
                </a:solidFill>
                <a:latin typeface="Calibri"/>
              </a:rPr>
              <a:t>Trial</a:t>
            </a:r>
            <a:r>
              <a:rPr sz="1500">
                <a:solidFill>
                  <a:srgbClr val="1B2432"/>
                </a:solidFill>
                <a:latin typeface="Calibri"/>
              </a:rPr>
              <a:t> is the weakest link, and the top FY27 fix</a:t>
            </a:r>
          </a:p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500" b="1">
                <a:solidFill>
                  <a:srgbClr val="FF6B35"/>
                </a:solidFill>
                <a:latin typeface="Calibri"/>
              </a:rPr>
              <a:t>Expand</a:t>
            </a:r>
            <a:r>
              <a:rPr sz="1500">
                <a:solidFill>
                  <a:srgbClr val="1B2432"/>
                </a:solidFill>
                <a:latin typeface="Calibri"/>
              </a:rPr>
              <a:t> is working: customers keep moving up to Pro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In six months, support got faster and customers noticed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All regions combined, January vs. June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support_metrics.csv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Customer experience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9420855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4664632" cy="1124864"/>
          </a:xfrm>
          <a:prstGeom prst="roundRect">
            <a:avLst>
              <a:gd name="adj" fmla="val 1138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08760"/>
            <a:ext cx="4298872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January  ·  CSAT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88%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25064"/>
            <a:ext cx="4664632" cy="1124864"/>
          </a:xfrm>
          <a:prstGeom prst="roundRect">
            <a:avLst>
              <a:gd name="adj" fmla="val 1138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16504"/>
            <a:ext cx="4298872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January  ·  hours to first response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3.8h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032808"/>
            <a:ext cx="4664632" cy="1124864"/>
          </a:xfrm>
          <a:prstGeom prst="roundRect">
            <a:avLst>
              <a:gd name="adj" fmla="val 11380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124248"/>
            <a:ext cx="4298872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January  ·  escalations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6152" y="1417320"/>
            <a:ext cx="1399389" cy="374035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9600" b="1">
                <a:solidFill>
                  <a:srgbClr val="FF6B35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69862" y="1417320"/>
            <a:ext cx="4664632" cy="112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69862" y="1417320"/>
            <a:ext cx="73152" cy="112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42454" y="1581912"/>
            <a:ext cx="427448" cy="4274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14" b="1">
                <a:solidFill>
                  <a:srgbClr val="FFFFFF"/>
                </a:solidFill>
                <a:latin typeface="Segoe UI Symbol"/>
              </a:rPr>
              <a:t>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4182" y="1508760"/>
            <a:ext cx="3734264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June  ·  CSAT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93%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▲ 5 pts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69862" y="2725064"/>
            <a:ext cx="4664632" cy="112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69862" y="2725064"/>
            <a:ext cx="73152" cy="112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142454" y="2889656"/>
            <a:ext cx="427448" cy="4274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14" b="1">
                <a:solidFill>
                  <a:srgbClr val="FFFFFF"/>
                </a:solidFill>
                <a:latin typeface="Segoe UI Symbol"/>
              </a:rPr>
              <a:t>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4182" y="2816504"/>
            <a:ext cx="3734264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June  ·  hours to first response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2.6h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69862" y="4032808"/>
            <a:ext cx="4664632" cy="112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69862" y="4032808"/>
            <a:ext cx="73152" cy="112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142454" y="4197400"/>
            <a:ext cx="427448" cy="427448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14" b="1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4182" y="4124248"/>
            <a:ext cx="3734264" cy="9419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June  ·  escalations</a:t>
            </a:r>
          </a:p>
          <a:p>
            <a:r>
              <a:rPr sz="3200" b="1">
                <a:solidFill>
                  <a:srgbClr val="0B2545"/>
                </a:solidFill>
                <a:latin typeface="Calibri"/>
              </a:rPr>
              <a:t>20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47%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31993"/>
            <a:ext cx="11277295" cy="877366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431993"/>
            <a:ext cx="73152" cy="877366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614873"/>
            <a:ext cx="10820095" cy="511606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200"/>
              </a:spcAft>
              <a:buClr>
                <a:srgbClr val="FF6B35"/>
              </a:buClr>
              <a:buChar char="•"/>
            </a:pPr>
            <a:r>
              <a:rPr sz="1600">
                <a:solidFill>
                  <a:srgbClr val="1B2432"/>
                </a:solidFill>
                <a:latin typeface="Calibri"/>
              </a:rPr>
              <a:t>Ticket volume </a:t>
            </a:r>
            <a:r>
              <a:rPr sz="1600" b="1">
                <a:solidFill>
                  <a:srgbClr val="FF6B35"/>
                </a:solidFill>
                <a:latin typeface="Calibri"/>
              </a:rPr>
              <a:t>rose 3%</a:t>
            </a:r>
            <a:r>
              <a:rPr sz="1600">
                <a:solidFill>
                  <a:srgbClr val="1B2432"/>
                </a:solidFill>
                <a:latin typeface="Calibri"/>
              </a:rPr>
              <a:t> over the same months: the team got better, not less busy.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West got fastest, and escalations nearly halved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support_metrics.csv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Customer 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9975023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33007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0B2545"/>
                </a:solidFill>
                <a:latin typeface="Calibri"/>
              </a:rPr>
              <a:t>Regional scorecard: West leads on satisfaction and speed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5C6B7A"/>
                </a:solidFill>
                <a:latin typeface="Calibri"/>
              </a:rPr>
              <a:t>January–June averages and totals; changes are January → June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5C6B7A"/>
                </a:solidFill>
                <a:latin typeface="Calibri"/>
              </a:rPr>
              <a:t>Source: support_metrics.csv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Customer experience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803136"/>
            <a:ext cx="10529191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Region</a:t>
            </a:r>
          </a:p>
          <a:p>
            <a:r>
              <a:rPr sz="2400" b="1">
                <a:solidFill>
                  <a:srgbClr val="0B2545"/>
                </a:solidFill>
                <a:latin typeface="Calibri"/>
              </a:rPr>
              <a:t>North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58379" y="141732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41259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CSAT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89.0%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59558" y="141732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first response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3.6h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737" y="141732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617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Escalations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79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50%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61916" y="141732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44796" y="150876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Tickets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3,025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896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Region</a:t>
            </a:r>
          </a:p>
          <a:p>
            <a:r>
              <a:rPr sz="2400" b="1">
                <a:solidFill>
                  <a:srgbClr val="0B2545"/>
                </a:solidFill>
                <a:latin typeface="Calibri"/>
              </a:rPr>
              <a:t>South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58379" y="310896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41259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CSAT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90.5%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59558" y="310896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42438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Avg. first response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3.2h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60737" y="310896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43617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Escalations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40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44%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916" y="310896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44796" y="320040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Tickets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2,085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80060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862267" y="4965192"/>
            <a:ext cx="502920" cy="502920"/>
          </a:xfrm>
          <a:prstGeom prst="ellips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82" b="1">
                <a:solidFill>
                  <a:srgbClr val="FFFFFF"/>
                </a:solidFill>
                <a:latin typeface="Segoe UI Symbol"/>
              </a:rPr>
              <a:t>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892040"/>
            <a:ext cx="115817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Region</a:t>
            </a:r>
          </a:p>
          <a:p>
            <a:r>
              <a:rPr sz="2400" b="1">
                <a:solidFill>
                  <a:srgbClr val="FFFFFF"/>
                </a:solidFill>
                <a:latin typeface="Calibri"/>
              </a:rPr>
              <a:t>West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58379" y="480060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41259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Avg. CSAT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92.5%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59558" y="480060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42438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Avg. first response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2.9h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34%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60737" y="480060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43617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Escalations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51</a:t>
            </a:r>
          </a:p>
          <a:p>
            <a:r>
              <a:rPr sz="1200">
                <a:solidFill>
                  <a:srgbClr val="13A89E"/>
                </a:solidFill>
                <a:latin typeface="Calibri"/>
              </a:rPr>
              <a:t>▼ 45%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61916" y="4800600"/>
            <a:ext cx="2072579" cy="1508760"/>
          </a:xfrm>
          <a:prstGeom prst="roundRect">
            <a:avLst>
              <a:gd name="adj" fmla="val 8484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44796" y="4892040"/>
            <a:ext cx="1706819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B6BEC7"/>
                </a:solidFill>
                <a:latin typeface="Calibri"/>
              </a:rPr>
              <a:t>Tickets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2,610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420"/>
              </a:spcAft>
            </a:pPr>
            <a:r>
              <a:rPr sz="1200" b="1">
                <a:solidFill>
                  <a:srgbClr val="FF6B35"/>
                </a:solidFill>
                <a:latin typeface="Calibri"/>
              </a:rPr>
              <a:t>IN THEIR WORDS</a:t>
            </a:r>
          </a:p>
          <a:p>
            <a:r>
              <a:rPr sz="2800" b="1">
                <a:solidFill>
                  <a:srgbClr val="FFFFFF"/>
                </a:solidFill>
                <a:latin typeface="Calibri"/>
              </a:rPr>
              <a:t>What customers told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67052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B6BEC7"/>
                </a:solidFill>
                <a:latin typeface="Calibri"/>
              </a:rPr>
              <a:t>Source: June CSAT survey (illustrative comment)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B6BEC7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Customer 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233B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11083359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760220"/>
            <a:ext cx="1280160" cy="2377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5000" b="1">
                <a:solidFill>
                  <a:srgbClr val="FF6B35"/>
                </a:solidFill>
                <a:latin typeface="Georgia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17320"/>
            <a:ext cx="10180015" cy="4892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1800"/>
              </a:spcAft>
            </a:pPr>
            <a:r>
              <a:rPr sz="3400" i="1">
                <a:solidFill>
                  <a:srgbClr val="FFFFFF"/>
                </a:solidFill>
                <a:latin typeface="Calibri"/>
              </a:rPr>
              <a:t>We used to wait half a day for a first answer. Now we hear back before lunch, and it's usually the right answer.</a:t>
            </a:r>
          </a:p>
          <a:p>
            <a:r>
              <a:rPr sz="1800" b="1">
                <a:solidFill>
                  <a:srgbClr val="FFFFFF"/>
                </a:solidFill>
                <a:latin typeface="Calibri"/>
              </a:rPr>
              <a:t>Operations lead, retail customer</a:t>
            </a:r>
          </a:p>
          <a:p>
            <a:r>
              <a:rPr sz="1400">
                <a:solidFill>
                  <a:srgbClr val="B6BEC7"/>
                </a:solidFill>
                <a:latin typeface="Calibri"/>
              </a:rPr>
              <a:t>West region  ·  CSAT 5/5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8229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420"/>
              </a:spcAft>
            </a:pPr>
            <a:r>
              <a:rPr sz="1200" b="1">
                <a:solidFill>
                  <a:srgbClr val="FF6B35"/>
                </a:solidFill>
                <a:latin typeface="Calibri"/>
              </a:rPr>
              <a:t>WHAT'S NEXT</a:t>
            </a:r>
          </a:p>
          <a:p>
            <a:r>
              <a:rPr sz="2800" b="1">
                <a:solidFill>
                  <a:srgbClr val="0B2545"/>
                </a:solidFill>
                <a:latin typeface="Calibri"/>
              </a:rPr>
              <a:t>FY27: four moves, one per quarter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5C6B7A"/>
                </a:solidFill>
                <a:latin typeface="Calibri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36815" y="6446520"/>
            <a:ext cx="365760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1">
                <a:solidFill>
                  <a:srgbClr val="FF6B35"/>
                </a:solidFill>
                <a:latin typeface="Calibri"/>
              </a:rPr>
              <a:t>What's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1637527" cy="54864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entagon 6"/>
          <p:cNvSpPr/>
          <p:nvPr/>
        </p:nvSpPr>
        <p:spPr>
          <a:xfrm>
            <a:off x="457200" y="1417320"/>
            <a:ext cx="3052495" cy="731520"/>
          </a:xfrm>
          <a:prstGeom prst="homePlate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Q1 FY27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2641015" cy="16043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Fund what works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Move trade-show budget into retargeting</a:t>
            </a:r>
          </a:p>
        </p:txBody>
      </p:sp>
      <p:sp>
        <p:nvSpPr>
          <p:cNvPr id="9" name="Chevron 8"/>
          <p:cNvSpPr/>
          <p:nvPr/>
        </p:nvSpPr>
        <p:spPr>
          <a:xfrm>
            <a:off x="3198799" y="1417320"/>
            <a:ext cx="3052495" cy="731520"/>
          </a:xfrm>
          <a:prstGeom prst="chevron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0B2545"/>
                </a:solidFill>
                <a:latin typeface="Calibri"/>
              </a:rPr>
              <a:t>Q2 FY27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1679" y="2331720"/>
            <a:ext cx="2641015" cy="16043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Fix the trial step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Launch a Pro trial for Core customers</a:t>
            </a:r>
          </a:p>
        </p:txBody>
      </p:sp>
      <p:sp>
        <p:nvSpPr>
          <p:cNvPr id="11" name="Chevron 10"/>
          <p:cNvSpPr/>
          <p:nvPr/>
        </p:nvSpPr>
        <p:spPr>
          <a:xfrm>
            <a:off x="5940399" y="1417320"/>
            <a:ext cx="3052495" cy="731520"/>
          </a:xfrm>
          <a:prstGeom prst="chevron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0B2545"/>
                </a:solidFill>
                <a:latin typeface="Calibri"/>
              </a:rPr>
              <a:t>Q3 FY27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3279" y="2331720"/>
            <a:ext cx="2641015" cy="16043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Serve like West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Roll West's support model out to North</a:t>
            </a:r>
          </a:p>
        </p:txBody>
      </p:sp>
      <p:sp>
        <p:nvSpPr>
          <p:cNvPr id="13" name="Chevron 12"/>
          <p:cNvSpPr/>
          <p:nvPr/>
        </p:nvSpPr>
        <p:spPr>
          <a:xfrm>
            <a:off x="8681999" y="1417320"/>
            <a:ext cx="3052495" cy="731520"/>
          </a:xfrm>
          <a:prstGeom prst="chevron">
            <a:avLst/>
          </a:prstGeom>
          <a:solidFill>
            <a:srgbClr val="C9D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11480" rIns="219456" wrap="square"/>
          <a:lstStyle/>
          <a:p>
            <a:pPr algn="ctr"/>
            <a:r>
              <a:rPr sz="1500" b="1">
                <a:solidFill>
                  <a:srgbClr val="0B2545"/>
                </a:solidFill>
                <a:latin typeface="Calibri"/>
              </a:rPr>
              <a:t>Q4 FY27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4879" y="2331720"/>
            <a:ext cx="2641015" cy="160435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80"/>
              </a:spcAft>
            </a:pPr>
            <a:r>
              <a:rPr sz="1600" b="1">
                <a:solidFill>
                  <a:srgbClr val="0B2545"/>
                </a:solidFill>
                <a:latin typeface="Calibri"/>
              </a:rPr>
              <a:t>Reset targets</a:t>
            </a:r>
          </a:p>
          <a:p>
            <a:pPr algn="l">
              <a:spcAft>
                <a:spcPts val="390"/>
              </a:spcAft>
            </a:pPr>
            <a:r>
              <a:rPr sz="1300">
                <a:solidFill>
                  <a:srgbClr val="5C6B7A"/>
                </a:solidFill>
                <a:latin typeface="Calibri"/>
              </a:rPr>
              <a:t>Set FY28 targets from the Q4 run-rate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210396"/>
            <a:ext cx="2647873" cy="2098963"/>
          </a:xfrm>
          <a:prstGeom prst="roundRect">
            <a:avLst>
              <a:gd name="adj" fmla="val 6099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301836"/>
            <a:ext cx="2282113" cy="191608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Why: Retargeting ROAS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5.7x</a:t>
            </a:r>
          </a:p>
          <a:p>
            <a:r>
              <a:rPr sz="1200">
                <a:solidFill>
                  <a:srgbClr val="5C6B7A"/>
                </a:solidFill>
                <a:latin typeface="Calibri"/>
              </a:rPr>
              <a:t>vs. 2.2x for Trade Show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33673" y="4210396"/>
            <a:ext cx="2647873" cy="2098963"/>
          </a:xfrm>
          <a:prstGeom prst="roundRect">
            <a:avLst>
              <a:gd name="adj" fmla="val 6099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16553" y="4301836"/>
            <a:ext cx="2282113" cy="191608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Why: lead → trial today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39%</a:t>
            </a:r>
          </a:p>
          <a:p>
            <a:r>
              <a:rPr sz="1200">
                <a:solidFill>
                  <a:srgbClr val="5C6B7A"/>
                </a:solidFill>
                <a:latin typeface="Calibri"/>
              </a:rPr>
              <a:t>16 points below plan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147" y="4210396"/>
            <a:ext cx="2647873" cy="2098963"/>
          </a:xfrm>
          <a:prstGeom prst="roundRect">
            <a:avLst>
              <a:gd name="adj" fmla="val 6099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3027" y="4301836"/>
            <a:ext cx="2282113" cy="191608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Why: West's average CSAT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92.5%</a:t>
            </a:r>
          </a:p>
          <a:p>
            <a:r>
              <a:rPr sz="1200">
                <a:solidFill>
                  <a:srgbClr val="5C6B7A"/>
                </a:solidFill>
                <a:latin typeface="Calibri"/>
              </a:rPr>
              <a:t>the best of the three regions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86621" y="4210396"/>
            <a:ext cx="2647873" cy="2098963"/>
          </a:xfrm>
          <a:prstGeom prst="roundRect">
            <a:avLst>
              <a:gd name="adj" fmla="val 6099"/>
            </a:avLst>
          </a:prstGeom>
          <a:solidFill>
            <a:srgbClr val="FAFBFD"/>
          </a:solidFill>
          <a:ln w="12700">
            <a:solidFill>
              <a:srgbClr val="C9D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501" y="4301836"/>
            <a:ext cx="2282113" cy="1916083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5C6B7A"/>
                </a:solidFill>
                <a:latin typeface="Calibri"/>
              </a:rPr>
              <a:t>Why: Q4 revenue</a:t>
            </a:r>
          </a:p>
          <a:p>
            <a:r>
              <a:rPr sz="3000" b="1">
                <a:solidFill>
                  <a:srgbClr val="0B2545"/>
                </a:solidFill>
                <a:latin typeface="Calibri"/>
              </a:rPr>
              <a:t>$777,900</a:t>
            </a:r>
          </a:p>
          <a:p>
            <a:r>
              <a:rPr sz="1200">
                <a:solidFill>
                  <a:srgbClr val="5C6B7A"/>
                </a:solidFill>
                <a:latin typeface="Calibri"/>
              </a:rPr>
              <a:t>the new quarterly baseline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onut 1"/>
          <p:cNvSpPr/>
          <p:nvPr/>
        </p:nvSpPr>
        <p:spPr>
          <a:xfrm>
            <a:off x="8138160" y="822960"/>
            <a:ext cx="6583680" cy="6583680"/>
          </a:xfrm>
          <a:prstGeom prst="donut">
            <a:avLst>
              <a:gd name="adj" fmla="val 16000"/>
            </a:avLst>
          </a:prstGeom>
          <a:solidFill>
            <a:srgbClr val="1C34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onut 2"/>
          <p:cNvSpPr/>
          <p:nvPr/>
        </p:nvSpPr>
        <p:spPr>
          <a:xfrm>
            <a:off x="9692640" y="-1188720"/>
            <a:ext cx="3657600" cy="3657600"/>
          </a:xfrm>
          <a:prstGeom prst="donut">
            <a:avLst>
              <a:gd name="adj" fmla="val 3500"/>
            </a:avLst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7558851" cy="2423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6B35"/>
                </a:solidFill>
                <a:latin typeface="Calibri"/>
              </a:rPr>
              <a:t>THANK YOU</a:t>
            </a:r>
          </a:p>
          <a:p>
            <a:r>
              <a:rPr sz="4000" b="1">
                <a:solidFill>
                  <a:srgbClr val="FFFFFF"/>
                </a:solidFill>
                <a:latin typeface="Calibri"/>
              </a:rPr>
              <a:t>Growth that compounds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7558851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>
                <a:solidFill>
                  <a:srgbClr val="B6BEC7"/>
                </a:solidFill>
                <a:latin typeface="Calibri"/>
              </a:rP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FY2026 Annual Business Review</dc:title>
  <dc:subject/>
  <dc:creator>Analytics Team</dc:creator>
  <cp:keywords/>
  <dc:description/>
  <cp:lastModifiedBy>Analytics Team</cp:lastModifiedBy>
  <cp:revision>1</cp:revision>
  <dcterms:created xsi:type="dcterms:W3CDTF">2026-09-30T11:39:02Z</dcterms:created>
  <dcterms:modified xsi:type="dcterms:W3CDTF">2026-09-30T11:39:02Z</dcterms:modified>
  <cp:category/>
</cp:coreProperties>
</file>